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8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2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core.xml" Type="http://schemas.openxmlformats.org/package/2006/relationships/metadata/core-properties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  <p:sldMasterId id="2147483660" r:id="rId8"/>
  </p:sldMasterIdLst>
  <p:notesMasterIdLst>
    <p:notesMasterId r:id="rId6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</p:sldIdLst>
  <p:sldSz cx="12192000" cy="685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 mar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 marL="457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 marL="914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 marL="1371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 marL="18288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 marL="22860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 marL="27432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 marL="32004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 marL="365760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arget="theme/theme1.xml" Type="http://schemas.openxmlformats.org/officeDocument/2006/relationships/theme"/><Relationship Id="rId10" Target="slides/slide2.xml" Type="http://schemas.openxmlformats.org/officeDocument/2006/relationships/slide"/><Relationship Id="rId11" Target="slides/slide3.xml" Type="http://schemas.openxmlformats.org/officeDocument/2006/relationships/slide"/><Relationship Id="rId12" Target="slides/slide4.xml" Type="http://schemas.openxmlformats.org/officeDocument/2006/relationships/slide"/><Relationship Id="rId13" Target="slides/slide5.xml" Type="http://schemas.openxmlformats.org/officeDocument/2006/relationships/slide"/><Relationship Id="rId14" Target="slides/slide6.xml" Type="http://schemas.openxmlformats.org/officeDocument/2006/relationships/slide"/><Relationship Id="rId15" Target="slides/slide7.xml" Type="http://schemas.openxmlformats.org/officeDocument/2006/relationships/slide"/><Relationship Id="rId16" Target="slides/slide8.xml" Type="http://schemas.openxmlformats.org/officeDocument/2006/relationships/slide"/><Relationship Id="rId17" Target="slides/slide9.xml" Type="http://schemas.openxmlformats.org/officeDocument/2006/relationships/slide"/><Relationship Id="rId18" Target="slides/slide10.xml" Type="http://schemas.openxmlformats.org/officeDocument/2006/relationships/slide"/><Relationship Id="rId19" Target="slides/slide11.xml" Type="http://schemas.openxmlformats.org/officeDocument/2006/relationships/slide"/><Relationship Id="rId2" Target="viewProps.xml" Type="http://schemas.openxmlformats.org/officeDocument/2006/relationships/viewProps"/><Relationship Id="rId20" Target="slides/slide12.xml" Type="http://schemas.openxmlformats.org/officeDocument/2006/relationships/slide"/><Relationship Id="rId21" Target="slides/slide13.xml" Type="http://schemas.openxmlformats.org/officeDocument/2006/relationships/slide"/><Relationship Id="rId22" Target="slides/slide14.xml" Type="http://schemas.openxmlformats.org/officeDocument/2006/relationships/slide"/><Relationship Id="rId23" Target="slides/slide15.xml" Type="http://schemas.openxmlformats.org/officeDocument/2006/relationships/slide"/><Relationship Id="rId24" Target="slides/slide16.xml" Type="http://schemas.openxmlformats.org/officeDocument/2006/relationships/slide"/><Relationship Id="rId25" Target="slides/slide17.xml" Type="http://schemas.openxmlformats.org/officeDocument/2006/relationships/slide"/><Relationship Id="rId26" Target="slides/slide18.xml" Type="http://schemas.openxmlformats.org/officeDocument/2006/relationships/slide"/><Relationship Id="rId27" Target="notesSlides/notesSlide1.xml" Type="http://schemas.openxmlformats.org/officeDocument/2006/relationships/notesSlide"/><Relationship Id="rId28" Target="notesSlides/notesSlide2.xml" Type="http://schemas.openxmlformats.org/officeDocument/2006/relationships/notesSlide"/><Relationship Id="rId29" Target="notesSlides/notesSlide3.xml" Type="http://schemas.openxmlformats.org/officeDocument/2006/relationships/notesSlide"/><Relationship Id="rId3" Target="presProps.xml" Type="http://schemas.openxmlformats.org/officeDocument/2006/relationships/presProps"/><Relationship Id="rId30" Target="notesSlides/notesSlide4.xml" Type="http://schemas.openxmlformats.org/officeDocument/2006/relationships/notesSlide"/><Relationship Id="rId31" Target="notesSlides/notesSlide5.xml" Type="http://schemas.openxmlformats.org/officeDocument/2006/relationships/notesSlide"/><Relationship Id="rId32" Target="notesSlides/notesSlide6.xml" Type="http://schemas.openxmlformats.org/officeDocument/2006/relationships/notesSlide"/><Relationship Id="rId33" Target="notesSlides/notesSlide7.xml" Type="http://schemas.openxmlformats.org/officeDocument/2006/relationships/notesSlide"/><Relationship Id="rId34" Target="notesSlides/notesSlide8.xml" Type="http://schemas.openxmlformats.org/officeDocument/2006/relationships/notesSlide"/><Relationship Id="rId35" Target="notesSlides/notesSlide9.xml" Type="http://schemas.openxmlformats.org/officeDocument/2006/relationships/notesSlide"/><Relationship Id="rId36" Target="notesSlides/notesSlide10.xml" Type="http://schemas.openxmlformats.org/officeDocument/2006/relationships/notesSlide"/><Relationship Id="rId37" Target="notesSlides/notesSlide11.xml" Type="http://schemas.openxmlformats.org/officeDocument/2006/relationships/notesSlide"/><Relationship Id="rId38" Target="notesSlides/notesSlide12.xml" Type="http://schemas.openxmlformats.org/officeDocument/2006/relationships/notesSlide"/><Relationship Id="rId39" Target="notesSlides/notesSlide13.xml" Type="http://schemas.openxmlformats.org/officeDocument/2006/relationships/notesSlide"/><Relationship Id="rId4" Target="slideMasters/slideMaster1.xml" Type="http://schemas.openxmlformats.org/officeDocument/2006/relationships/slideMaster"/><Relationship Id="rId40" Target="notesSlides/notesSlide14.xml" Type="http://schemas.openxmlformats.org/officeDocument/2006/relationships/notesSlide"/><Relationship Id="rId41" Target="notesSlides/notesSlide15.xml" Type="http://schemas.openxmlformats.org/officeDocument/2006/relationships/notesSlide"/><Relationship Id="rId42" Target="notesSlides/notesSlide16.xml" Type="http://schemas.openxmlformats.org/officeDocument/2006/relationships/notesSlide"/><Relationship Id="rId43" Target="notesSlides/notesSlide17.xml" Type="http://schemas.openxmlformats.org/officeDocument/2006/relationships/notesSlide"/><Relationship Id="rId44" Target="notesSlides/notesSlide18.xml" Type="http://schemas.openxmlformats.org/officeDocument/2006/relationships/notesSlide"/><Relationship Id="rId6" Target="notesMasters/notesMaster1.xml" Type="http://schemas.openxmlformats.org/officeDocument/2006/relationships/notesMaster"/><Relationship Id="rId7" Target="theme/theme2.xml" Type="http://schemas.openxmlformats.org/officeDocument/2006/relationships/theme"/><Relationship Id="rId8" Target="slideMasters/slideMaster2.xml" Type="http://schemas.openxmlformats.org/officeDocument/2006/relationships/slideMaster"/><Relationship Id="rId9" Target="slides/slide1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_rels/notesSlide1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1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5.xml" Type="http://schemas.openxmlformats.org/officeDocument/2006/relationships/slide"/></Relationships>
</file>

<file path=ppt/notesSlides/_rels/notesSlide1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_rels/notesSlide1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7.xml" Type="http://schemas.openxmlformats.org/officeDocument/2006/relationships/slide"/></Relationships>
</file>

<file path=ppt/notesSlides/_rels/notesSlide1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8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大家好，今天我将向各位汇报我们关于“私域知识赋能AI Coding工具”的技术方案。我们的目标是解决当前通用AI编程工具在企业内部“水土不服”的问题，通过构建一个懂业务、懂架构的专属Copilot，实现从“通用码农”到“业务专家”的进化。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本次汇报将分为七个部分。首先，我们将探讨项目的背景与目标，明确我们为什么要做这件事。接着，会详细介绍我们的总体技术架构。然后，将分两部分阐述如何构建私域知识库以及如何实现知识的自动检索。之后，会展示三个核心应用场景。最后，我们会讨论具体的技术选型、风险应对以及未来的实施规划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目前，通用AI编程工具在企业内部应用时普遍存在“水土不服”的问题。主要体现在三个方面：首先，它们缺乏对我们企业特有领域知识的理解；其次，这导致了高昂的沟通成本，开发者需要花费大量时间去调教AI；最后，AI缺乏对整个项目的宏观理解，给出的建议往往不够全面。这些痛点严重影响了开发效率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为了解决这些痛点，我们的核心目标是打造一个企业专属的“业务专家型Copilot”。我们希望通过私域知识工程，实现AI的自我进化，让它能主动学习我们的业务和规范。同时，我们将重点赋能需求开发、问题定位和代码检视这三大核心场景。最终，通过构建一个运营闭环，让AI能够持续成长，真正成为我们团队的专家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我们方案的核心设计思想是“Spec + RAG”双引擎驱动。其中，Spec引擎扮演“硬约束”的角色，它通过结构化的契约和规范来保证生成代码的正确性，守住底线。而RAG引擎则发挥“软智能”的作用，通过语义检索为AI提供丰富的上下文知识，从而提升建议的质量和上限。二者结合，实现了精准与灵活的统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这是我们的系统架构图。整个流程清晰地展示了数据从源头到最终应用的全过程。它包含五大核心层：数据源层、知识加工层、知识存储层、检索与生成层，以及最终的AI Coding工具。同时，我们设计了一个运营反馈闭环，通过用户反馈来持续优化我们的私域知识库，形成一个不断进化的生态。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要让AI理解我们的知识，首先要对知识进行分类和结构化。我们将企业知识分为四大类：术语库、API文档库、代码规范库以及历史上下文库。对于每一类知识，我们都定义了清晰的结构化格式，例如术语库包含定义、场景等字段，API文档库包含签名、参数等信息。这为后续的加工和检索奠定了基础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数据预处理是关键一步。我们主要做三件事：首先，对文档进行智能分块和向量化，目前这个方法还待全面验证。其次，通过AST解析构建代码知识图谱，我们已经验证了Java的AST解析，但跨文件的依赖分析还在待实现阶段。最后，我们建设了混合索引，轻量模式已经验证通过，生产模式正在规划中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为了保障检索的效果，我们采用了混合检索策略。这个过程就像一个漏斗：首先通过BM25稀疏检索保证广度，然后用向量相似度检索提升精准度，再通过图遍历检索增加深度。最后，我们计划使用Cross-BERT模型进行重排序，目标是将召回率提升到92%以上。目前，重排序模块还在待实现阶段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我们设计了三大触发机制，让知识能够主动找到人。第一种是基于对话上下文的自动触发，它能理解用户的问题并匹配相关知识。第二种是知识图谱关联触发，能发现知识间的隐藏联系。第三种是项目上下文自适应触发，它能感知开发者当前的工作环境，主动注入相关的背景知识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为了打通IDE和后端服务，我们集成了MCP协议。我们开发了一个私域知识MCP Server，它将复杂的检索能力封装成一个标准工具。当开发者在IDE中提问时，IDE会调用这个Server，Server执行检索并返回知识片段，最后由IDE组装成完整的Prompt交给大模型生成结果。这个流程实现了安全、标准化的连接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第一个核心场景是需求开发。当开发者提出一个需求，比如“实现订单支付回调”，系统会自动检索相关的私有SDK、规范和历史代码，并将这些知识注入给AI。AI就能生成符合我们企业规范的代码。我们预期这个场景能将需求匹配度从60%提升到95%以上，并减少50%的沟通返工时间。目前，代码实现场景已测试通过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第二个场景是问题定位。当开发者遇到报错时，只需贴入异常信息，系统就会去检索历史上相似的缺陷和解决方案，并生成排查建议。这就像给AI装上了一个“经验大脑”。我们预期这个功能能将问题修复时间缩短40%，并降低排查问题的门槛。这个场景目前还在待验证阶段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第三个场景是代码检视。我们希望AI能自动化地执行Code Review。当开发者发起CR请求时，系统会自动对照我们的编码规范和Spec契约，检查代码中的问题并给出修复建议。这不仅能大大提升审查效率，还能从源头上保证代码质量。这个场景同样处于待验证阶段。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在技术选型上，我们兼顾了轻量级验证和生产级部署。例如，向量数据库我们推荐轻量的FAISS用于验证，生产环境则使用Milvus。全文引擎对应SQLite FTS5和Elasticsearch。图数据库对应NetworkX和Neo4j。模型方面，Embedding模型推荐本地化的sentence-transformers，大模型则建议使用企业私有部署的方案，以确保数据安全。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我们也预见了一些潜在风险并制定了应对策略。对于知识库陈旧的问题，我们将建立自动更新机制。对于检索延迟，我们会采用缓存和GPU加速等手段。对于数据泄露，我们将严格控制访问范围并使用私有大模型。对于检索噪音大的问题，我们会持续优化算法并引入用户反馈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最后是我们的实施规划。在试点阶段，我们列出了10项核心任务，并划分了优先级。其中，最高优先级的是企业私域数据的准备和全链路的端到端验证。其他如Python AST解析、生产环境部署等任务也在按计划推进。我们将通过这个待办列表来跟踪项目进度，确保有序推进。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false" i="false" u="none" strike="noStrike"/>
            </a:lvl1pPr>
          </a:lstStyle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400">
                <a:solidFill>
                  <a:srgbClr val="000000"/>
                </a:solidFill>
              </a:rPr>
              <a:t>我的汇报到此结束，感谢各位的聆听。现在是问答环节，欢迎大家提问。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2.xml.rels><?xml version="1.0" encoding="UTF-8" standalone="yes"?><Relationships xmlns="http://schemas.openxmlformats.org/package/2006/relationships"><Relationship Id="rId1" Target="../slideMasters/slideMaster2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/>
          <p:nvPr>
            <p:ph idx="1" type="subTitle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/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/>
          <p:nvPr>
            <p:ph idx="1" type="body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栏内容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/>
          <p:nvPr>
            <p:ph idx="1" type="body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/>
          <p:nvPr>
            <p:ph idx="2" type="body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较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/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/>
          <p:nvPr>
            <p:ph idx="1" type="body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Shape 37"/>
          <p:cNvSpPr txBox="1"/>
          <p:nvPr>
            <p:ph idx="2" type="body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/>
          <p:nvPr>
            <p:ph idx="3" type="body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Shape 39"/>
          <p:cNvSpPr txBox="1"/>
          <p:nvPr>
            <p:ph idx="4" type="body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与标题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/>
          <p:nvPr>
            <p:ph idx="1" type="body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/>
          <p:nvPr>
            <p:ph idx="2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图片与标题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/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/>
          <p:nvPr>
            <p:ph idx="2" type="pic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/>
          <p:nvPr>
            <p:ph idx="1" type="body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竖排文字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/>
          <p:nvPr>
            <p:ph idx="1" type="body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竖排标题与文本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/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/>
          <p:nvPr>
            <p:ph idx="1" type="body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_rels/slideMaster2.xml.rels><?xml version="1.0" encoding="UTF-8" standalone="yes"?><Relationships xmlns="http://schemas.openxmlformats.org/package/2006/relationships"><Relationship Id="rId1" Target="../theme/theme3.xml" Type="http://schemas.openxmlformats.org/officeDocument/2006/relationships/theme"/><Relationship Id="rId2" Target="../slideLayouts/slideLayout12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/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b="0" i="0" sz="3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/>
          <p:nvPr>
            <p:ph idx="1" type="body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Shape 3"/>
          <p:cNvSpPr txBox="1"/>
          <p:nvPr>
            <p:ph idx="10" type="dt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Shape 4"/>
          <p:cNvSpPr txBox="1"/>
          <p:nvPr>
            <p:ph idx="11" type="ftr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Shape 5"/>
          <p:cNvSpPr txBox="1"/>
          <p:nvPr>
            <p:ph idx="12" type="sldNum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默认主题">
    <p:bg>
      <p:bgPr>
        <a:solidFill>
          <a:srgbClr val="FFFFFF">
            <a:alpha val="100000"/>
          </a:srgbClr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5748369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1.jpeg" Type="http://schemas.openxmlformats.org/officeDocument/2006/relationships/image"/><Relationship Id="rId3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2.jpeg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Relationship Id="rId5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2.jpeg" Type="http://schemas.openxmlformats.org/officeDocument/2006/relationships/image"/><Relationship Id="rId3" Target="../media/image5.png" Type="http://schemas.openxmlformats.org/officeDocument/2006/relationships/image"/><Relationship Id="rId4" Target="../media/image6.svg" Type="http://schemas.openxmlformats.org/officeDocument/2006/relationships/image"/><Relationship Id="rId5" Target="../media/image7.png" Type="http://schemas.openxmlformats.org/officeDocument/2006/relationships/image"/><Relationship Id="rId6" Target="../media/image8.svg" Type="http://schemas.openxmlformats.org/officeDocument/2006/relationships/image"/><Relationship Id="rId7" Target="../media/image9.png" Type="http://schemas.openxmlformats.org/officeDocument/2006/relationships/image"/><Relationship Id="rId8" Target="../media/image10.svg" Type="http://schemas.openxmlformats.org/officeDocument/2006/relationships/image"/><Relationship Id="rId9" Target="../notesSlides/notesSlide3.xml" Type="http://schemas.openxmlformats.org/officeDocument/2006/relationships/notesSlide"/></Relationships>
</file>

<file path=ppt/slides/_rels/slide4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2.jpeg" Type="http://schemas.openxmlformats.org/officeDocument/2006/relationships/image"/><Relationship Id="rId3" Target="../media/image11.png" Type="http://schemas.openxmlformats.org/officeDocument/2006/relationships/image"/><Relationship Id="rId4" Target="../media/image12.svg" Type="http://schemas.openxmlformats.org/officeDocument/2006/relationships/image"/><Relationship Id="rId5" Target="../media/image13.png" Type="http://schemas.openxmlformats.org/officeDocument/2006/relationships/image"/><Relationship Id="rId6" Target="../media/image14.svg" Type="http://schemas.openxmlformats.org/officeDocument/2006/relationships/image"/><Relationship Id="rId7" Target="../media/image15.png" Type="http://schemas.openxmlformats.org/officeDocument/2006/relationships/image"/><Relationship Id="rId8" Target="../media/image16.svg" Type="http://schemas.openxmlformats.org/officeDocument/2006/relationships/image"/><Relationship Id="rId9" Target="../notesSlides/notesSlide4.xml" Type="http://schemas.openxmlformats.org/officeDocument/2006/relationships/notesSlide"/></Relationships>
</file>

<file path=ppt/slides/_rels/slide5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2.jpeg" Type="http://schemas.openxmlformats.org/officeDocument/2006/relationships/image"/><Relationship Id="rId3" Target="../media/image17.png" Type="http://schemas.openxmlformats.org/officeDocument/2006/relationships/image"/><Relationship Id="rId4" Target="../media/image18.svg" Type="http://schemas.openxmlformats.org/officeDocument/2006/relationships/image"/><Relationship Id="rId5" Target="../media/image19.png" Type="http://schemas.openxmlformats.org/officeDocument/2006/relationships/image"/><Relationship Id="rId6" Target="../media/image20.svg" Type="http://schemas.openxmlformats.org/officeDocument/2006/relationships/image"/><Relationship Id="rId7" Target="../notesSlides/notesSlide5.xml" Type="http://schemas.openxmlformats.org/officeDocument/2006/relationships/notesSlide"/></Relationships>
</file>

<file path=ppt/slides/_rels/slide6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10" Target="../media/image16.svg" Type="http://schemas.openxmlformats.org/officeDocument/2006/relationships/image"/><Relationship Id="rId11" Target="../media/image27.png" Type="http://schemas.openxmlformats.org/officeDocument/2006/relationships/image"/><Relationship Id="rId12" Target="../media/image28.svg" Type="http://schemas.openxmlformats.org/officeDocument/2006/relationships/image"/><Relationship Id="rId13" Target="../media/image29.png" Type="http://schemas.openxmlformats.org/officeDocument/2006/relationships/image"/><Relationship Id="rId14" Target="../media/image30.svg" Type="http://schemas.openxmlformats.org/officeDocument/2006/relationships/image"/><Relationship Id="rId15" Target="../media/image31.png" Type="http://schemas.openxmlformats.org/officeDocument/2006/relationships/image"/><Relationship Id="rId16" Target="../media/image32.svg" Type="http://schemas.openxmlformats.org/officeDocument/2006/relationships/image"/><Relationship Id="rId17" Target="../media/image33.png" Type="http://schemas.openxmlformats.org/officeDocument/2006/relationships/image"/><Relationship Id="rId18" Target="../media/image34.svg" Type="http://schemas.openxmlformats.org/officeDocument/2006/relationships/image"/><Relationship Id="rId19" Target="../notesSlides/notesSlide6.xml" Type="http://schemas.openxmlformats.org/officeDocument/2006/relationships/notesSlide"/><Relationship Id="rId2" Target="../media/image2.jpeg" Type="http://schemas.openxmlformats.org/officeDocument/2006/relationships/image"/><Relationship Id="rId3" Target="../media/image21.png" Type="http://schemas.openxmlformats.org/officeDocument/2006/relationships/image"/><Relationship Id="rId4" Target="../media/image22.svg" Type="http://schemas.openxmlformats.org/officeDocument/2006/relationships/image"/><Relationship Id="rId5" Target="../media/image23.png" Type="http://schemas.openxmlformats.org/officeDocument/2006/relationships/image"/><Relationship Id="rId6" Target="../media/image24.svg" Type="http://schemas.openxmlformats.org/officeDocument/2006/relationships/image"/><Relationship Id="rId7" Target="../media/image25.png" Type="http://schemas.openxmlformats.org/officeDocument/2006/relationships/image"/><Relationship Id="rId8" Target="../media/image26.svg" Type="http://schemas.openxmlformats.org/officeDocument/2006/relationships/image"/><Relationship Id="rId9" Target="../media/image15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10" Target="../media/image42.svg" Type="http://schemas.openxmlformats.org/officeDocument/2006/relationships/image"/><Relationship Id="rId11" Target="../notesSlides/notesSlide7.xml" Type="http://schemas.openxmlformats.org/officeDocument/2006/relationships/notesSlide"/><Relationship Id="rId2" Target="../media/image2.jpeg" Type="http://schemas.openxmlformats.org/officeDocument/2006/relationships/image"/><Relationship Id="rId3" Target="../media/image35.png" Type="http://schemas.openxmlformats.org/officeDocument/2006/relationships/image"/><Relationship Id="rId4" Target="../media/image36.svg" Type="http://schemas.openxmlformats.org/officeDocument/2006/relationships/image"/><Relationship Id="rId5" Target="../media/image37.png" Type="http://schemas.openxmlformats.org/officeDocument/2006/relationships/image"/><Relationship Id="rId6" Target="../media/image38.svg" Type="http://schemas.openxmlformats.org/officeDocument/2006/relationships/image"/><Relationship Id="rId7" Target="../media/image39.png" Type="http://schemas.openxmlformats.org/officeDocument/2006/relationships/image"/><Relationship Id="rId8" Target="../media/image40.svg" Type="http://schemas.openxmlformats.org/officeDocument/2006/relationships/image"/><Relationship Id="rId9" Target="../media/image4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2.jpeg" Type="http://schemas.openxmlformats.org/officeDocument/2006/relationships/image"/><Relationship Id="rId3" Target="../media/image43.png" Type="http://schemas.openxmlformats.org/officeDocument/2006/relationships/image"/><Relationship Id="rId4" Target="../media/image44.svg" Type="http://schemas.openxmlformats.org/officeDocument/2006/relationships/image"/><Relationship Id="rId5" Target="../media/image19.png" Type="http://schemas.openxmlformats.org/officeDocument/2006/relationships/image"/><Relationship Id="rId6" Target="../media/image20.svg" Type="http://schemas.openxmlformats.org/officeDocument/2006/relationships/image"/><Relationship Id="rId7" Target="../media/image45.png" Type="http://schemas.openxmlformats.org/officeDocument/2006/relationships/image"/><Relationship Id="rId8" Target="../media/image46.svg" Type="http://schemas.openxmlformats.org/officeDocument/2006/relationships/image"/><Relationship Id="rId9" Target="../notesSlides/notesSlide8.xml" Type="http://schemas.openxmlformats.org/officeDocument/2006/relationships/notesSlide"/></Relationships>
</file>

<file path=ppt/slides/_rels/slide9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10" Target="../media/image50.svg" Type="http://schemas.openxmlformats.org/officeDocument/2006/relationships/image"/><Relationship Id="rId11" Target="../media/image51.png" Type="http://schemas.openxmlformats.org/officeDocument/2006/relationships/image"/><Relationship Id="rId12" Target="../media/image52.svg" Type="http://schemas.openxmlformats.org/officeDocument/2006/relationships/image"/><Relationship Id="rId13" Target="../media/image53.png" Type="http://schemas.openxmlformats.org/officeDocument/2006/relationships/image"/><Relationship Id="rId14" Target="../media/image54.svg" Type="http://schemas.openxmlformats.org/officeDocument/2006/relationships/image"/><Relationship Id="rId15" Target="../notesSlides/notesSlide9.xml" Type="http://schemas.openxmlformats.org/officeDocument/2006/relationships/notesSlide"/><Relationship Id="rId2" Target="../media/image2.jpeg" Type="http://schemas.openxmlformats.org/officeDocument/2006/relationships/image"/><Relationship Id="rId3" Target="../media/image47.png" Type="http://schemas.openxmlformats.org/officeDocument/2006/relationships/image"/><Relationship Id="rId4" Target="../media/image48.svg" Type="http://schemas.openxmlformats.org/officeDocument/2006/relationships/image"/><Relationship Id="rId5" Target="../media/image19.png" Type="http://schemas.openxmlformats.org/officeDocument/2006/relationships/image"/><Relationship Id="rId6" Target="../media/image20.svg" Type="http://schemas.openxmlformats.org/officeDocument/2006/relationships/image"/><Relationship Id="rId7" Target="../media/image9.png" Type="http://schemas.openxmlformats.org/officeDocument/2006/relationships/image"/><Relationship Id="rId8" Target="../media/image10.svg" Type="http://schemas.openxmlformats.org/officeDocument/2006/relationships/image"/><Relationship Id="rId9" Target="../media/image4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2.jpeg" Type="http://schemas.openxmlformats.org/officeDocument/2006/relationships/image"/><Relationship Id="rId3" Target="../media/image55.png" Type="http://schemas.openxmlformats.org/officeDocument/2006/relationships/image"/><Relationship Id="rId4" Target="../media/image56.svg" Type="http://schemas.openxmlformats.org/officeDocument/2006/relationships/image"/><Relationship Id="rId5" Target="../media/image19.png" Type="http://schemas.openxmlformats.org/officeDocument/2006/relationships/image"/><Relationship Id="rId6" Target="../media/image20.svg" Type="http://schemas.openxmlformats.org/officeDocument/2006/relationships/image"/><Relationship Id="rId7" Target="../media/image13.png" Type="http://schemas.openxmlformats.org/officeDocument/2006/relationships/image"/><Relationship Id="rId8" Target="../media/image14.svg" Type="http://schemas.openxmlformats.org/officeDocument/2006/relationships/image"/><Relationship Id="rId9" Target="../notesSlides/notesSlide10.xml" Type="http://schemas.openxmlformats.org/officeDocument/2006/relationships/notesSlide"/></Relationships>
</file>

<file path=ppt/slides/_rels/slide11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2.jpeg" Type="http://schemas.openxmlformats.org/officeDocument/2006/relationships/image"/><Relationship Id="rId3" Target="../media/image57.png" Type="http://schemas.openxmlformats.org/officeDocument/2006/relationships/image"/><Relationship Id="rId4" Target="../media/image58.svg" Type="http://schemas.openxmlformats.org/officeDocument/2006/relationships/image"/><Relationship Id="rId5" Target="../media/image59.png" Type="http://schemas.openxmlformats.org/officeDocument/2006/relationships/image"/><Relationship Id="rId6" Target="../media/image60.svg" Type="http://schemas.openxmlformats.org/officeDocument/2006/relationships/image"/><Relationship Id="rId7" Target="../notesSlides/notesSlide11.xml" Type="http://schemas.openxmlformats.org/officeDocument/2006/relationships/notesSlide"/></Relationships>
</file>

<file path=ppt/slides/_rels/slide12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2.jpeg" Type="http://schemas.openxmlformats.org/officeDocument/2006/relationships/image"/><Relationship Id="rId3" Target="../media/image61.png" Type="http://schemas.openxmlformats.org/officeDocument/2006/relationships/image"/><Relationship Id="rId4" Target="../media/image62.svg" Type="http://schemas.openxmlformats.org/officeDocument/2006/relationships/image"/><Relationship Id="rId5" Target="../media/image23.png" Type="http://schemas.openxmlformats.org/officeDocument/2006/relationships/image"/><Relationship Id="rId6" Target="../media/image24.svg" Type="http://schemas.openxmlformats.org/officeDocument/2006/relationships/image"/><Relationship Id="rId7" Target="../media/image63.png" Type="http://schemas.openxmlformats.org/officeDocument/2006/relationships/image"/><Relationship Id="rId8" Target="../media/image64.svg" Type="http://schemas.openxmlformats.org/officeDocument/2006/relationships/image"/><Relationship Id="rId9" Target="../notesSlides/notesSlide12.xml" Type="http://schemas.openxmlformats.org/officeDocument/2006/relationships/notesSlide"/></Relationships>
</file>

<file path=ppt/slides/_rels/slide13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2.jpeg" Type="http://schemas.openxmlformats.org/officeDocument/2006/relationships/image"/><Relationship Id="rId3" Target="../media/image45.png" Type="http://schemas.openxmlformats.org/officeDocument/2006/relationships/image"/><Relationship Id="rId4" Target="../media/image46.svg" Type="http://schemas.openxmlformats.org/officeDocument/2006/relationships/image"/><Relationship Id="rId5" Target="../media/image23.png" Type="http://schemas.openxmlformats.org/officeDocument/2006/relationships/image"/><Relationship Id="rId6" Target="../media/image24.svg" Type="http://schemas.openxmlformats.org/officeDocument/2006/relationships/image"/><Relationship Id="rId7" Target="../media/image65.png" Type="http://schemas.openxmlformats.org/officeDocument/2006/relationships/image"/><Relationship Id="rId8" Target="../media/image66.svg" Type="http://schemas.openxmlformats.org/officeDocument/2006/relationships/image"/><Relationship Id="rId9" Target="../notesSlides/notesSlide13.xml" Type="http://schemas.openxmlformats.org/officeDocument/2006/relationships/notesSlide"/></Relationships>
</file>

<file path=ppt/slides/_rels/slide14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2.jpeg" Type="http://schemas.openxmlformats.org/officeDocument/2006/relationships/image"/><Relationship Id="rId3" Target="../media/image35.png" Type="http://schemas.openxmlformats.org/officeDocument/2006/relationships/image"/><Relationship Id="rId4" Target="../media/image36.svg" Type="http://schemas.openxmlformats.org/officeDocument/2006/relationships/image"/><Relationship Id="rId5" Target="../media/image23.png" Type="http://schemas.openxmlformats.org/officeDocument/2006/relationships/image"/><Relationship Id="rId6" Target="../media/image24.svg" Type="http://schemas.openxmlformats.org/officeDocument/2006/relationships/image"/><Relationship Id="rId7" Target="../media/image65.png" Type="http://schemas.openxmlformats.org/officeDocument/2006/relationships/image"/><Relationship Id="rId8" Target="../media/image66.svg" Type="http://schemas.openxmlformats.org/officeDocument/2006/relationships/image"/><Relationship Id="rId9" Target="../notesSlides/notesSlide14.xml" Type="http://schemas.openxmlformats.org/officeDocument/2006/relationships/notesSlide"/></Relationships>
</file>

<file path=ppt/slides/_rels/slide15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10" Target="../media/image24.svg" Type="http://schemas.openxmlformats.org/officeDocument/2006/relationships/image"/><Relationship Id="rId11" Target="../notesSlides/notesSlide15.xml" Type="http://schemas.openxmlformats.org/officeDocument/2006/relationships/notesSlide"/><Relationship Id="rId2" Target="../media/image2.jpeg" Type="http://schemas.openxmlformats.org/officeDocument/2006/relationships/image"/><Relationship Id="rId3" Target="../media/image67.jpeg" Type="http://schemas.openxmlformats.org/officeDocument/2006/relationships/image"/><Relationship Id="rId4" Target="../media/image68.jpeg" Type="http://schemas.openxmlformats.org/officeDocument/2006/relationships/image"/><Relationship Id="rId5" Target="../media/image69.jpe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../media/image70.jpeg" Type="http://schemas.openxmlformats.org/officeDocument/2006/relationships/image"/><Relationship Id="rId9" Target="../media/image2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10" Target="../media/image78.svg" Type="http://schemas.openxmlformats.org/officeDocument/2006/relationships/image"/><Relationship Id="rId11" Target="../notesSlides/notesSlide16.xml" Type="http://schemas.openxmlformats.org/officeDocument/2006/relationships/notesSlide"/><Relationship Id="rId2" Target="../media/image2.jpeg" Type="http://schemas.openxmlformats.org/officeDocument/2006/relationships/image"/><Relationship Id="rId3" Target="../media/image71.png" Type="http://schemas.openxmlformats.org/officeDocument/2006/relationships/image"/><Relationship Id="rId4" Target="../media/image72.svg" Type="http://schemas.openxmlformats.org/officeDocument/2006/relationships/image"/><Relationship Id="rId5" Target="../media/image73.png" Type="http://schemas.openxmlformats.org/officeDocument/2006/relationships/image"/><Relationship Id="rId6" Target="../media/image74.svg" Type="http://schemas.openxmlformats.org/officeDocument/2006/relationships/image"/><Relationship Id="rId7" Target="../media/image75.png" Type="http://schemas.openxmlformats.org/officeDocument/2006/relationships/image"/><Relationship Id="rId8" Target="../media/image76.svg" Type="http://schemas.openxmlformats.org/officeDocument/2006/relationships/image"/><Relationship Id="rId9" Target="../media/image77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2.jpeg" Type="http://schemas.openxmlformats.org/officeDocument/2006/relationships/image"/><Relationship Id="rId3" Target="../notesSlides/notesSlide17.xml" Type="http://schemas.openxmlformats.org/officeDocument/2006/relationships/notesSlide"/></Relationships>
</file>

<file path=ppt/slides/_rels/slide18.xml.rels><?xml version="1.0" encoding="UTF-8" standalone="yes"?><Relationships xmlns="http://schemas.openxmlformats.org/package/2006/relationships"><Relationship Id="rId1" Target="../slideLayouts/slideLayout12.xml" Type="http://schemas.openxmlformats.org/officeDocument/2006/relationships/slideLayout"/><Relationship Id="rId2" Target="../media/image79.jpeg" Type="http://schemas.openxmlformats.org/officeDocument/2006/relationships/image"/><Relationship Id="rId3" Target="../notesSlides/notesSlide18.xml" Type="http://schemas.openxmlformats.org/officeDocument/2006/relationships/notesSlide"/><Relationship Id="rId4" Target="../media/image80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F172A">
              <a:alpha val="7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635000" y="2032000"/>
            <a:ext cx="10922000" cy="152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00000"/>
              </a:lnSpc>
              <a:defRPr/>
            </a:pPr>
            <a:r>
              <a:rPr lang="en-US" b="true" i="false" strike="noStrike" u="none" sz="4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私域知识赋能AI Coding工具技术方案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3683000"/>
            <a:ext cx="10160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ctr" marL="0" indent="0">
              <a:lnSpc>
                <a:spcPct val="116666"/>
              </a:lnSpc>
              <a:defRPr/>
            </a:pPr>
            <a:r>
              <a:rPr lang="en-US" b="false" i="false" strike="noStrike" u="none" sz="2000">
                <a:solidFill>
                  <a:srgbClr val="E2E8F0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从“通用码农”到“</a:t>
            </a:r>
            <a:r>
              <a:rPr lang="en-US" b="false" i="false" strike="noStrike" u="none" sz="20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业务专家型Copilot</a:t>
            </a:r>
            <a:r>
              <a:rPr lang="en-US" b="false" i="false" strike="noStrike" u="none" sz="2000">
                <a:solidFill>
                  <a:srgbClr val="E2E8F0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”的进化之路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3810000" y="5461000"/>
            <a:ext cx="4572000" cy="5588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12700" cmpd="sng" cap="flat">
            <a:solidFill>
              <a:srgbClr val="FFFFFF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3937000" y="5461000"/>
            <a:ext cx="43180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CBD5E1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汇报人：AI技术团队 | 日期：2026年3月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8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635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目录 CONTENTS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524000"/>
            <a:ext cx="5080000" cy="1143000"/>
          </a:xfrm>
          <a:prstGeom prst="roundRect">
            <a:avLst>
              <a:gd name="adj" fmla="val 8888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22D3EE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1714500"/>
            <a:ext cx="50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01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651000" y="1752600"/>
            <a:ext cx="406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项目背景与目标 (Why)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651000" y="2133600"/>
            <a:ext cx="4064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• 通用AI编程的“水土不服”</a:t>
            </a: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• 打造企业专属的“业务专家型Copilot”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762000" y="2857500"/>
            <a:ext cx="5080000" cy="1143000"/>
          </a:xfrm>
          <a:prstGeom prst="roundRect">
            <a:avLst>
              <a:gd name="adj" fmla="val 8888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22D3EE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1016000" y="3048000"/>
            <a:ext cx="50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02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651000" y="3086100"/>
            <a:ext cx="406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总体技术架构 (What)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651000" y="3467100"/>
            <a:ext cx="4064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• Spec + RAG 双引擎驱动</a:t>
            </a: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• 系统架构图概览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762000" y="4191000"/>
            <a:ext cx="5080000" cy="1143000"/>
          </a:xfrm>
          <a:prstGeom prst="roundRect">
            <a:avLst>
              <a:gd name="adj" fmla="val 8888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22D3EE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016000" y="4381500"/>
            <a:ext cx="50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03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1651000" y="4419600"/>
            <a:ext cx="406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私域知识库构建 (How - Part 1)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651000" y="4800600"/>
            <a:ext cx="4064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• 知识分类与结构化定义 | 数据预处理流程</a:t>
            </a: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• 混合检索策略实现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762000" y="5524500"/>
            <a:ext cx="5080000" cy="1079500"/>
          </a:xfrm>
          <a:prstGeom prst="roundRect">
            <a:avLst>
              <a:gd name="adj" fmla="val 9411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22D3EE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1016000" y="5689600"/>
            <a:ext cx="50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04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1651000" y="5727700"/>
            <a:ext cx="406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私域知识自动检索 (How - Part 2)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651000" y="6108700"/>
            <a:ext cx="4064000" cy="444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• 三大触发机制解析 | MCP协议深度集成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6350000" y="1524000"/>
            <a:ext cx="5080000" cy="1143000"/>
          </a:xfrm>
          <a:prstGeom prst="roundRect">
            <a:avLst>
              <a:gd name="adj" fmla="val 8888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22D3EE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604000" y="1714500"/>
            <a:ext cx="50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05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7239000" y="1752600"/>
            <a:ext cx="406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应用场景落地 (Use Cases)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7239000" y="2133600"/>
            <a:ext cx="4064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• 需求开发辅助 | 问题智能定位</a:t>
            </a: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• 代码自动化检视实践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6350000" y="2857500"/>
            <a:ext cx="5080000" cy="1143000"/>
          </a:xfrm>
          <a:prstGeom prst="roundRect">
            <a:avLst>
              <a:gd name="adj" fmla="val 8888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22D3EE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6604000" y="3048000"/>
            <a:ext cx="50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06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7239000" y="3086100"/>
            <a:ext cx="406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技术选型与风险应对 (Details)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7239000" y="3467100"/>
            <a:ext cx="4064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• 核心技术栈推荐理由</a:t>
            </a: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• 潜在风险评估与应对策略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350000" y="4191000"/>
            <a:ext cx="5080000" cy="1143000"/>
          </a:xfrm>
          <a:prstGeom prst="roundRect">
            <a:avLst>
              <a:gd name="adj" fmla="val 8888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22D3EE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6604000" y="4381500"/>
            <a:ext cx="50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07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7239000" y="4419600"/>
            <a:ext cx="406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实施规划与待办 (Roadmap)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7239000" y="4800600"/>
            <a:ext cx="4064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0000"/>
              </a:lnSpc>
              <a:defRPr/>
            </a:pP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• 阶段性里程碑计划</a:t>
            </a: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• 试点阶段核心待办事项跟踪</a:t>
            </a:r>
            <a:endParaRPr lang="en-US" sz="1100"/>
          </a:p>
        </p:txBody>
      </p:sp>
      <p:pic>
        <p:nvPicPr>
          <p:cNvPr name="Picture 32" id="32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820400" y="5588000"/>
            <a:ext cx="609600" cy="60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8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1066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问题陈述：通用AI编程的“水土不服”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270000"/>
            <a:ext cx="10668000" cy="609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4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通用大模型在企业内部软件开发中面临三大挑战，导致效率瓶颈和体验不佳。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62000" y="2159000"/>
            <a:ext cx="3302000" cy="4064000"/>
          </a:xfrm>
          <a:prstGeom prst="roundRect">
            <a:avLst>
              <a:gd name="adj" fmla="val 4615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66800" y="2463800"/>
            <a:ext cx="457200" cy="457200"/>
          </a:xfrm>
          <a:prstGeom prst="rect">
            <a:avLst/>
          </a:prstGeom>
        </p:spPr>
      </p:pic>
      <p:sp>
        <p:nvSpPr>
          <p:cNvPr name="AutoShape 7" id="7"/>
          <p:cNvSpPr/>
          <p:nvPr/>
        </p:nvSpPr>
        <p:spPr>
          <a:xfrm rot="0" flipH="false" flipV="false">
            <a:off x="1066800" y="3048000"/>
            <a:ext cx="2692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痛点一：缺乏领域知识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66800" y="3556000"/>
            <a:ext cx="2692400" cy="228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表现：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AI无法理解企业内部的业务术语、私有SDK、历史技术决策和团队编码规范。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后果：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生成的代码需要开发者反复“调教”和修改，返工率高。</a:t>
            </a:r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4445000" y="2159000"/>
            <a:ext cx="3302000" cy="4064000"/>
          </a:xfrm>
          <a:prstGeom prst="roundRect">
            <a:avLst>
              <a:gd name="adj" fmla="val 4615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4749800" y="2463800"/>
            <a:ext cx="457200" cy="457200"/>
          </a:xfrm>
          <a:prstGeom prst="rect">
            <a:avLst/>
          </a:prstGeom>
        </p:spPr>
      </p:pic>
      <p:sp>
        <p:nvSpPr>
          <p:cNvPr name="AutoShape 11" id="11"/>
          <p:cNvSpPr/>
          <p:nvPr/>
        </p:nvSpPr>
        <p:spPr>
          <a:xfrm rot="0" flipH="false" flipV="false">
            <a:off x="4749800" y="3048000"/>
            <a:ext cx="2692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痛点二：高昂的沟通成本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4749800" y="3556000"/>
            <a:ext cx="2692400" cy="228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数据：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据内部调研，开发者通常需要对AI生成的代码进行</a:t>
            </a:r>
            <a:r>
              <a:rPr lang="en-US" b="true" i="false" strike="noStrike" u="none" sz="1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5轮以上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的修改才能投入使用。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影响：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大量时间浪费在解释“我们公司是怎么做的”，而非创造性工作。</a:t>
            </a:r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8128000" y="2159000"/>
            <a:ext cx="3302000" cy="4064000"/>
          </a:xfrm>
          <a:prstGeom prst="roundRect">
            <a:avLst>
              <a:gd name="adj" fmla="val 4615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8432800" y="2463800"/>
            <a:ext cx="457200" cy="457200"/>
          </a:xfrm>
          <a:prstGeom prst="rect">
            <a:avLst/>
          </a:prstGeom>
        </p:spPr>
      </p:pic>
      <p:sp>
        <p:nvSpPr>
          <p:cNvPr name="AutoShape 15" id="15"/>
          <p:cNvSpPr/>
          <p:nvPr/>
        </p:nvSpPr>
        <p:spPr>
          <a:xfrm rot="0" flipH="false" flipV="false">
            <a:off x="8432800" y="3048000"/>
            <a:ext cx="2692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痛点三：缺失项目级理解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8432800" y="3556000"/>
            <a:ext cx="2692400" cy="228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63%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的开发者认为，现有AI工具在面对遗留代码库时，缺乏对项目整体架构和上下文的理解。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根源：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模型无法感知代码库的全貌，导致建议“只见树木，不见森林”。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8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10668000" cy="571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建设目标：打造企业专属的“业务专家型Copilot”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333500"/>
            <a:ext cx="10668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6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构建以私域知识工程为核心的技术体系，让AI成为懂业务、懂架构、懂规范的团队专家。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62000" y="2286000"/>
            <a:ext cx="3302000" cy="3937000"/>
          </a:xfrm>
          <a:prstGeom prst="roundRect">
            <a:avLst>
              <a:gd name="adj" fmla="val 4615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762000" y="2286000"/>
            <a:ext cx="3302000" cy="50800"/>
          </a:xfrm>
          <a:prstGeom prst="roundRect">
            <a:avLst>
              <a:gd name="adj" fmla="val 0"/>
            </a:avLst>
          </a:prstGeom>
          <a:gradFill rotWithShape="true">
            <a:gsLst>
              <a:gs pos="0">
                <a:srgbClr val="22D3EE">
                  <a:alpha val="80000"/>
                </a:srgbClr>
              </a:gs>
              <a:gs pos="100000">
                <a:srgbClr val="22D3EE">
                  <a:alpha val="0"/>
                </a:srgbClr>
              </a:gs>
            </a:gsLst>
            <a:lin ang="0"/>
          </a:gra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2590800"/>
            <a:ext cx="609600" cy="609600"/>
          </a:xfrm>
          <a:prstGeom prst="ellipse">
            <a:avLst/>
          </a:prstGeom>
          <a:solidFill>
            <a:srgbClr val="22D3EE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193800" y="2717800"/>
            <a:ext cx="355600" cy="355600"/>
          </a:xfrm>
          <a:prstGeom prst="rect">
            <a:avLst/>
          </a:prstGeom>
        </p:spPr>
      </p:pic>
      <p:sp>
        <p:nvSpPr>
          <p:cNvPr name="AutoShape 9" id="9"/>
          <p:cNvSpPr/>
          <p:nvPr/>
        </p:nvSpPr>
        <p:spPr>
          <a:xfrm rot="0" flipH="false" flipV="false">
            <a:off x="1066800" y="3352800"/>
            <a:ext cx="2692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目标一：AI的自我进化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66800" y="3860800"/>
            <a:ext cx="2692400" cy="203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实现：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AI能够自动理解并学习企业的术语、API、业务规范与历史经验。</a:t>
            </a:r>
            <a: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价值：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降低开发者的“调教”成本，让AI主动适应企业开发环境。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4445000" y="2286000"/>
            <a:ext cx="3302000" cy="3937000"/>
          </a:xfrm>
          <a:prstGeom prst="roundRect">
            <a:avLst>
              <a:gd name="adj" fmla="val 4615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4445000" y="2286000"/>
            <a:ext cx="3302000" cy="50800"/>
          </a:xfrm>
          <a:prstGeom prst="roundRect">
            <a:avLst>
              <a:gd name="adj" fmla="val 0"/>
            </a:avLst>
          </a:prstGeom>
          <a:gradFill rotWithShape="true">
            <a:gsLst>
              <a:gs pos="0">
                <a:srgbClr val="22D3EE">
                  <a:alpha val="80000"/>
                </a:srgbClr>
              </a:gs>
              <a:gs pos="100000">
                <a:srgbClr val="22D3EE">
                  <a:alpha val="0"/>
                </a:srgbClr>
              </a:gs>
            </a:gsLst>
            <a:lin ang="0"/>
          </a:gra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4749800" y="2590800"/>
            <a:ext cx="609600" cy="609600"/>
          </a:xfrm>
          <a:prstGeom prst="ellipse">
            <a:avLst/>
          </a:prstGeom>
          <a:solidFill>
            <a:srgbClr val="22D3EE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4876800" y="2717800"/>
            <a:ext cx="355600" cy="355600"/>
          </a:xfrm>
          <a:prstGeom prst="rect">
            <a:avLst/>
          </a:prstGeom>
        </p:spPr>
      </p:pic>
      <p:sp>
        <p:nvSpPr>
          <p:cNvPr name="AutoShape 15" id="15"/>
          <p:cNvSpPr/>
          <p:nvPr/>
        </p:nvSpPr>
        <p:spPr>
          <a:xfrm rot="0" flipH="false" flipV="false">
            <a:off x="4749800" y="3352800"/>
            <a:ext cx="2692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目标二：赋能三大核心场景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4749800" y="3860800"/>
            <a:ext cx="2692400" cy="203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• 需求开发：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精准生成符合架构规范的代码，提升开发效率。</a:t>
            </a:r>
            <a: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• 问题定位：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快速提供基于历史经验的排查建议，缩短故障修复时间。</a:t>
            </a:r>
            <a: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• 代码检视：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自动执行代码规范和最佳实践检查，保障代码质量。</a:t>
            </a:r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8128000" y="2286000"/>
            <a:ext cx="3302000" cy="3937000"/>
          </a:xfrm>
          <a:prstGeom prst="roundRect">
            <a:avLst>
              <a:gd name="adj" fmla="val 4615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8128000" y="2286000"/>
            <a:ext cx="3302000" cy="50800"/>
          </a:xfrm>
          <a:prstGeom prst="roundRect">
            <a:avLst>
              <a:gd name="adj" fmla="val 0"/>
            </a:avLst>
          </a:prstGeom>
          <a:gradFill rotWithShape="true">
            <a:gsLst>
              <a:gs pos="0">
                <a:srgbClr val="22D3EE">
                  <a:alpha val="80000"/>
                </a:srgbClr>
              </a:gs>
              <a:gs pos="100000">
                <a:srgbClr val="22D3EE">
                  <a:alpha val="0"/>
                </a:srgbClr>
              </a:gs>
            </a:gsLst>
            <a:lin ang="0"/>
          </a:gra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8432800" y="2590800"/>
            <a:ext cx="609600" cy="609600"/>
          </a:xfrm>
          <a:prstGeom prst="ellipse">
            <a:avLst/>
          </a:prstGeom>
          <a:solidFill>
            <a:srgbClr val="22D3EE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0" id="20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8559800" y="2717800"/>
            <a:ext cx="355600" cy="355600"/>
          </a:xfrm>
          <a:prstGeom prst="rect">
            <a:avLst/>
          </a:prstGeom>
        </p:spPr>
      </p:pic>
      <p:sp>
        <p:nvSpPr>
          <p:cNvPr name="AutoShape 21" id="21"/>
          <p:cNvSpPr/>
          <p:nvPr/>
        </p:nvSpPr>
        <p:spPr>
          <a:xfrm rot="0" flipH="false" flipV="false">
            <a:off x="8432800" y="3352800"/>
            <a:ext cx="2692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目标三：构建运营闭环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432800" y="3860800"/>
            <a:ext cx="2692400" cy="203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机制：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建立“数据收集-反馈-优化”的正向循环，持续沉淀私域知识资产。</a:t>
            </a:r>
            <a: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愿景：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使AI从一个通用的“码农”，持续升级为一个精通企业业务的“专家型Copilot”。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8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1066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核心设计思想：Spec + RAG 双引擎驱动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206500"/>
            <a:ext cx="1066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6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结合“硬约束”与“软智能”，实现精准与灵活的统一。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62000" y="1905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4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762000" y="1905000"/>
            <a:ext cx="5207000" cy="50800"/>
          </a:xfrm>
          <a:prstGeom prst="roundRect">
            <a:avLst>
              <a:gd name="adj" fmla="val 0"/>
            </a:avLst>
          </a:prstGeom>
          <a:solidFill>
            <a:srgbClr val="22D3EE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066800" y="2209800"/>
            <a:ext cx="609600" cy="609600"/>
          </a:xfrm>
          <a:prstGeom prst="ellipse">
            <a:avLst/>
          </a:prstGeom>
          <a:solidFill>
            <a:srgbClr val="22D3EE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193800" y="2336800"/>
            <a:ext cx="355600" cy="355600"/>
          </a:xfrm>
          <a:prstGeom prst="rect">
            <a:avLst/>
          </a:prstGeom>
        </p:spPr>
      </p:pic>
      <p:sp>
        <p:nvSpPr>
          <p:cNvPr name="AutoShape 9" id="9"/>
          <p:cNvSpPr/>
          <p:nvPr/>
        </p:nvSpPr>
        <p:spPr>
          <a:xfrm rot="0" flipH="false" flipV="false">
            <a:off x="1828800" y="2324100"/>
            <a:ext cx="381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Spec 引擎 (硬约束)</a:t>
            </a:r>
            <a:endParaRPr lang="en-US" sz="1100"/>
          </a:p>
        </p:txBody>
      </p:sp>
      <p:cxnSp>
        <p:nvCxnSpPr>
          <p:cNvPr name="Connector 10" id="10"/>
          <p:cNvCxnSpPr/>
          <p:nvPr/>
        </p:nvCxnSpPr>
        <p:spPr>
          <a:xfrm rot="-9496" flipH="false" flipV="false">
            <a:off x="1066809" y="2965450"/>
            <a:ext cx="4597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1" id="11"/>
          <p:cNvSpPr/>
          <p:nvPr/>
        </p:nvSpPr>
        <p:spPr>
          <a:xfrm rot="0" flipH="false" flipV="false">
            <a:off x="1066800" y="3175000"/>
            <a:ext cx="4597400" cy="292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作用：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将接口契约、数据契约、行为规范等结构化知识作为生成前的强制校验规则。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实现：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通过Schema验证、代码模板、静态分析等手段，确保生成结果的合规性和正确性。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目标：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保证下限，杜绝明显违反规范的代码。</a:t>
            </a:r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6223000" y="1905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4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6223000" y="1905000"/>
            <a:ext cx="5207000" cy="50800"/>
          </a:xfrm>
          <a:prstGeom prst="roundRect">
            <a:avLst>
              <a:gd name="adj" fmla="val 0"/>
            </a:avLst>
          </a:prstGeom>
          <a:solidFill>
            <a:srgbClr val="22D3EE">
              <a:alpha val="10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6527800" y="2209800"/>
            <a:ext cx="609600" cy="609600"/>
          </a:xfrm>
          <a:prstGeom prst="ellipse">
            <a:avLst/>
          </a:prstGeom>
          <a:solidFill>
            <a:srgbClr val="22D3EE">
              <a:alpha val="15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5" id="15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6654800" y="2336800"/>
            <a:ext cx="355600" cy="355600"/>
          </a:xfrm>
          <a:prstGeom prst="rect">
            <a:avLst/>
          </a:prstGeom>
        </p:spPr>
      </p:pic>
      <p:sp>
        <p:nvSpPr>
          <p:cNvPr name="AutoShape 16" id="16"/>
          <p:cNvSpPr/>
          <p:nvPr/>
        </p:nvSpPr>
        <p:spPr>
          <a:xfrm rot="0" flipH="false" flipV="false">
            <a:off x="7289800" y="2324100"/>
            <a:ext cx="381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20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RAG 引擎 (软智能)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rot="-9496" flipH="false" flipV="false">
            <a:off x="6527809" y="2965450"/>
            <a:ext cx="4597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8" id="18"/>
          <p:cNvSpPr/>
          <p:nvPr/>
        </p:nvSpPr>
        <p:spPr>
          <a:xfrm rot="0" flipH="false" flipV="false">
            <a:off x="6527800" y="3175000"/>
            <a:ext cx="4597400" cy="292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作用：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通过语义检索，动态注入非结构化知识，如历史方案、API文档、最佳实践等。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实现：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基于向量相似度、全文检索和知识图谱，为LLM提供最相关的上下文信息。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true" i="false" strike="noStrike" u="none" sz="1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目标：</a:t>
            </a: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提升上限，让AI的建议更具洞察力和实用性。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8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508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系统架构图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270000"/>
            <a:ext cx="1066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数据从源头进入，经过加工、存储，最终通过检索与生成层服务于AI Coding工具，并形成反馈闭环。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62000" y="1905000"/>
            <a:ext cx="5080000" cy="4572000"/>
          </a:xfrm>
          <a:prstGeom prst="roundRect">
            <a:avLst>
              <a:gd name="adj" fmla="val 3333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16000" y="2159000"/>
            <a:ext cx="254000" cy="254000"/>
          </a:xfrm>
          <a:prstGeom prst="rect">
            <a:avLst/>
          </a:prstGeom>
        </p:spPr>
      </p:pic>
      <p:sp>
        <p:nvSpPr>
          <p:cNvPr name="AutoShape 7" id="7"/>
          <p:cNvSpPr/>
          <p:nvPr/>
        </p:nvSpPr>
        <p:spPr>
          <a:xfrm rot="0" flipH="false" flipV="false">
            <a:off x="1397000" y="21336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数据源层：全域数据接入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397000" y="2463800"/>
            <a:ext cx="43180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整合业务需求文档、API/SDK技术文档、代码仓库历史及历史工单经验，构建全方位数据底座。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rot="-9549" flipH="false" flipV="false">
            <a:off x="1016009" y="30416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name="Picture 10" id="10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1016000" y="3238500"/>
            <a:ext cx="254000" cy="254000"/>
          </a:xfrm>
          <a:prstGeom prst="rect">
            <a:avLst/>
          </a:prstGeom>
        </p:spPr>
      </p:pic>
      <p:sp>
        <p:nvSpPr>
          <p:cNvPr name="AutoShape 11" id="11"/>
          <p:cNvSpPr/>
          <p:nvPr/>
        </p:nvSpPr>
        <p:spPr>
          <a:xfrm rot="0" flipH="false" flipV="false">
            <a:off x="1397000" y="32131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知识加工与存储层：结构化沉淀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397000" y="3543300"/>
            <a:ext cx="43180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利用AST分析与向量化技术处理代码，构建知识图谱，并通过向量数据库与图数据库实现高效索引。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rot="-9549" flipH="false" flipV="false">
            <a:off x="1016009" y="41211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name="Picture 14" id="14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1016000" y="4318000"/>
            <a:ext cx="254000" cy="254000"/>
          </a:xfrm>
          <a:prstGeom prst="rect">
            <a:avLst/>
          </a:prstGeom>
        </p:spPr>
      </p:pic>
      <p:sp>
        <p:nvSpPr>
          <p:cNvPr name="AutoShape 15" id="15"/>
          <p:cNvSpPr/>
          <p:nvPr/>
        </p:nvSpPr>
        <p:spPr>
          <a:xfrm rot="0" flipH="false" flipV="false">
            <a:off x="1397000" y="42926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智能应用层：全场景赋能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397000" y="4622800"/>
            <a:ext cx="43180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基于混合检索与MCP Server组装上下文，通过IDE插件覆盖需求开发、问题定位与代码检视三大核心场景。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rot="-9549" flipH="false" flipV="false">
            <a:off x="1016009" y="52006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name="Picture 18" id="18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 flipH="false" flipV="false">
            <a:off x="1016000" y="5397500"/>
            <a:ext cx="254000" cy="254000"/>
          </a:xfrm>
          <a:prstGeom prst="rect">
            <a:avLst/>
          </a:prstGeom>
        </p:spPr>
      </p:pic>
      <p:sp>
        <p:nvSpPr>
          <p:cNvPr name="AutoShape 19" id="19"/>
          <p:cNvSpPr/>
          <p:nvPr/>
        </p:nvSpPr>
        <p:spPr>
          <a:xfrm rot="0" flipH="false" flipV="false">
            <a:off x="1397000" y="53721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运营反馈闭环：持续进化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1397000" y="5702300"/>
            <a:ext cx="43180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采集工具会话数据，经质量评估与人工审核后，反哺至知识加工层，实现知识库的持续迭代与增强。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223000" y="1905000"/>
            <a:ext cx="5334000" cy="4572000"/>
          </a:xfrm>
          <a:prstGeom prst="roundRect">
            <a:avLst>
              <a:gd name="adj" fmla="val 3333"/>
            </a:avLst>
          </a:prstGeom>
          <a:solidFill>
            <a:srgbClr val="0F172A">
              <a:alpha val="50000"/>
            </a:srgbClr>
          </a:solidFill>
          <a:ln w="12700" cmpd="sng" cap="flat">
            <a:solidFill>
              <a:srgbClr val="22D3EE">
                <a:alpha val="2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6604000" y="2159000"/>
            <a:ext cx="4572000" cy="762000"/>
          </a:xfrm>
          <a:prstGeom prst="roundRect">
            <a:avLst>
              <a:gd name="adj" fmla="val 13333"/>
            </a:avLst>
          </a:prstGeom>
          <a:gradFill rotWithShape="true">
            <a:gsLst>
              <a:gs pos="0">
                <a:srgbClr val="22D3EE">
                  <a:alpha val="15000"/>
                </a:srgbClr>
              </a:gs>
              <a:gs pos="100000">
                <a:srgbClr val="22D3EE">
                  <a:alpha val="5000"/>
                </a:srgbClr>
              </a:gs>
            </a:gsLst>
            <a:lin ang="0"/>
          </a:gradFill>
          <a:ln w="12700" cmpd="sng" cap="flat">
            <a:solidFill>
              <a:srgbClr val="22D3EE">
                <a:alpha val="4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3" id="23"/>
          <p:cNvPicPr>
            <a:picLocks noChangeAspect="true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0" flipH="false" flipV="false">
            <a:off x="6794500" y="2362200"/>
            <a:ext cx="355600" cy="355600"/>
          </a:xfrm>
          <a:prstGeom prst="rect">
            <a:avLst/>
          </a:prstGeom>
        </p:spPr>
      </p:pic>
      <p:sp>
        <p:nvSpPr>
          <p:cNvPr name="AutoShape 24" id="24"/>
          <p:cNvSpPr/>
          <p:nvPr/>
        </p:nvSpPr>
        <p:spPr>
          <a:xfrm rot="0" flipH="false" flipV="false">
            <a:off x="7302500" y="2286000"/>
            <a:ext cx="381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01. 数据供给层 (Data Source)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7302500" y="26162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需求文档 · API手册 · 代码仓库 · 历史工单库</a:t>
            </a:r>
            <a:endParaRPr lang="en-US" sz="1100"/>
          </a:p>
        </p:txBody>
      </p:sp>
      <p:cxnSp>
        <p:nvCxnSpPr>
          <p:cNvPr name="Connector 26" id="26"/>
          <p:cNvCxnSpPr/>
          <p:nvPr/>
        </p:nvCxnSpPr>
        <p:spPr>
          <a:xfrm rot="5228255" flipH="false" flipV="false">
            <a:off x="8763000" y="3041809"/>
            <a:ext cx="25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22D3EE">
                <a:alpha val="50000"/>
              </a:srgbClr>
            </a:solidFill>
            <a:prstDash val="solid"/>
            <a:round/>
            <a:headEnd type="none" w="lg" len="lg"/>
            <a:tailEnd type="arrow" w="sm" len="sm"/>
          </a:ln>
        </p:spPr>
      </p:cxnSp>
      <p:sp>
        <p:nvSpPr>
          <p:cNvPr name="AutoShape 27" id="27"/>
          <p:cNvSpPr/>
          <p:nvPr/>
        </p:nvSpPr>
        <p:spPr>
          <a:xfrm rot="0" flipH="false" flipV="false">
            <a:off x="6604000" y="3175000"/>
            <a:ext cx="4572000" cy="1016000"/>
          </a:xfrm>
          <a:prstGeom prst="roundRect">
            <a:avLst>
              <a:gd name="adj" fmla="val 10000"/>
            </a:avLst>
          </a:prstGeom>
          <a:gradFill rotWithShape="true">
            <a:gsLst>
              <a:gs pos="0">
                <a:srgbClr val="3B82F6">
                  <a:alpha val="15000"/>
                </a:srgbClr>
              </a:gs>
              <a:gs pos="100000">
                <a:srgbClr val="3B82F6">
                  <a:alpha val="5000"/>
                </a:srgbClr>
              </a:gs>
            </a:gsLst>
            <a:lin ang="0"/>
          </a:gradFill>
          <a:ln w="12700" cmpd="sng" cap="flat">
            <a:solidFill>
              <a:srgbClr val="3B82F6">
                <a:alpha val="4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8" id="28"/>
          <p:cNvPicPr>
            <a:picLocks noChangeAspect="true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0" flipH="false" flipV="false">
            <a:off x="6794500" y="3505200"/>
            <a:ext cx="355600" cy="355600"/>
          </a:xfrm>
          <a:prstGeom prst="rect">
            <a:avLst/>
          </a:prstGeom>
        </p:spPr>
      </p:pic>
      <p:sp>
        <p:nvSpPr>
          <p:cNvPr name="AutoShape 29" id="29"/>
          <p:cNvSpPr/>
          <p:nvPr/>
        </p:nvSpPr>
        <p:spPr>
          <a:xfrm rot="0" flipH="false" flipV="false">
            <a:off x="7302500" y="3327400"/>
            <a:ext cx="381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02. 知识中枢 (Processing &amp; Storage)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7302500" y="3683000"/>
            <a:ext cx="1841500" cy="457200"/>
          </a:xfrm>
          <a:prstGeom prst="roundRect">
            <a:avLst>
              <a:gd name="adj" fmla="val 11111"/>
            </a:avLst>
          </a:prstGeom>
          <a:solidFill>
            <a:srgbClr val="1E293B">
              <a:alpha val="80000"/>
            </a:srgbClr>
          </a:solidFill>
          <a:ln w="12700" cmpd="sng" cap="flat">
            <a:solidFill>
              <a:srgbClr val="60A5FA">
                <a:alpha val="3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BFDBFE"/>
                </a:solidFill>
                <a:latin typeface="Noto Sans SC"/>
                <a:ea typeface="Noto Sans SC"/>
                <a:cs typeface="Noto Sans SC"/>
                <a:sym typeface="Noto Sans SC"/>
              </a:rPr>
              <a:t>AST代码解析 &amp; 向量化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9334500" y="3683000"/>
            <a:ext cx="1841500" cy="457200"/>
          </a:xfrm>
          <a:prstGeom prst="roundRect">
            <a:avLst>
              <a:gd name="adj" fmla="val 11111"/>
            </a:avLst>
          </a:prstGeom>
          <a:solidFill>
            <a:srgbClr val="1E293B">
              <a:alpha val="80000"/>
            </a:srgbClr>
          </a:solidFill>
          <a:ln w="12700" cmpd="sng" cap="flat">
            <a:solidFill>
              <a:srgbClr val="60A5FA">
                <a:alpha val="3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BFDBFE"/>
                </a:solidFill>
                <a:latin typeface="Noto Sans SC"/>
                <a:ea typeface="Noto Sans SC"/>
                <a:cs typeface="Noto Sans SC"/>
                <a:sym typeface="Noto Sans SC"/>
              </a:rPr>
              <a:t>向量数据库 &amp; 知识图谱</a:t>
            </a:r>
            <a:endParaRPr lang="en-US" sz="1100"/>
          </a:p>
        </p:txBody>
      </p:sp>
      <p:cxnSp>
        <p:nvCxnSpPr>
          <p:cNvPr name="Connector 32" id="32"/>
          <p:cNvCxnSpPr/>
          <p:nvPr/>
        </p:nvCxnSpPr>
        <p:spPr>
          <a:xfrm rot="5228255" flipH="false" flipV="false">
            <a:off x="8763000" y="4311809"/>
            <a:ext cx="254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25400" cmpd="sng" cap="flat">
            <a:solidFill>
              <a:srgbClr val="22D3EE">
                <a:alpha val="50000"/>
              </a:srgbClr>
            </a:solidFill>
            <a:prstDash val="solid"/>
            <a:round/>
            <a:headEnd type="none" w="lg" len="lg"/>
            <a:tailEnd type="arrow" w="sm" len="sm"/>
          </a:ln>
        </p:spPr>
      </p:cxnSp>
      <p:sp>
        <p:nvSpPr>
          <p:cNvPr name="AutoShape 33" id="33"/>
          <p:cNvSpPr/>
          <p:nvPr/>
        </p:nvSpPr>
        <p:spPr>
          <a:xfrm rot="0" flipH="false" flipV="false">
            <a:off x="6604000" y="4445000"/>
            <a:ext cx="4572000" cy="762000"/>
          </a:xfrm>
          <a:prstGeom prst="roundRect">
            <a:avLst>
              <a:gd name="adj" fmla="val 13333"/>
            </a:avLst>
          </a:prstGeom>
          <a:gradFill rotWithShape="true">
            <a:gsLst>
              <a:gs pos="0">
                <a:srgbClr val="10B981">
                  <a:alpha val="15000"/>
                </a:srgbClr>
              </a:gs>
              <a:gs pos="100000">
                <a:srgbClr val="10B981">
                  <a:alpha val="5000"/>
                </a:srgbClr>
              </a:gs>
            </a:gsLst>
            <a:lin ang="0"/>
          </a:gradFill>
          <a:ln w="12700" cmpd="sng" cap="flat">
            <a:solidFill>
              <a:srgbClr val="10B981">
                <a:alpha val="4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34" id="34"/>
          <p:cNvPicPr>
            <a:picLocks noChangeAspect="true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rot="0" flipH="false" flipV="false">
            <a:off x="6794500" y="4648200"/>
            <a:ext cx="355600" cy="355600"/>
          </a:xfrm>
          <a:prstGeom prst="rect">
            <a:avLst/>
          </a:prstGeom>
        </p:spPr>
      </p:pic>
      <p:sp>
        <p:nvSpPr>
          <p:cNvPr name="AutoShape 35" id="35"/>
          <p:cNvSpPr/>
          <p:nvPr/>
        </p:nvSpPr>
        <p:spPr>
          <a:xfrm rot="0" flipH="false" flipV="false">
            <a:off x="7302500" y="4572000"/>
            <a:ext cx="381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03. AI Coding 智能终端 (Application)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7302500" y="49022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000">
                <a:solidFill>
                  <a:srgbClr val="A7F3D0"/>
                </a:solidFill>
                <a:latin typeface="Noto Sans SC"/>
                <a:ea typeface="Noto Sans SC"/>
                <a:cs typeface="Noto Sans SC"/>
                <a:sym typeface="Noto Sans SC"/>
              </a:rPr>
              <a:t>IDE深度插件 · 混合检索引擎 · 上下文动态组装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6604000" y="5588000"/>
            <a:ext cx="4572000" cy="508000"/>
          </a:xfrm>
          <a:prstGeom prst="roundRect">
            <a:avLst>
              <a:gd name="adj" fmla="val 20000"/>
            </a:avLst>
          </a:prstGeom>
          <a:solidFill>
            <a:srgbClr val="F59E0B">
              <a:alpha val="10000"/>
            </a:srgbClr>
          </a:solidFill>
          <a:ln w="12700" cmpd="sng" cap="flat">
            <a:solidFill>
              <a:srgbClr val="F59E0B">
                <a:alpha val="30000"/>
              </a:srgbClr>
            </a:solidFill>
            <a:prstDash val="dash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38" id="38"/>
          <p:cNvPicPr>
            <a:picLocks noChangeAspect="true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rot="0" flipH="false" flipV="false">
            <a:off x="6794500" y="5727700"/>
            <a:ext cx="228600" cy="228600"/>
          </a:xfrm>
          <a:prstGeom prst="rect">
            <a:avLst/>
          </a:prstGeom>
        </p:spPr>
      </p:pic>
      <p:sp>
        <p:nvSpPr>
          <p:cNvPr name="AutoShape 39" id="39"/>
          <p:cNvSpPr/>
          <p:nvPr/>
        </p:nvSpPr>
        <p:spPr>
          <a:xfrm rot="0" flipH="false" flipV="false">
            <a:off x="7112000" y="5689600"/>
            <a:ext cx="3937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BBF24"/>
                </a:solidFill>
                <a:latin typeface="Noto Sans SC"/>
                <a:ea typeface="Noto Sans SC"/>
                <a:cs typeface="Noto Sans SC"/>
                <a:sym typeface="Noto Sans SC"/>
              </a:rPr>
              <a:t>运营反馈闭环：会话数据采集 → 人工审核 → 反哺知识迭代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8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1066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知识分类与结构化定义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270000"/>
            <a:ext cx="1066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将企业的隐性知识显性化、结构化，使其能被AI理解和利用。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62000" y="1905000"/>
            <a:ext cx="5207000" cy="2159000"/>
          </a:xfrm>
          <a:prstGeom prst="roundRect">
            <a:avLst>
              <a:gd name="adj" fmla="val 4705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16000" y="2159000"/>
            <a:ext cx="304800" cy="304800"/>
          </a:xfrm>
          <a:prstGeom prst="rect">
            <a:avLst/>
          </a:prstGeom>
        </p:spPr>
      </p:pic>
      <p:sp>
        <p:nvSpPr>
          <p:cNvPr name="AutoShape 7" id="7"/>
          <p:cNvSpPr/>
          <p:nvPr/>
        </p:nvSpPr>
        <p:spPr>
          <a:xfrm rot="0" flipH="false" flipV="false">
            <a:off x="1447800" y="2133600"/>
            <a:ext cx="4318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术语/业务词汇库</a:t>
            </a:r>
            <a:endParaRPr lang="en-US" sz="1100"/>
          </a:p>
        </p:txBody>
      </p:sp>
      <p:cxnSp>
        <p:nvCxnSpPr>
          <p:cNvPr name="Connector 8" id="8"/>
          <p:cNvCxnSpPr/>
          <p:nvPr/>
        </p:nvCxnSpPr>
        <p:spPr>
          <a:xfrm rot="-9291" flipH="false" flipV="false">
            <a:off x="1016009" y="2597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9" id="9"/>
          <p:cNvSpPr/>
          <p:nvPr/>
        </p:nvSpPr>
        <p:spPr>
          <a:xfrm rot="0" flipH="false" flipV="false">
            <a:off x="1016000" y="2730500"/>
            <a:ext cx="46990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内容构成：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术语名、定义、适用场景、同义词、关联术语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结构化示例：</a:t>
            </a:r>
            <a:r>
              <a:rPr lang="en-US" b="false" i="false" strike="noStrike" u="none" sz="1200">
                <a:solidFill>
                  <a:srgbClr val="22D3EE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{term, definition, context, synonyms, related}</a:t>
            </a:r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6223000" y="1905000"/>
            <a:ext cx="5207000" cy="2159000"/>
          </a:xfrm>
          <a:prstGeom prst="roundRect">
            <a:avLst>
              <a:gd name="adj" fmla="val 4705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1" id="11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6477000" y="2159000"/>
            <a:ext cx="304800" cy="304800"/>
          </a:xfrm>
          <a:prstGeom prst="rect">
            <a:avLst/>
          </a:prstGeom>
        </p:spPr>
      </p:pic>
      <p:sp>
        <p:nvSpPr>
          <p:cNvPr name="AutoShape 12" id="12"/>
          <p:cNvSpPr/>
          <p:nvPr/>
        </p:nvSpPr>
        <p:spPr>
          <a:xfrm rot="0" flipH="false" flipV="false">
            <a:off x="6908800" y="2133600"/>
            <a:ext cx="4318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SDK/API文档库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rot="-9291" flipH="false" flipV="false">
            <a:off x="6477009" y="2597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4" id="14"/>
          <p:cNvSpPr/>
          <p:nvPr/>
        </p:nvSpPr>
        <p:spPr>
          <a:xfrm rot="0" flipH="false" flipV="false">
            <a:off x="6477000" y="2730500"/>
            <a:ext cx="46990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内容构成：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接口签名、参数说明、返回值、示例代码、版本变更记录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结构化示例：</a:t>
            </a:r>
            <a:r>
              <a:rPr lang="en-US" b="false" i="false" strike="noStrike" u="none" sz="1200">
                <a:solidFill>
                  <a:srgbClr val="22D3EE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{api, method, params[], returns, example, changelog}</a:t>
            </a:r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762000" y="4318000"/>
            <a:ext cx="5207000" cy="2159000"/>
          </a:xfrm>
          <a:prstGeom prst="roundRect">
            <a:avLst>
              <a:gd name="adj" fmla="val 4705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6" id="16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1016000" y="4572000"/>
            <a:ext cx="304800" cy="304800"/>
          </a:xfrm>
          <a:prstGeom prst="rect">
            <a:avLst/>
          </a:prstGeom>
        </p:spPr>
      </p:pic>
      <p:sp>
        <p:nvSpPr>
          <p:cNvPr name="AutoShape 17" id="17"/>
          <p:cNvSpPr/>
          <p:nvPr/>
        </p:nvSpPr>
        <p:spPr>
          <a:xfrm rot="0" flipH="false" flipV="false">
            <a:off x="1447800" y="4546600"/>
            <a:ext cx="4318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代码规范与最佳实践</a:t>
            </a:r>
            <a:endParaRPr lang="en-US" sz="1100"/>
          </a:p>
        </p:txBody>
      </p:sp>
      <p:cxnSp>
        <p:nvCxnSpPr>
          <p:cNvPr name="Connector 18" id="18"/>
          <p:cNvCxnSpPr/>
          <p:nvPr/>
        </p:nvCxnSpPr>
        <p:spPr>
          <a:xfrm rot="-9291" flipH="false" flipV="false">
            <a:off x="1016009" y="5010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9" id="19"/>
          <p:cNvSpPr/>
          <p:nvPr/>
        </p:nvSpPr>
        <p:spPr>
          <a:xfrm rot="0" flipH="false" flipV="false">
            <a:off x="1016000" y="5143500"/>
            <a:ext cx="46990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内容构成：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命名规则、异常处理模式、性能优化手段、缺陷修复模板、Spec契约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结构化格式：</a:t>
            </a:r>
            <a:r>
              <a:rPr lang="en-US" b="false" i="false" strike="noStrike" u="none" sz="1200">
                <a:solidFill>
                  <a:srgbClr val="22D3EE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契约文件（JSON/YAML）、Markdown模板</a:t>
            </a:r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6223000" y="4318000"/>
            <a:ext cx="5207000" cy="2159000"/>
          </a:xfrm>
          <a:prstGeom prst="roundRect">
            <a:avLst>
              <a:gd name="adj" fmla="val 4705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1" id="21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 flipH="false" flipV="false">
            <a:off x="6477000" y="4572000"/>
            <a:ext cx="304800" cy="304800"/>
          </a:xfrm>
          <a:prstGeom prst="rect">
            <a:avLst/>
          </a:prstGeom>
        </p:spPr>
      </p:pic>
      <p:sp>
        <p:nvSpPr>
          <p:cNvPr name="AutoShape 22" id="22"/>
          <p:cNvSpPr/>
          <p:nvPr/>
        </p:nvSpPr>
        <p:spPr>
          <a:xfrm rot="0" flipH="false" flipV="false">
            <a:off x="6908800" y="4546600"/>
            <a:ext cx="4318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历史上下文库</a:t>
            </a:r>
            <a:endParaRPr lang="en-US" sz="1100"/>
          </a:p>
        </p:txBody>
      </p:sp>
      <p:cxnSp>
        <p:nvCxnSpPr>
          <p:cNvPr name="Connector 23" id="23"/>
          <p:cNvCxnSpPr/>
          <p:nvPr/>
        </p:nvCxnSpPr>
        <p:spPr>
          <a:xfrm rot="-9291" flipH="false" flipV="false">
            <a:off x="6477009" y="5010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4" id="24"/>
          <p:cNvSpPr/>
          <p:nvPr/>
        </p:nvSpPr>
        <p:spPr>
          <a:xfrm rot="0" flipH="false" flipV="false">
            <a:off x="6477000" y="5143500"/>
            <a:ext cx="4699000" cy="127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内容构成：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缺陷记录（现象/根因/方案）、架构评审纪要、技术决策文档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tru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结构化格式：</a:t>
            </a:r>
            <a:r>
              <a:rPr lang="en-US" b="false" i="false" strike="noStrike" u="none" sz="1200">
                <a:solidFill>
                  <a:srgbClr val="22D3EE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结构化标签 + 长文本摘要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8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数据预处理流程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206500"/>
            <a:ext cx="1066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D1D5DB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将原始、异构的数据源转化为AI可检索的知识单元。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62000" y="1905000"/>
            <a:ext cx="3302000" cy="4318000"/>
          </a:xfrm>
          <a:prstGeom prst="roundRect">
            <a:avLst>
              <a:gd name="adj" fmla="val 4615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66800" y="2209800"/>
            <a:ext cx="406400" cy="406400"/>
          </a:xfrm>
          <a:prstGeom prst="rect">
            <a:avLst/>
          </a:prstGeom>
        </p:spPr>
      </p:pic>
      <p:sp>
        <p:nvSpPr>
          <p:cNvPr name="AutoShape 7" id="7"/>
          <p:cNvSpPr/>
          <p:nvPr/>
        </p:nvSpPr>
        <p:spPr>
          <a:xfrm rot="0" flipH="false" flipV="false">
            <a:off x="1066800" y="2717800"/>
            <a:ext cx="2692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文档分块与向量化</a:t>
            </a:r>
            <a:endParaRPr lang="en-US" sz="1100"/>
          </a:p>
        </p:txBody>
      </p:sp>
      <p:cxnSp>
        <p:nvCxnSpPr>
          <p:cNvPr name="Connector 8" id="8"/>
          <p:cNvCxnSpPr/>
          <p:nvPr/>
        </p:nvCxnSpPr>
        <p:spPr>
          <a:xfrm rot="-16215" flipH="false" flipV="false">
            <a:off x="1066815" y="3168650"/>
            <a:ext cx="269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9" id="9"/>
          <p:cNvSpPr/>
          <p:nvPr/>
        </p:nvSpPr>
        <p:spPr>
          <a:xfrm rot="0" flipH="false" flipV="false">
            <a:off x="1066800" y="3365500"/>
            <a:ext cx="2692400" cy="228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2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方法: 采用语义边界识别 + 重叠窗口策略，单块控制在</a:t>
            </a:r>
            <a:r>
              <a:rPr lang="en-US" b="true" i="false" strike="noStrike" u="none" sz="1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3K~5K token</a:t>
            </a:r>
            <a:r>
              <a:rPr lang="en-US" b="false" i="false" strike="noStrike" u="none" sz="12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r>
              <a:rPr lang="en-US" b="false" i="false" strike="noStrike" u="none" sz="12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false" i="false" strike="noStrike" u="none" sz="12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技术: 使用Embedding模型（如bge-large-zh）生成稠密向量。</a:t>
            </a:r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066800" y="5511800"/>
            <a:ext cx="2692400" cy="406400"/>
          </a:xfrm>
          <a:prstGeom prst="roundRect">
            <a:avLst>
              <a:gd name="adj" fmla="val 12500"/>
            </a:avLst>
          </a:prstGeom>
          <a:solidFill>
            <a:srgbClr val="F59E0B">
              <a:alpha val="15000"/>
            </a:srgbClr>
          </a:solidFill>
          <a:ln w="12700" cmpd="sng" cap="flat">
            <a:solidFill>
              <a:srgbClr val="F59E0B">
                <a:alpha val="4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143000" y="5562600"/>
            <a:ext cx="254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BBF24"/>
                </a:solidFill>
                <a:latin typeface="Noto Sans SC"/>
                <a:ea typeface="Noto Sans SC"/>
                <a:cs typeface="Noto Sans SC"/>
                <a:sym typeface="Noto Sans SC"/>
              </a:rPr>
              <a:t>状态: 待验证 🔍 (仅SDK源码测试通过)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4445000" y="1905000"/>
            <a:ext cx="3302000" cy="4318000"/>
          </a:xfrm>
          <a:prstGeom prst="roundRect">
            <a:avLst>
              <a:gd name="adj" fmla="val 4615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4749800" y="2209800"/>
            <a:ext cx="406400" cy="406400"/>
          </a:xfrm>
          <a:prstGeom prst="rect">
            <a:avLst/>
          </a:prstGeom>
        </p:spPr>
      </p:pic>
      <p:sp>
        <p:nvSpPr>
          <p:cNvPr name="AutoShape 14" id="14"/>
          <p:cNvSpPr/>
          <p:nvPr/>
        </p:nvSpPr>
        <p:spPr>
          <a:xfrm rot="0" flipH="false" flipV="false">
            <a:off x="4749800" y="2717800"/>
            <a:ext cx="2692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代码知识图谱构建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rot="-16215" flipH="false" flipV="false">
            <a:off x="4749815" y="3168650"/>
            <a:ext cx="269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6" id="16"/>
          <p:cNvSpPr/>
          <p:nvPr/>
        </p:nvSpPr>
        <p:spPr>
          <a:xfrm rot="0" flipH="false" flipV="false">
            <a:off x="4749800" y="3365500"/>
            <a:ext cx="2692400" cy="228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2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方法: 通过AST解析提取函数、类、模块间的依赖关系，构建调用图、继承图。</a:t>
            </a:r>
            <a:r>
              <a:rPr lang="en-US" b="false" i="false" strike="noStrike" u="none" sz="12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false" i="false" strike="noStrike" u="none" sz="12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技术: 参考RANGER方法，支持跨文件变量级依赖分析。</a:t>
            </a:r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4749800" y="5511800"/>
            <a:ext cx="2692400" cy="406400"/>
          </a:xfrm>
          <a:prstGeom prst="roundRect">
            <a:avLst>
              <a:gd name="adj" fmla="val 12500"/>
            </a:avLst>
          </a:prstGeom>
          <a:solidFill>
            <a:srgbClr val="3B82F6">
              <a:alpha val="15000"/>
            </a:srgbClr>
          </a:solidFill>
          <a:ln w="12700" cmpd="sng" cap="flat">
            <a:solidFill>
              <a:srgbClr val="3B82F6">
                <a:alpha val="4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4826000" y="5562600"/>
            <a:ext cx="254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60A5FA"/>
                </a:solidFill>
                <a:latin typeface="Noto Sans SC"/>
                <a:ea typeface="Noto Sans SC"/>
                <a:cs typeface="Noto Sans SC"/>
                <a:sym typeface="Noto Sans SC"/>
              </a:rPr>
              <a:t>状态: Java AST已验证 ✅ 跨文件依赖待实现 ⏳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8128000" y="1905000"/>
            <a:ext cx="3302000" cy="4318000"/>
          </a:xfrm>
          <a:prstGeom prst="roundRect">
            <a:avLst>
              <a:gd name="adj" fmla="val 4615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0" id="20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8432800" y="2209800"/>
            <a:ext cx="406400" cy="406400"/>
          </a:xfrm>
          <a:prstGeom prst="rect">
            <a:avLst/>
          </a:prstGeom>
        </p:spPr>
      </p:pic>
      <p:sp>
        <p:nvSpPr>
          <p:cNvPr name="AutoShape 21" id="21"/>
          <p:cNvSpPr/>
          <p:nvPr/>
        </p:nvSpPr>
        <p:spPr>
          <a:xfrm rot="0" flipH="false" flipV="false">
            <a:off x="8432800" y="2717800"/>
            <a:ext cx="26924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混合索引建设</a:t>
            </a:r>
            <a:endParaRPr lang="en-US" sz="1100"/>
          </a:p>
        </p:txBody>
      </p:sp>
      <p:cxnSp>
        <p:nvCxnSpPr>
          <p:cNvPr name="Connector 22" id="22"/>
          <p:cNvCxnSpPr/>
          <p:nvPr/>
        </p:nvCxnSpPr>
        <p:spPr>
          <a:xfrm rot="-16215" flipH="false" flipV="false">
            <a:off x="8432815" y="3168650"/>
            <a:ext cx="269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3" id="23"/>
          <p:cNvSpPr/>
          <p:nvPr/>
        </p:nvSpPr>
        <p:spPr>
          <a:xfrm rot="0" flipH="false" flipV="false">
            <a:off x="8432800" y="3365500"/>
            <a:ext cx="2692400" cy="228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2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轻量模式: FAISS (向量) + SQLite FTS5 (全文) + NetworkX (图)。</a:t>
            </a:r>
            <a:r>
              <a:rPr lang="en-US" b="false" i="false" strike="noStrike" u="none" sz="12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16666"/>
              </a:lnSpc>
            </a:pPr>
            <a:r>
              <a:rPr lang="en-US" b="false" i="false" strike="noStrike" u="none" sz="12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• 生产模式: Milvus + Elasticsearch + Neo4j。</a:t>
            </a:r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432800" y="5511800"/>
            <a:ext cx="2692400" cy="406400"/>
          </a:xfrm>
          <a:prstGeom prst="roundRect">
            <a:avLst>
              <a:gd name="adj" fmla="val 12500"/>
            </a:avLst>
          </a:prstGeom>
          <a:solidFill>
            <a:srgbClr val="10B981">
              <a:alpha val="15000"/>
            </a:srgbClr>
          </a:solidFill>
          <a:ln w="12700" cmpd="sng" cap="flat">
            <a:solidFill>
              <a:srgbClr val="10B981">
                <a:alpha val="4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8509000" y="5562600"/>
            <a:ext cx="254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34D399"/>
                </a:solidFill>
                <a:latin typeface="Noto Sans SC"/>
                <a:ea typeface="Noto Sans SC"/>
                <a:cs typeface="Noto Sans SC"/>
                <a:sym typeface="Noto Sans SC"/>
              </a:rPr>
              <a:t>状态: 轻量模式已验证 ✅ 生产模式待实现 ⏳</a:t>
            </a:r>
            <a:endParaRPr lang="en-US" sz="11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8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1066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混合检索策略：保障召回率与精准度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219200"/>
            <a:ext cx="1066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融合多种检索技术，优势互补，实现“广度”与“深度”的平衡。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62000" y="1905000"/>
            <a:ext cx="5080000" cy="1270000"/>
          </a:xfrm>
          <a:prstGeom prst="roundRect">
            <a:avLst>
              <a:gd name="adj" fmla="val 8000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16000" y="2095500"/>
            <a:ext cx="406400" cy="406400"/>
          </a:xfrm>
          <a:prstGeom prst="rect">
            <a:avLst/>
          </a:prstGeom>
        </p:spPr>
      </p:pic>
      <p:sp>
        <p:nvSpPr>
          <p:cNvPr name="AutoShape 7" id="7"/>
          <p:cNvSpPr/>
          <p:nvPr/>
        </p:nvSpPr>
        <p:spPr>
          <a:xfrm rot="0" flipH="false" flipV="false">
            <a:off x="1574800" y="2057400"/>
            <a:ext cx="406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1. BM25 稀疏检索 (广度优先)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574800" y="2438400"/>
            <a:ext cx="401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基于关键词快速过滤，构建高相关度的候选集，确保召回的全面性。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762000" y="3429000"/>
            <a:ext cx="5080000" cy="1270000"/>
          </a:xfrm>
          <a:prstGeom prst="roundRect">
            <a:avLst>
              <a:gd name="adj" fmla="val 8000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1016000" y="3619500"/>
            <a:ext cx="406400" cy="406400"/>
          </a:xfrm>
          <a:prstGeom prst="rect">
            <a:avLst/>
          </a:prstGeom>
        </p:spPr>
      </p:pic>
      <p:sp>
        <p:nvSpPr>
          <p:cNvPr name="AutoShape 11" id="11"/>
          <p:cNvSpPr/>
          <p:nvPr/>
        </p:nvSpPr>
        <p:spPr>
          <a:xfrm rot="0" flipH="false" flipV="false">
            <a:off x="1574800" y="3581400"/>
            <a:ext cx="406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2. 向量相似度检索 (语义精准)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1574800" y="3962400"/>
            <a:ext cx="401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深度语义匹配，从候选集中锁定最相关的知识片段，提升结果的准确性。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762000" y="4953000"/>
            <a:ext cx="5080000" cy="1270000"/>
          </a:xfrm>
          <a:prstGeom prst="roundRect">
            <a:avLst>
              <a:gd name="adj" fmla="val 8000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1016000" y="5143500"/>
            <a:ext cx="406400" cy="406400"/>
          </a:xfrm>
          <a:prstGeom prst="rect">
            <a:avLst/>
          </a:prstGeom>
        </p:spPr>
      </p:pic>
      <p:sp>
        <p:nvSpPr>
          <p:cNvPr name="AutoShape 15" id="15"/>
          <p:cNvSpPr/>
          <p:nvPr/>
        </p:nvSpPr>
        <p:spPr>
          <a:xfrm rot="0" flipH="false" flipV="false">
            <a:off x="1574800" y="5105400"/>
            <a:ext cx="4064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3. 图遍历检索 (推理深度)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574800" y="5486400"/>
            <a:ext cx="4013200" cy="558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挖掘知识图谱中的实体关联，发现间接隐藏关系，提供可解释的推理深度。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6350000" y="1905000"/>
            <a:ext cx="5080000" cy="4318000"/>
          </a:xfrm>
          <a:prstGeom prst="roundRect">
            <a:avLst>
              <a:gd name="adj" fmla="val 3529"/>
            </a:avLst>
          </a:prstGeom>
          <a:solidFill>
            <a:srgbClr val="0F172A">
              <a:alpha val="40000"/>
            </a:srgbClr>
          </a:solidFill>
          <a:ln w="12700" cmpd="sng" cap="flat">
            <a:solidFill>
              <a:srgbClr val="22D3EE">
                <a:alpha val="15000"/>
              </a:srgbClr>
            </a:solidFill>
            <a:prstDash val="dash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6858000" y="2159000"/>
            <a:ext cx="4064000" cy="762000"/>
          </a:xfrm>
          <a:prstGeom prst="roundRect">
            <a:avLst>
              <a:gd name="adj" fmla="val 16666"/>
            </a:avLst>
          </a:prstGeom>
          <a:gradFill rotWithShape="true">
            <a:gsLst>
              <a:gs pos="0">
                <a:srgbClr val="22D3EE">
                  <a:alpha val="15000"/>
                </a:srgbClr>
              </a:gs>
              <a:gs pos="100000">
                <a:srgbClr val="22D3EE">
                  <a:alpha val="5000"/>
                </a:srgbClr>
              </a:gs>
            </a:gsLst>
            <a:lin ang="0"/>
          </a:gradFill>
          <a:ln w="12700" cmpd="sng" cap="flat">
            <a:solidFill>
              <a:srgbClr val="22D3EE">
                <a:alpha val="4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初筛：全量候选集召回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ctr" marL="0" indent="0">
              <a:lnSpc>
                <a:spcPct val="125000"/>
              </a:lnSpc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BM25 + 关键词匹配</a:t>
            </a:r>
          </a:p>
        </p:txBody>
      </p:sp>
      <p:pic>
        <p:nvPicPr>
          <p:cNvPr name="Picture 19" id="19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 flipH="false" flipV="false">
            <a:off x="8763000" y="2984500"/>
            <a:ext cx="254000" cy="254000"/>
          </a:xfrm>
          <a:prstGeom prst="rect">
            <a:avLst/>
          </a:prstGeom>
        </p:spPr>
      </p:pic>
      <p:sp>
        <p:nvSpPr>
          <p:cNvPr name="AutoShape 20" id="20"/>
          <p:cNvSpPr/>
          <p:nvPr/>
        </p:nvSpPr>
        <p:spPr>
          <a:xfrm rot="0" flipH="false" flipV="false">
            <a:off x="7239000" y="3302000"/>
            <a:ext cx="3302000" cy="762000"/>
          </a:xfrm>
          <a:prstGeom prst="roundRect">
            <a:avLst>
              <a:gd name="adj" fmla="val 16666"/>
            </a:avLst>
          </a:prstGeom>
          <a:gradFill rotWithShape="true">
            <a:gsLst>
              <a:gs pos="0">
                <a:srgbClr val="22D3EE">
                  <a:alpha val="25000"/>
                </a:srgbClr>
              </a:gs>
              <a:gs pos="100000">
                <a:srgbClr val="22D3EE">
                  <a:alpha val="10000"/>
                </a:srgbClr>
              </a:gs>
            </a:gsLst>
            <a:lin ang="0"/>
          </a:gradFill>
          <a:ln w="12700" cmpd="sng" cap="flat">
            <a:solidFill>
              <a:srgbClr val="22D3EE">
                <a:alpha val="6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精筛：语义相关性排序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ctr" marL="0" indent="0">
              <a:lnSpc>
                <a:spcPct val="125000"/>
              </a:lnSpc>
            </a:pPr>
            <a:r>
              <a:rPr lang="en-US" b="false" i="false" strike="noStrike" u="none" sz="10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向量嵌入相似度计算</a:t>
            </a:r>
          </a:p>
        </p:txBody>
      </p:sp>
      <p:pic>
        <p:nvPicPr>
          <p:cNvPr name="Picture 21" id="21"/>
          <p:cNvPicPr>
            <a:picLocks noChangeAspect="true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0" flipH="false" flipV="false">
            <a:off x="8763000" y="4127500"/>
            <a:ext cx="254000" cy="254000"/>
          </a:xfrm>
          <a:prstGeom prst="rect">
            <a:avLst/>
          </a:prstGeom>
        </p:spPr>
      </p:pic>
      <p:sp>
        <p:nvSpPr>
          <p:cNvPr name="AutoShape 22" id="22"/>
          <p:cNvSpPr/>
          <p:nvPr/>
        </p:nvSpPr>
        <p:spPr>
          <a:xfrm rot="0" flipH="false" flipV="false">
            <a:off x="7620000" y="4445000"/>
            <a:ext cx="2540000" cy="762000"/>
          </a:xfrm>
          <a:prstGeom prst="roundRect">
            <a:avLst>
              <a:gd name="adj" fmla="val 16666"/>
            </a:avLst>
          </a:prstGeom>
          <a:gradFill rotWithShape="true">
            <a:gsLst>
              <a:gs pos="0">
                <a:srgbClr val="22D3EE">
                  <a:alpha val="40000"/>
                </a:srgbClr>
              </a:gs>
              <a:gs pos="100000">
                <a:srgbClr val="06B6D4">
                  <a:alpha val="20000"/>
                </a:srgbClr>
              </a:gs>
            </a:gsLst>
            <a:lin ang="2700000"/>
          </a:gradFill>
          <a:ln w="12700" cmpd="sng" cap="flat">
            <a:solidFill>
              <a:srgbClr val="22D3EE">
                <a:alpha val="100000"/>
              </a:srgbClr>
            </a:solidFill>
            <a:prstDash val="solid"/>
            <a:round/>
          </a:ln>
          <a:effectLst>
            <a:outerShdw dir="2700000" dist="0" blurRad="190500" algn="tl" rotWithShape="false">
              <a:srgbClr val="22D3EE">
                <a:alpha val="40000"/>
              </a:srgbClr>
            </a:outerShdw>
          </a:effectLst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终选：深度推理与关联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ctr" marL="0" indent="0">
              <a:lnSpc>
                <a:spcPct val="125000"/>
              </a:lnSpc>
            </a:pPr>
            <a:r>
              <a:rPr lang="en-US" b="false" i="false" strike="noStrike" u="none" sz="1000">
                <a:solidFill>
                  <a:srgbClr val="E0F2FE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知识图谱路径分析</a:t>
            </a:r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6604000" y="5461000"/>
            <a:ext cx="4572000" cy="635000"/>
          </a:xfrm>
          <a:prstGeom prst="roundRect">
            <a:avLst>
              <a:gd name="adj" fmla="val 16000"/>
            </a:avLst>
          </a:prstGeom>
          <a:solidFill>
            <a:srgbClr val="111827">
              <a:alpha val="80000"/>
            </a:srgbClr>
          </a:solidFill>
          <a:ln w="12700" cmpd="sng" cap="flat">
            <a:solidFill>
              <a:srgbClr val="F59E0B">
                <a:alpha val="60000"/>
              </a:srgbClr>
            </a:solidFill>
            <a:prstDash val="dash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4" id="24"/>
          <p:cNvPicPr>
            <a:picLocks noChangeAspect="true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 rot="0" flipH="false" flipV="false">
            <a:off x="6794500" y="5626100"/>
            <a:ext cx="304800" cy="304800"/>
          </a:xfrm>
          <a:prstGeom prst="rect">
            <a:avLst/>
          </a:prstGeom>
        </p:spPr>
      </p:pic>
      <p:sp>
        <p:nvSpPr>
          <p:cNvPr name="AutoShape 25" id="25"/>
          <p:cNvSpPr/>
          <p:nvPr/>
        </p:nvSpPr>
        <p:spPr>
          <a:xfrm rot="0" flipH="false" flipV="false">
            <a:off x="7175500" y="5524500"/>
            <a:ext cx="3937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进阶优化：Cross-BERT 重排序 (待实现)</a:t>
            </a:r>
            <a:r>
              <a:rPr lang="en-US" b="false" i="false" strike="noStrike" u="none" sz="1200">
                <a:solidFill>
                  <a:srgbClr val="F59E0B"/>
                </a:solidFill>
                <a:latin typeface="Noto Sans SC"/>
                <a:ea typeface="Noto Sans SC"/>
                <a:cs typeface="Noto Sans SC"/>
                <a:sym typeface="Noto Sans SC"/>
              </a:rPr>
              <a:t>目标召回率 &gt; 92%</a:t>
            </a:r>
            <a:endParaRPr lang="en-US" sz="11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8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10668000" cy="5715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三大触发机制：让知识主动找人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270000"/>
            <a:ext cx="1066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6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改变被动查询模式，实现知识的智能、主动推送。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62000" y="2032000"/>
            <a:ext cx="3378200" cy="4318000"/>
          </a:xfrm>
          <a:prstGeom prst="roundRect">
            <a:avLst>
              <a:gd name="adj" fmla="val 4511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66800" y="2336800"/>
            <a:ext cx="457200" cy="457200"/>
          </a:xfrm>
          <a:prstGeom prst="rect">
            <a:avLst/>
          </a:prstGeom>
        </p:spPr>
      </p:pic>
      <p:sp>
        <p:nvSpPr>
          <p:cNvPr name="AutoShape 7" id="7"/>
          <p:cNvSpPr/>
          <p:nvPr/>
        </p:nvSpPr>
        <p:spPr>
          <a:xfrm rot="0" flipH="false" flipV="false">
            <a:off x="1066800" y="2921000"/>
            <a:ext cx="2768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对话上下文自动触发</a:t>
            </a:r>
            <a:endParaRPr lang="en-US" sz="1100"/>
          </a:p>
        </p:txBody>
      </p:sp>
      <p:cxnSp>
        <p:nvCxnSpPr>
          <p:cNvPr name="Connector 8" id="8"/>
          <p:cNvCxnSpPr/>
          <p:nvPr/>
        </p:nvCxnSpPr>
        <p:spPr>
          <a:xfrm rot="-15769" flipH="false" flipV="false">
            <a:off x="1066815" y="3422650"/>
            <a:ext cx="276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9" id="9"/>
          <p:cNvSpPr/>
          <p:nvPr/>
        </p:nvSpPr>
        <p:spPr>
          <a:xfrm rot="0" flipH="false" flipV="false">
            <a:off x="1066800" y="3619500"/>
            <a:ext cx="2768600" cy="254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触发方式：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识别用户输入中的业务术语、API名、方法名。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08333"/>
              </a:lnSpc>
            </a:pP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tru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实现要点：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关键词匹配 + 语义向量相似度 + IDE当前文件上下文感知。</a:t>
            </a:r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4406900" y="2032000"/>
            <a:ext cx="3378200" cy="4318000"/>
          </a:xfrm>
          <a:prstGeom prst="roundRect">
            <a:avLst>
              <a:gd name="adj" fmla="val 4511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1" id="11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4711700" y="2336800"/>
            <a:ext cx="457200" cy="457200"/>
          </a:xfrm>
          <a:prstGeom prst="rect">
            <a:avLst/>
          </a:prstGeom>
        </p:spPr>
      </p:pic>
      <p:sp>
        <p:nvSpPr>
          <p:cNvPr name="AutoShape 12" id="12"/>
          <p:cNvSpPr/>
          <p:nvPr/>
        </p:nvSpPr>
        <p:spPr>
          <a:xfrm rot="0" flipH="false" flipV="false">
            <a:off x="4711700" y="2921000"/>
            <a:ext cx="2768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知识图谱关联触发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rot="-15769" flipH="false" flipV="false">
            <a:off x="4711715" y="3422650"/>
            <a:ext cx="276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4" id="14"/>
          <p:cNvSpPr/>
          <p:nvPr/>
        </p:nvSpPr>
        <p:spPr>
          <a:xfrm rot="0" flipH="false" flipV="false">
            <a:off x="4711700" y="3619500"/>
            <a:ext cx="2768600" cy="254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触发方式：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检测到某一实体后，自动加载图谱关联路径上的相关知识。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08333"/>
              </a:lnSpc>
            </a:pP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tru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实现要点：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利用图遍历查找API关联的文档、历史方案、编解码规范等。</a:t>
            </a:r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8051800" y="2032000"/>
            <a:ext cx="3378200" cy="4318000"/>
          </a:xfrm>
          <a:prstGeom prst="roundRect">
            <a:avLst>
              <a:gd name="adj" fmla="val 4511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6" id="16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8356600" y="2336800"/>
            <a:ext cx="457200" cy="457200"/>
          </a:xfrm>
          <a:prstGeom prst="rect">
            <a:avLst/>
          </a:prstGeom>
        </p:spPr>
      </p:pic>
      <p:sp>
        <p:nvSpPr>
          <p:cNvPr name="AutoShape 17" id="17"/>
          <p:cNvSpPr/>
          <p:nvPr/>
        </p:nvSpPr>
        <p:spPr>
          <a:xfrm rot="0" flipH="false" flipV="false">
            <a:off x="8356600" y="2921000"/>
            <a:ext cx="27686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项目上下文自适应触发</a:t>
            </a:r>
            <a:endParaRPr lang="en-US" sz="1100"/>
          </a:p>
        </p:txBody>
      </p:sp>
      <p:cxnSp>
        <p:nvCxnSpPr>
          <p:cNvPr name="Connector 18" id="18"/>
          <p:cNvCxnSpPr/>
          <p:nvPr/>
        </p:nvCxnSpPr>
        <p:spPr>
          <a:xfrm rot="-15769" flipH="false" flipV="false">
            <a:off x="8356615" y="3422650"/>
            <a:ext cx="276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9" id="19"/>
          <p:cNvSpPr/>
          <p:nvPr/>
        </p:nvSpPr>
        <p:spPr>
          <a:xfrm rot="0" flipH="false" flipV="false">
            <a:off x="8356600" y="3619500"/>
            <a:ext cx="2768600" cy="2540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触发方式：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通过MCP协议获取IDE当前项目信息（文件、依赖、分支）。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08333"/>
              </a:lnSpc>
            </a:pP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tru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实现要点：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主动预注入架构概览、对应模块规范等背景知识。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8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1066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MCP协议集成：打通IDE与后端知识服务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270000"/>
            <a:ext cx="10668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E5E7EB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MCP (Model Context Protocol) 让AI工具能够安全、标准化地连接企业内部服务。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62000" y="2032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1016000" y="2286000"/>
            <a:ext cx="4699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私域知识 MCP Server 核心架构</a:t>
            </a:r>
            <a:endParaRPr lang="en-US" sz="1100"/>
          </a:p>
        </p:txBody>
      </p:sp>
      <p:cxnSp>
        <p:nvCxnSpPr>
          <p:cNvPr name="Connector 7" id="7"/>
          <p:cNvCxnSpPr/>
          <p:nvPr/>
        </p:nvCxnSpPr>
        <p:spPr>
          <a:xfrm rot="-9291" flipH="false" flipV="false">
            <a:off x="10160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22D3EE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name="Picture 8" id="8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16000" y="2984500"/>
            <a:ext cx="304800" cy="304800"/>
          </a:xfrm>
          <a:prstGeom prst="rect">
            <a:avLst/>
          </a:prstGeom>
        </p:spPr>
      </p:pic>
      <p:sp>
        <p:nvSpPr>
          <p:cNvPr name="AutoShape 9" id="9"/>
          <p:cNvSpPr/>
          <p:nvPr/>
        </p:nvSpPr>
        <p:spPr>
          <a:xfrm rot="0" flipH="false" flipV="false">
            <a:off x="1460500" y="29845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标准化封装角色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1460500" y="3365500"/>
            <a:ext cx="4318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将复杂的知识检索、数据查询能力封装为一个统一的标准工具（Tool），屏蔽底层实现细节，降低AI调用门槛。</a:t>
            </a:r>
            <a:endParaRPr lang="en-US" sz="1100"/>
          </a:p>
        </p:txBody>
      </p:sp>
      <p:pic>
        <p:nvPicPr>
          <p:cNvPr name="Picture 11" id="11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1016000" y="4381500"/>
            <a:ext cx="304800" cy="304800"/>
          </a:xfrm>
          <a:prstGeom prst="rect">
            <a:avLst/>
          </a:prstGeom>
        </p:spPr>
      </p:pic>
      <p:sp>
        <p:nvSpPr>
          <p:cNvPr name="AutoShape 12" id="12"/>
          <p:cNvSpPr/>
          <p:nvPr/>
        </p:nvSpPr>
        <p:spPr>
          <a:xfrm rot="0" flipH="false" flipV="false">
            <a:off x="1460500" y="4381500"/>
            <a:ext cx="431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5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安全桥梁与统一接口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1460500" y="4762500"/>
            <a:ext cx="4318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作为IDE前端与后端知识库之间的安全中间层，对外暴露统一的检索接口，确保数据访问的可控性与安全性。</a:t>
            </a:r>
            <a:endParaRPr lang="en-US" sz="1100"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6223000" y="2032000"/>
            <a:ext cx="5207000" cy="4318000"/>
          </a:xfrm>
          <a:prstGeom prst="roundRect">
            <a:avLst>
              <a:gd name="adj" fmla="val 3529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6477000" y="2286000"/>
            <a:ext cx="4699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智能交互全流程解析</a:t>
            </a:r>
            <a:endParaRPr lang="en-US" sz="1100"/>
          </a:p>
        </p:txBody>
      </p:sp>
      <p:cxnSp>
        <p:nvCxnSpPr>
          <p:cNvPr name="Connector 16" id="16"/>
          <p:cNvCxnSpPr/>
          <p:nvPr/>
        </p:nvCxnSpPr>
        <p:spPr>
          <a:xfrm rot="-9291" flipH="false" flipV="false">
            <a:off x="64770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22D3EE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7" id="17"/>
          <p:cNvSpPr/>
          <p:nvPr/>
        </p:nvSpPr>
        <p:spPr>
          <a:xfrm rot="0" flipH="false" flipV="false">
            <a:off x="6477000" y="2984500"/>
            <a:ext cx="254000" cy="254000"/>
          </a:xfrm>
          <a:prstGeom prst="ellipse">
            <a:avLst/>
          </a:prstGeom>
          <a:solidFill>
            <a:srgbClr val="22D3EE">
              <a:alpha val="20000"/>
            </a:srgbClr>
          </a:solidFill>
          <a:ln w="12700" cmpd="sng" cap="flat">
            <a:solidFill>
              <a:srgbClr val="22D3EE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1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6858000" y="2946400"/>
            <a:ext cx="457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开发者提问：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在IDE中描述开发需求或遇到的技术问题。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6477000" y="3619500"/>
            <a:ext cx="254000" cy="254000"/>
          </a:xfrm>
          <a:prstGeom prst="ellipse">
            <a:avLst/>
          </a:prstGeom>
          <a:solidFill>
            <a:srgbClr val="22D3EE">
              <a:alpha val="20000"/>
            </a:srgbClr>
          </a:solidFill>
          <a:ln w="12700" cmpd="sng" cap="flat">
            <a:solidFill>
              <a:srgbClr val="22D3EE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2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6858000" y="3581400"/>
            <a:ext cx="457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IDE智能调用：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IDE自动提取当前代码上下文，调用MCP Server接口。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6477000" y="4254500"/>
            <a:ext cx="254000" cy="254000"/>
          </a:xfrm>
          <a:prstGeom prst="ellipse">
            <a:avLst/>
          </a:prstGeom>
          <a:solidFill>
            <a:srgbClr val="22D3EE">
              <a:alpha val="20000"/>
            </a:srgbClr>
          </a:solidFill>
          <a:ln w="12700" cmpd="sng" cap="flat">
            <a:solidFill>
              <a:srgbClr val="22D3EE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3</a:t>
            </a:r>
            <a:endParaRPr lang="en-US" sz="1100"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6858000" y="4216400"/>
            <a:ext cx="457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后端深度检索：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Server执行混合检索算法，从知识库中召回Top-K相关片段。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6477000" y="4889500"/>
            <a:ext cx="254000" cy="254000"/>
          </a:xfrm>
          <a:prstGeom prst="ellipse">
            <a:avLst/>
          </a:prstGeom>
          <a:solidFill>
            <a:srgbClr val="22D3EE">
              <a:alpha val="20000"/>
            </a:srgbClr>
          </a:solidFill>
          <a:ln w="12700" cmpd="sng" cap="flat">
            <a:solidFill>
              <a:srgbClr val="22D3EE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4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6858000" y="4851400"/>
            <a:ext cx="457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Prompt智能组装：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IDE将召回的知识片段与用户问题、代码上下文整合为多段式Prompt。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6477000" y="5524500"/>
            <a:ext cx="254000" cy="254000"/>
          </a:xfrm>
          <a:prstGeom prst="ellipse">
            <a:avLst/>
          </a:prstGeom>
          <a:solidFill>
            <a:srgbClr val="22D3EE">
              <a:alpha val="20000"/>
            </a:srgbClr>
          </a:solidFill>
          <a:ln w="12700" cmpd="sng" cap="flat">
            <a:solidFill>
              <a:srgbClr val="22D3EE">
                <a:alpha val="10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5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6858000" y="5486400"/>
            <a:ext cx="4572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LLM精准生成：</a:t>
            </a:r>
            <a:r>
              <a:rPr lang="en-US" b="false" i="false" strike="noStrike" u="none" sz="12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大模型基于丰富的上下文信息，生成精准的代码补全或解决方案。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8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场景一：需求开发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206500"/>
            <a:ext cx="1066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将业务需求快速、准确地转化为符合企业规范的代码，实现从自然语言到生产级代码的无缝衔接。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62000" y="1651000"/>
            <a:ext cx="2286000" cy="355600"/>
          </a:xfrm>
          <a:prstGeom prst="roundRect">
            <a:avLst>
              <a:gd name="adj" fmla="val 50000"/>
            </a:avLst>
          </a:prstGeom>
          <a:solidFill>
            <a:srgbClr val="10B981">
              <a:alpha val="15000"/>
            </a:srgbClr>
          </a:solidFill>
          <a:ln w="12700" cmpd="sng" cap="flat">
            <a:solidFill>
              <a:srgbClr val="10B981">
                <a:alpha val="4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10B981"/>
                </a:solidFill>
                <a:latin typeface="Noto Sans SC"/>
                <a:ea typeface="Noto Sans SC"/>
                <a:cs typeface="Noto Sans SC"/>
                <a:sym typeface="Noto Sans SC"/>
              </a:rPr>
              <a:t>✅ 代码实现场景测试通过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3175000" y="1651000"/>
            <a:ext cx="2286000" cy="355600"/>
          </a:xfrm>
          <a:prstGeom prst="roundRect">
            <a:avLst>
              <a:gd name="adj" fmla="val 50000"/>
            </a:avLst>
          </a:prstGeom>
          <a:solidFill>
            <a:srgbClr val="F59E0B">
              <a:alpha val="15000"/>
            </a:srgbClr>
          </a:solidFill>
          <a:ln w="12700" cmpd="sng" cap="flat">
            <a:solidFill>
              <a:srgbClr val="F59E0B">
                <a:alpha val="4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F59E0B"/>
                </a:solidFill>
                <a:latin typeface="Noto Sans SC"/>
                <a:ea typeface="Noto Sans SC"/>
                <a:cs typeface="Noto Sans SC"/>
                <a:sym typeface="Noto Sans SC"/>
              </a:rPr>
              <a:t>🔍 代码规范约束场景待验证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762000" y="2413000"/>
            <a:ext cx="3429000" cy="3937000"/>
          </a:xfrm>
          <a:prstGeom prst="roundRect">
            <a:avLst>
              <a:gd name="adj" fmla="val 2962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22D3EE">
                <a:alpha val="25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8" id="8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16000" y="2667000"/>
            <a:ext cx="304800" cy="304800"/>
          </a:xfrm>
          <a:prstGeom prst="rect">
            <a:avLst/>
          </a:prstGeom>
        </p:spPr>
      </p:pic>
      <p:sp>
        <p:nvSpPr>
          <p:cNvPr name="AutoShape 9" id="9"/>
          <p:cNvSpPr/>
          <p:nvPr/>
        </p:nvSpPr>
        <p:spPr>
          <a:xfrm rot="0" flipH="false" flipV="false">
            <a:off x="1447800" y="2641600"/>
            <a:ext cx="2540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核心知识注入体系</a:t>
            </a:r>
            <a:endParaRPr lang="en-US" sz="1100"/>
          </a:p>
        </p:txBody>
      </p:sp>
      <p:cxnSp>
        <p:nvCxnSpPr>
          <p:cNvPr name="Connector 10" id="10"/>
          <p:cNvCxnSpPr/>
          <p:nvPr/>
        </p:nvCxnSpPr>
        <p:spPr>
          <a:xfrm rot="-14946" flipH="false" flipV="false">
            <a:off x="1016014" y="31432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1" id="11"/>
          <p:cNvSpPr/>
          <p:nvPr/>
        </p:nvSpPr>
        <p:spPr>
          <a:xfrm rot="0" flipH="false" flipV="false">
            <a:off x="1016000" y="3302000"/>
            <a:ext cx="2921000" cy="279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构建全方位的企业级知识库，为AI开发提供精准上下文：</a:t>
            </a:r>
            <a: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●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业务术语映射的API接口文档</a:t>
            </a:r>
            <a: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●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历史同类需求的最佳实现方案</a:t>
            </a:r>
            <a: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●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模块专属代码规范与检查清单</a:t>
            </a:r>
            <a: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●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核心业务模块的参考工程结构</a:t>
            </a:r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4381500" y="2413000"/>
            <a:ext cx="3429000" cy="3937000"/>
          </a:xfrm>
          <a:prstGeom prst="roundRect">
            <a:avLst>
              <a:gd name="adj" fmla="val 2962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22D3EE">
                <a:alpha val="25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3" id="13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4635500" y="2667000"/>
            <a:ext cx="304800" cy="304800"/>
          </a:xfrm>
          <a:prstGeom prst="rect">
            <a:avLst/>
          </a:prstGeom>
        </p:spPr>
      </p:pic>
      <p:sp>
        <p:nvSpPr>
          <p:cNvPr name="AutoShape 14" id="14"/>
          <p:cNvSpPr/>
          <p:nvPr/>
        </p:nvSpPr>
        <p:spPr>
          <a:xfrm rot="0" flipH="false" flipV="false">
            <a:off x="5067300" y="2641600"/>
            <a:ext cx="2540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自动化开发工作流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rot="-14946" flipH="false" flipV="false">
            <a:off x="4635514" y="31432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6" id="16"/>
          <p:cNvSpPr/>
          <p:nvPr/>
        </p:nvSpPr>
        <p:spPr>
          <a:xfrm rot="0" flipH="false" flipV="false">
            <a:off x="4635500" y="3302000"/>
            <a:ext cx="2921000" cy="279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从需求到代码的闭环智能处理流程：</a:t>
            </a:r>
            <a: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01 需求交互：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用户输入“实现订单支付回调”等自然语言需求。</a:t>
            </a:r>
            <a: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02 智能检索：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系统自动关联私有SDK、幂等性规范及历史代码资产。</a:t>
            </a:r>
            <a:r>
              <a:rPr lang="en-US" b="false" i="false" strike="noStrike" u="none" sz="13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03 代码生成：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AI 生成符合架构标准的代码骨架与核心业务逻辑。</a:t>
            </a:r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8001000" y="2413000"/>
            <a:ext cx="3429000" cy="3937000"/>
          </a:xfrm>
          <a:prstGeom prst="roundRect">
            <a:avLst>
              <a:gd name="adj" fmla="val 2962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22D3EE">
                <a:alpha val="25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8" id="18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8255000" y="2667000"/>
            <a:ext cx="304800" cy="304800"/>
          </a:xfrm>
          <a:prstGeom prst="rect">
            <a:avLst/>
          </a:prstGeom>
        </p:spPr>
      </p:pic>
      <p:sp>
        <p:nvSpPr>
          <p:cNvPr name="AutoShape 19" id="19"/>
          <p:cNvSpPr/>
          <p:nvPr/>
        </p:nvSpPr>
        <p:spPr>
          <a:xfrm rot="0" flipH="false" flipV="false">
            <a:off x="8686800" y="2641600"/>
            <a:ext cx="2540000" cy="3556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质量与效率双重跃升</a:t>
            </a:r>
            <a:endParaRPr lang="en-US" sz="1100"/>
          </a:p>
        </p:txBody>
      </p:sp>
      <p:cxnSp>
        <p:nvCxnSpPr>
          <p:cNvPr name="Connector 20" id="20"/>
          <p:cNvCxnSpPr/>
          <p:nvPr/>
        </p:nvCxnSpPr>
        <p:spPr>
          <a:xfrm rot="-14946" flipH="false" flipV="false">
            <a:off x="8255014" y="31432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1" id="21"/>
          <p:cNvSpPr/>
          <p:nvPr/>
        </p:nvSpPr>
        <p:spPr>
          <a:xfrm rot="0" flipH="false" flipV="false">
            <a:off x="8255000" y="3429000"/>
            <a:ext cx="2921000" cy="1016000"/>
          </a:xfrm>
          <a:prstGeom prst="roundRect">
            <a:avLst>
              <a:gd name="adj" fmla="val 12500"/>
            </a:avLst>
          </a:prstGeom>
          <a:solidFill>
            <a:srgbClr val="22D3EE">
              <a:alpha val="8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8382000" y="3556000"/>
            <a:ext cx="2667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需求理解与匹配准确度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8382000" y="3873500"/>
            <a:ext cx="26670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通用模型 60% ➔</a:t>
            </a:r>
            <a:r>
              <a:rPr lang="en-US" b="true" i="false" strike="noStrike" u="none" sz="2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95%+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8255000" y="4699000"/>
            <a:ext cx="2921000" cy="1016000"/>
          </a:xfrm>
          <a:prstGeom prst="roundRect">
            <a:avLst>
              <a:gd name="adj" fmla="val 12500"/>
            </a:avLst>
          </a:prstGeom>
          <a:solidFill>
            <a:srgbClr val="22D3EE">
              <a:alpha val="8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8382000" y="4826000"/>
            <a:ext cx="2667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200">
                <a:solidFill>
                  <a:srgbClr val="94A3B8"/>
                </a:solidFill>
                <a:latin typeface="Noto Sans SC"/>
                <a:ea typeface="Noto Sans SC"/>
                <a:cs typeface="Noto Sans SC"/>
                <a:sym typeface="Noto Sans SC"/>
              </a:rPr>
              <a:t>开发沟通与返工成本</a:t>
            </a:r>
            <a:endParaRPr lang="en-US" sz="1100"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8382000" y="5143500"/>
            <a:ext cx="2667000" cy="457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整体耗时预计降低</a:t>
            </a:r>
            <a:r>
              <a:rPr lang="en-US" b="true" i="false" strike="noStrike" u="none" sz="2400">
                <a:solidFill>
                  <a:srgbClr val="10B981"/>
                </a:solidFill>
                <a:latin typeface="Noto Sans SC"/>
                <a:ea typeface="Noto Sans SC"/>
                <a:cs typeface="Noto Sans SC"/>
                <a:sym typeface="Noto Sans SC"/>
              </a:rPr>
              <a:t>50%</a:t>
            </a:r>
            <a:endParaRPr lang="en-US" sz="110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8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场景二：问题定位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206500"/>
            <a:ext cx="762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6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快速定位问题根源，提供基于历史经验的解决方案。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0" y="711200"/>
            <a:ext cx="1270000" cy="355600"/>
          </a:xfrm>
          <a:prstGeom prst="roundRect">
            <a:avLst>
              <a:gd name="adj" fmla="val 50000"/>
            </a:avLst>
          </a:prstGeom>
          <a:solidFill>
            <a:srgbClr val="22D3EE">
              <a:alpha val="15000"/>
            </a:srgbClr>
          </a:solidFill>
          <a:ln w="12700" cmpd="sng" cap="flat">
            <a:solidFill>
              <a:srgbClr val="22D3EE">
                <a:alpha val="6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待验证 🔍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762000" y="2032000"/>
            <a:ext cx="3378200" cy="4064000"/>
          </a:xfrm>
          <a:prstGeom prst="roundRect">
            <a:avLst>
              <a:gd name="adj" fmla="val 3007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  <a:effectLst>
            <a:outerShdw dir="2700000" dist="0" blurRad="254000" algn="tl" rotWithShape="false">
              <a:srgbClr val="22D3EE">
                <a:alpha val="15000"/>
              </a:srgbClr>
            </a:outerShdw>
          </a:effectLst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66800" y="2336800"/>
            <a:ext cx="406400" cy="406400"/>
          </a:xfrm>
          <a:prstGeom prst="rect">
            <a:avLst/>
          </a:prstGeom>
        </p:spPr>
      </p:pic>
      <p:sp>
        <p:nvSpPr>
          <p:cNvPr name="AutoShape 8" id="8"/>
          <p:cNvSpPr/>
          <p:nvPr/>
        </p:nvSpPr>
        <p:spPr>
          <a:xfrm rot="0" flipH="false" flipV="false">
            <a:off x="1600200" y="2349500"/>
            <a:ext cx="254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知识增强引擎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rot="-15769" flipH="false" flipV="false">
            <a:off x="1066815" y="2914650"/>
            <a:ext cx="276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0" id="10"/>
          <p:cNvSpPr/>
          <p:nvPr/>
        </p:nvSpPr>
        <p:spPr>
          <a:xfrm rot="0" flipH="false" flipV="false">
            <a:off x="1066800" y="3175000"/>
            <a:ext cx="2768600" cy="279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系统深度整合多维数据，构建完整的知识图谱：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●</a:t>
            </a:r>
            <a:r>
              <a:rPr lang="en-US" b="tru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历史缺陷库：</a:t>
            </a:r>
            <a:r>
              <a:rPr lang="en-US" b="false" i="false" strike="noStrike" u="none" sz="12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关联同类问题的现象描述、根因分析与修复方案。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●</a:t>
            </a:r>
            <a:r>
              <a:rPr lang="en-US" b="tru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文档全景图：</a:t>
            </a:r>
            <a:r>
              <a:rPr lang="en-US" b="false" i="false" strike="noStrike" u="none" sz="12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自动拉取关联模块的设计文档及API接口的最新变更记录。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4406900" y="2032000"/>
            <a:ext cx="3378200" cy="4064000"/>
          </a:xfrm>
          <a:prstGeom prst="roundRect">
            <a:avLst>
              <a:gd name="adj" fmla="val 3007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  <a:effectLst>
            <a:outerShdw dir="2700000" dist="0" blurRad="254000" algn="tl" rotWithShape="false">
              <a:srgbClr val="22D3EE">
                <a:alpha val="15000"/>
              </a:srgbClr>
            </a:outerShdw>
          </a:effectLst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2" id="12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4711700" y="2336800"/>
            <a:ext cx="406400" cy="406400"/>
          </a:xfrm>
          <a:prstGeom prst="rect">
            <a:avLst/>
          </a:prstGeom>
        </p:spPr>
      </p:pic>
      <p:sp>
        <p:nvSpPr>
          <p:cNvPr name="AutoShape 13" id="13"/>
          <p:cNvSpPr/>
          <p:nvPr/>
        </p:nvSpPr>
        <p:spPr>
          <a:xfrm rot="0" flipH="false" flipV="false">
            <a:off x="5245100" y="2349500"/>
            <a:ext cx="254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智能闭环工作流</a:t>
            </a:r>
            <a:endParaRPr lang="en-US" sz="1100"/>
          </a:p>
        </p:txBody>
      </p:sp>
      <p:cxnSp>
        <p:nvCxnSpPr>
          <p:cNvPr name="Connector 14" id="14"/>
          <p:cNvCxnSpPr/>
          <p:nvPr/>
        </p:nvCxnSpPr>
        <p:spPr>
          <a:xfrm rot="-15769" flipH="false" flipV="false">
            <a:off x="4711715" y="2914650"/>
            <a:ext cx="276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5" id="15"/>
          <p:cNvSpPr/>
          <p:nvPr/>
        </p:nvSpPr>
        <p:spPr>
          <a:xfrm rot="0" flipH="false" flipV="false">
            <a:off x="4711700" y="3175000"/>
            <a:ext cx="2768600" cy="279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全链路自动化辅助，实现从报错到修复的无缝衔接：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01 提交：</a:t>
            </a:r>
            <a:r>
              <a:rPr lang="en-US" b="false" i="false" strike="noStrike" u="none" sz="12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开发者一键贴入报错信息或异常堆栈日志。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02 检索：</a:t>
            </a:r>
            <a:r>
              <a:rPr lang="en-US" b="false" i="false" strike="noStrike" u="none" sz="12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系统后台自动检索相似缺陷案例，精准定位关联代码变更。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03 生成：</a:t>
            </a:r>
            <a:r>
              <a:rPr lang="en-US" b="false" i="false" strike="noStrike" u="none" sz="12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AI 基于上下文自动输出排查思路或可直接运行的修复代码。</a:t>
            </a:r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8051800" y="2032000"/>
            <a:ext cx="3378200" cy="4064000"/>
          </a:xfrm>
          <a:prstGeom prst="roundRect">
            <a:avLst>
              <a:gd name="adj" fmla="val 3007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  <a:effectLst>
            <a:outerShdw dir="2700000" dist="0" blurRad="254000" algn="tl" rotWithShape="false">
              <a:srgbClr val="22D3EE">
                <a:alpha val="15000"/>
              </a:srgbClr>
            </a:outerShdw>
          </a:effectLst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7" id="17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8356600" y="2336800"/>
            <a:ext cx="406400" cy="406400"/>
          </a:xfrm>
          <a:prstGeom prst="rect">
            <a:avLst/>
          </a:prstGeom>
        </p:spPr>
      </p:pic>
      <p:sp>
        <p:nvSpPr>
          <p:cNvPr name="AutoShape 18" id="18"/>
          <p:cNvSpPr/>
          <p:nvPr/>
        </p:nvSpPr>
        <p:spPr>
          <a:xfrm rot="0" flipH="false" flipV="false">
            <a:off x="8890000" y="2349500"/>
            <a:ext cx="254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效能跃升预期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rot="-15769" flipH="false" flipV="false">
            <a:off x="8356615" y="2914650"/>
            <a:ext cx="276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0" id="20"/>
          <p:cNvSpPr/>
          <p:nvPr/>
        </p:nvSpPr>
        <p:spPr>
          <a:xfrm rot="0" flipH="false" flipV="false">
            <a:off x="8356600" y="3175000"/>
            <a:ext cx="2768600" cy="279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通过智能化手段重构问题排查体验，实现显著的效能提升：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⏱ 修复周期缩短：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00000"/>
              </a:lnSpc>
            </a:pPr>
            <a:r>
              <a:rPr lang="en-US" b="true" i="false" strike="noStrike" u="none" sz="36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40%</a:t>
            </a:r>
            <a:r>
              <a:rPr lang="en-US" b="false" i="false" strike="noStrike" u="none" sz="12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平均耗时大幅降低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33333"/>
              </a:lnSpc>
            </a:pP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📉 门槛显著降低：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2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新人也能快速定位复杂模块问题，减少对核心骨干的依赖，提升团队整体稳定性。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8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场景三：代码检视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270000"/>
            <a:ext cx="6985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6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自动化执行Code Review，提升代码质量和审查效率。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033000" y="1282700"/>
            <a:ext cx="1270000" cy="355600"/>
          </a:xfrm>
          <a:prstGeom prst="roundRect">
            <a:avLst>
              <a:gd name="adj" fmla="val 50000"/>
            </a:avLst>
          </a:prstGeom>
          <a:solidFill>
            <a:srgbClr val="22D3EE">
              <a:alpha val="15000"/>
            </a:srgbClr>
          </a:solidFill>
          <a:ln w="12700" cmpd="sng" cap="flat">
            <a:solidFill>
              <a:srgbClr val="22D3EE">
                <a:alpha val="50000"/>
              </a:srgbClr>
            </a:solidFill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待验证 🔍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762000" y="2159000"/>
            <a:ext cx="3378200" cy="4064000"/>
          </a:xfrm>
          <a:prstGeom prst="roundRect">
            <a:avLst>
              <a:gd name="adj" fmla="val 3759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37415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7" id="7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66800" y="2463800"/>
            <a:ext cx="406400" cy="406400"/>
          </a:xfrm>
          <a:prstGeom prst="rect">
            <a:avLst/>
          </a:prstGeom>
        </p:spPr>
      </p:pic>
      <p:sp>
        <p:nvSpPr>
          <p:cNvPr name="AutoShape 8" id="8"/>
          <p:cNvSpPr/>
          <p:nvPr/>
        </p:nvSpPr>
        <p:spPr>
          <a:xfrm rot="0" flipH="false" flipV="false">
            <a:off x="1600200" y="2476500"/>
            <a:ext cx="254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知识注入体系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rot="-15769" flipH="false" flipV="false">
            <a:off x="1066815" y="3041650"/>
            <a:ext cx="276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0" id="10"/>
          <p:cNvSpPr/>
          <p:nvPr/>
        </p:nvSpPr>
        <p:spPr>
          <a:xfrm rot="0" flipH="false" flipV="false">
            <a:off x="1066800" y="3302000"/>
            <a:ext cx="2768600" cy="279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4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建立自动化审查的标准底座，确保评审依据的统一性和权威性。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●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Spec契约：定义命名规则与异常处理标准模板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●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团队编码规范：统一代码风格与架构设计原则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●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安全规范：集成OWASP Top 10等安全检查项</a:t>
            </a:r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4406900" y="2159000"/>
            <a:ext cx="3378200" cy="4064000"/>
          </a:xfrm>
          <a:prstGeom prst="roundRect">
            <a:avLst>
              <a:gd name="adj" fmla="val 3759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37415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2" id="12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4711700" y="2463800"/>
            <a:ext cx="406400" cy="406400"/>
          </a:xfrm>
          <a:prstGeom prst="rect">
            <a:avLst/>
          </a:prstGeom>
        </p:spPr>
      </p:pic>
      <p:sp>
        <p:nvSpPr>
          <p:cNvPr name="AutoShape 13" id="13"/>
          <p:cNvSpPr/>
          <p:nvPr/>
        </p:nvSpPr>
        <p:spPr>
          <a:xfrm rot="0" flipH="false" flipV="false">
            <a:off x="5245100" y="2476500"/>
            <a:ext cx="254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智能闭环工作流</a:t>
            </a:r>
            <a:endParaRPr lang="en-US" sz="1100"/>
          </a:p>
        </p:txBody>
      </p:sp>
      <p:cxnSp>
        <p:nvCxnSpPr>
          <p:cNvPr name="Connector 14" id="14"/>
          <p:cNvCxnSpPr/>
          <p:nvPr/>
        </p:nvCxnSpPr>
        <p:spPr>
          <a:xfrm rot="-15769" flipH="false" flipV="false">
            <a:off x="4711715" y="3041650"/>
            <a:ext cx="276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5" id="15"/>
          <p:cNvSpPr/>
          <p:nvPr/>
        </p:nvSpPr>
        <p:spPr>
          <a:xfrm rot="0" flipH="false" flipV="false">
            <a:off x="4711700" y="3302000"/>
            <a:ext cx="2768600" cy="279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4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人机协同的高效审查机制，减少人工重复劳动，聚焦核心逻辑评审。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01 发起请求：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开发者提交代码变更，触发自动流水线。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02 自动解析：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系统拉取规范库，深度解析代码 diff 差异。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03 AI 诊断：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自动标记命名违规、潜在bug及性能问题并建议修复。</a:t>
            </a:r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8051800" y="2159000"/>
            <a:ext cx="3378200" cy="4064000"/>
          </a:xfrm>
          <a:prstGeom prst="roundRect">
            <a:avLst>
              <a:gd name="adj" fmla="val 3759"/>
            </a:avLst>
          </a:prstGeom>
          <a:solidFill>
            <a:srgbClr val="1E293B">
              <a:alpha val="50000"/>
            </a:srgbClr>
          </a:solidFill>
          <a:ln w="12700" cmpd="sng" cap="flat">
            <a:solidFill>
              <a:srgbClr val="374151">
                <a:alpha val="10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7" id="17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8356600" y="2463800"/>
            <a:ext cx="406400" cy="406400"/>
          </a:xfrm>
          <a:prstGeom prst="rect">
            <a:avLst/>
          </a:prstGeom>
        </p:spPr>
      </p:pic>
      <p:sp>
        <p:nvSpPr>
          <p:cNvPr name="AutoShape 18" id="18"/>
          <p:cNvSpPr/>
          <p:nvPr/>
        </p:nvSpPr>
        <p:spPr>
          <a:xfrm rot="0" flipH="false" flipV="false">
            <a:off x="8890000" y="2476500"/>
            <a:ext cx="2540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8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质量与效率双升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rot="-15769" flipH="false" flipV="false">
            <a:off x="8356615" y="3041650"/>
            <a:ext cx="27686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0" id="20"/>
          <p:cNvSpPr/>
          <p:nvPr/>
        </p:nvSpPr>
        <p:spPr>
          <a:xfrm rot="0" flipH="false" flipV="false">
            <a:off x="8356600" y="3302000"/>
            <a:ext cx="2768600" cy="279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33333"/>
              </a:lnSpc>
              <a:defRPr/>
            </a:pPr>
            <a:r>
              <a:rPr lang="en-US" b="false" i="false" strike="noStrike" u="none" sz="14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通过工具链赋能，实现研发效能与工程质量的跨越式提升。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endParaRPr lang="en-US" sz="1100"/>
          </a:p>
          <a:p>
            <a:pPr algn="l" marL="0" indent="0">
              <a:lnSpc>
                <a:spcPct val="100000"/>
              </a:lnSpc>
            </a:pP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🚀 效率倍增：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机器承担基础性、重复性检查，人工评审效率提升50%以上。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</a:p>
          <a:p>
            <a:pPr algn="l" marL="0" indent="0">
              <a:lnSpc>
                <a:spcPct val="125000"/>
              </a:lnSpc>
            </a:pPr>
            <a:r>
              <a:rPr lang="en-US" b="false" i="false" strike="noStrike" u="none" sz="13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🛡️ 质量闭环：</a:t>
            </a:r>
            <a:r>
              <a:rPr lang="en-US" b="false" i="false" strike="noStrike" u="none" sz="1300">
                <a:solidFill>
                  <a:srgbClr val="E5E7EB"/>
                </a:solidFill>
                <a:latin typeface="Noto Sans SC"/>
                <a:ea typeface="Noto Sans SC"/>
                <a:cs typeface="Noto Sans SC"/>
                <a:sym typeface="Noto Sans SC"/>
              </a:rPr>
              <a:t>不合规项在提交阶段即被自动拦截，筑牢代码质量防线。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8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技术选型推荐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168400"/>
            <a:ext cx="1066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兼顾轻量级验证与生产级部署，提供灵活的技术栈选择。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62000" y="1778000"/>
            <a:ext cx="5207000" cy="1460500"/>
          </a:xfrm>
          <a:prstGeom prst="roundRect">
            <a:avLst>
              <a:gd name="adj" fmla="val 6956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3"/>
          <a:srcRect l="0" r="0" t="0" b="0"/>
          <a:stretch>
            <a:fillRect/>
          </a:stretch>
        </p:blipFill>
        <p:spPr>
          <a:xfrm rot="0" flipH="false" flipV="false">
            <a:off x="1016000" y="1968500"/>
            <a:ext cx="406400" cy="406400"/>
          </a:xfrm>
          <a:prstGeom prst="ellipse">
            <a:avLst/>
          </a:prstGeom>
          <a:noFill/>
          <a:ln w="25400" cmpd="sng" cap="flat">
            <a:noFill/>
            <a:prstDash val="solid"/>
            <a:round/>
          </a:ln>
        </p:spPr>
      </p:pic>
      <p:sp>
        <p:nvSpPr>
          <p:cNvPr name="AutoShape 7" id="7"/>
          <p:cNvSpPr/>
          <p:nvPr/>
        </p:nvSpPr>
        <p:spPr>
          <a:xfrm rot="0" flipH="false" flipV="false">
            <a:off x="1574800" y="2019300"/>
            <a:ext cx="381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向量数据库 (Vector DB)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1016000" y="2438400"/>
            <a:ext cx="4699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推荐方案：FAISS (轻量) / Milvus (生产)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备注：FAISS本地文件索引，部署便捷；Milvus支持高并发与混合检索，适合大规模生产环境。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6223000" y="1778000"/>
            <a:ext cx="5207000" cy="1460500"/>
          </a:xfrm>
          <a:prstGeom prst="roundRect">
            <a:avLst>
              <a:gd name="adj" fmla="val 6956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0" id="10"/>
          <p:cNvPicPr>
            <a:picLocks noChangeAspect="true"/>
          </p:cNvPicPr>
          <p:nvPr/>
        </p:nvPicPr>
        <p:blipFill>
          <a:blip r:embed="rId4"/>
          <a:srcRect l="0" r="0" t="2432" b="2432"/>
          <a:stretch>
            <a:fillRect/>
          </a:stretch>
        </p:blipFill>
        <p:spPr>
          <a:xfrm rot="0" flipH="false" flipV="false">
            <a:off x="6477000" y="1968500"/>
            <a:ext cx="406400" cy="406400"/>
          </a:xfrm>
          <a:prstGeom prst="ellipse">
            <a:avLst/>
          </a:prstGeom>
          <a:noFill/>
          <a:ln w="25400" cmpd="sng" cap="flat">
            <a:noFill/>
            <a:prstDash val="solid"/>
            <a:round/>
          </a:ln>
        </p:spPr>
      </p:pic>
      <p:sp>
        <p:nvSpPr>
          <p:cNvPr name="AutoShape 11" id="11"/>
          <p:cNvSpPr/>
          <p:nvPr/>
        </p:nvSpPr>
        <p:spPr>
          <a:xfrm rot="0" flipH="false" flipV="false">
            <a:off x="7035800" y="2019300"/>
            <a:ext cx="381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全文引擎 (Search Engine)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6477000" y="2438400"/>
            <a:ext cx="4699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推荐方案：SQLite FTS5 / Elasticsearch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备注：FTS5零依赖嵌入应用，开发成本低；ES支持BM25算法与高级文本分析，搜索相关性更强。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762000" y="3429000"/>
            <a:ext cx="5207000" cy="1460500"/>
          </a:xfrm>
          <a:prstGeom prst="roundRect">
            <a:avLst>
              <a:gd name="adj" fmla="val 6956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4" id="14"/>
          <p:cNvPicPr>
            <a:picLocks noChangeAspect="true"/>
          </p:cNvPicPr>
          <p:nvPr/>
        </p:nvPicPr>
        <p:blipFill>
          <a:blip r:embed="rId5"/>
          <a:srcRect l="32469" r="32469" t="0" b="0"/>
          <a:stretch>
            <a:fillRect/>
          </a:stretch>
        </p:blipFill>
        <p:spPr>
          <a:xfrm rot="0" flipH="false" flipV="false">
            <a:off x="1016000" y="3619500"/>
            <a:ext cx="406400" cy="406400"/>
          </a:xfrm>
          <a:prstGeom prst="ellipse">
            <a:avLst/>
          </a:prstGeom>
          <a:noFill/>
          <a:ln w="25400" cmpd="sng" cap="flat">
            <a:noFill/>
            <a:prstDash val="solid"/>
            <a:round/>
          </a:ln>
        </p:spPr>
      </p:pic>
      <p:sp>
        <p:nvSpPr>
          <p:cNvPr name="AutoShape 15" id="15"/>
          <p:cNvSpPr/>
          <p:nvPr/>
        </p:nvSpPr>
        <p:spPr>
          <a:xfrm rot="0" flipH="false" flipV="false">
            <a:off x="1574800" y="3670300"/>
            <a:ext cx="381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图数据库 (Graph DB)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1016000" y="4089400"/>
            <a:ext cx="4699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推荐方案：NetworkX (轻量) / Neo4j (生产)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备注：NetworkX内存图+JSON持久化，轻量灵活；Neo4j专用于大规模代码知识图谱与复杂关系查询。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6223000" y="3429000"/>
            <a:ext cx="5207000" cy="1460500"/>
          </a:xfrm>
          <a:prstGeom prst="roundRect">
            <a:avLst>
              <a:gd name="adj" fmla="val 6956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8" id="18"/>
          <p:cNvPicPr>
            <a:picLocks noChangeAspect="true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0" flipH="false" flipV="false">
            <a:off x="6477000" y="3619500"/>
            <a:ext cx="406400" cy="406400"/>
          </a:xfrm>
          <a:prstGeom prst="rect">
            <a:avLst/>
          </a:prstGeom>
        </p:spPr>
      </p:pic>
      <p:sp>
        <p:nvSpPr>
          <p:cNvPr name="AutoShape 19" id="19"/>
          <p:cNvSpPr/>
          <p:nvPr/>
        </p:nvSpPr>
        <p:spPr>
          <a:xfrm rot="0" flipH="false" flipV="false">
            <a:off x="7035800" y="3670300"/>
            <a:ext cx="381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Embedding 模型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6477000" y="4089400"/>
            <a:ext cx="4699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推荐方案：sentence-transformers (如 bge-large-zh)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备注：本地化部署，无需依赖外部API服务，支持CPU/GPU推理，数据处理更安全。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762000" y="5080000"/>
            <a:ext cx="5207000" cy="1460500"/>
          </a:xfrm>
          <a:prstGeom prst="roundRect">
            <a:avLst>
              <a:gd name="adj" fmla="val 6956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2" id="22"/>
          <p:cNvPicPr>
            <a:picLocks noChangeAspect="true"/>
          </p:cNvPicPr>
          <p:nvPr/>
        </p:nvPicPr>
        <p:blipFill>
          <a:blip r:embed="rId8"/>
          <a:srcRect l="41619" r="41619" t="0" b="0"/>
          <a:stretch>
            <a:fillRect/>
          </a:stretch>
        </p:blipFill>
        <p:spPr>
          <a:xfrm rot="0" flipH="false" flipV="false">
            <a:off x="1016000" y="5270500"/>
            <a:ext cx="406400" cy="406400"/>
          </a:xfrm>
          <a:prstGeom prst="ellipse">
            <a:avLst/>
          </a:prstGeom>
          <a:noFill/>
          <a:ln w="25400" cmpd="sng" cap="flat">
            <a:noFill/>
            <a:prstDash val="solid"/>
            <a:round/>
          </a:ln>
        </p:spPr>
      </p:pic>
      <p:sp>
        <p:nvSpPr>
          <p:cNvPr name="AutoShape 23" id="23"/>
          <p:cNvSpPr/>
          <p:nvPr/>
        </p:nvSpPr>
        <p:spPr>
          <a:xfrm rot="0" flipH="false" flipV="false">
            <a:off x="1574800" y="5321300"/>
            <a:ext cx="381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大模型 (LLM)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1016000" y="5740400"/>
            <a:ext cx="4699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推荐方案：企业私有部署 LLM 或 API (如DeepSeek-Coder)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备注：强化数据隐私安全，避免核心代码外流，确保企业资产安全与合规。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6223000" y="5080000"/>
            <a:ext cx="5207000" cy="1460500"/>
          </a:xfrm>
          <a:prstGeom prst="roundRect">
            <a:avLst>
              <a:gd name="adj" fmla="val 6956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6" id="26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 flipH="false" flipV="false">
            <a:off x="6477000" y="5270500"/>
            <a:ext cx="406400" cy="406400"/>
          </a:xfrm>
          <a:prstGeom prst="rect">
            <a:avLst/>
          </a:prstGeom>
        </p:spPr>
      </p:pic>
      <p:sp>
        <p:nvSpPr>
          <p:cNvPr name="AutoShape 27" id="27"/>
          <p:cNvSpPr/>
          <p:nvPr/>
        </p:nvSpPr>
        <p:spPr>
          <a:xfrm rot="0" flipH="false" flipV="false">
            <a:off x="7035800" y="5321300"/>
            <a:ext cx="3810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MCP 框架 (Protocol)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477000" y="5740400"/>
            <a:ext cx="4699000" cy="762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08333"/>
              </a:lnSpc>
              <a:defRPr/>
            </a:pPr>
            <a:r>
              <a:rPr lang="en-US" b="true" i="false" strike="noStrike" u="none" sz="1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推荐方案：开源 MCP SDK (Python/TS)</a:t>
            </a:r>
            <a: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  <a:t/>
            </a:r>
            <a:br>
              <a:rPr lang="en-US" b="false" i="false" strike="noStrike" u="none" sz="1600">
                <a:solidFill>
                  <a:srgbClr val="1F2329"/>
                </a:solidFill>
                <a:latin typeface="Noto Sans SC"/>
                <a:ea typeface="Noto Sans SC"/>
                <a:cs typeface="Noto Sans SC"/>
                <a:sym typeface="Noto Sans SC"/>
              </a:rPr>
            </a:br>
            <a:r>
              <a:rPr lang="en-US" b="false" i="false" strike="noStrike" u="none" sz="11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备注：提供标准化的工具暴露接口，降低集成复杂度，易于与现有开发工作流融合。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8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7620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风险与应对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219200"/>
            <a:ext cx="1066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预见潜在风险，并制定应对策略，确保项目稳健推进。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62000" y="1905000"/>
            <a:ext cx="5207000" cy="2159000"/>
          </a:xfrm>
          <a:prstGeom prst="roundRect">
            <a:avLst>
              <a:gd name="adj" fmla="val 7058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0" flipH="false" flipV="false">
            <a:off x="1066800" y="2209800"/>
            <a:ext cx="304800" cy="304800"/>
          </a:xfrm>
          <a:prstGeom prst="rect">
            <a:avLst/>
          </a:prstGeom>
        </p:spPr>
      </p:pic>
      <p:sp>
        <p:nvSpPr>
          <p:cNvPr name="AutoShape 7" id="7"/>
          <p:cNvSpPr/>
          <p:nvPr/>
        </p:nvSpPr>
        <p:spPr>
          <a:xfrm rot="0" flipH="false" flipV="false">
            <a:off x="1498600" y="2197100"/>
            <a:ext cx="38100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知识库陈旧风险</a:t>
            </a:r>
            <a:endParaRPr lang="en-US" sz="1100"/>
          </a:p>
        </p:txBody>
      </p:sp>
      <p:cxnSp>
        <p:nvCxnSpPr>
          <p:cNvPr name="Connector 8" id="8"/>
          <p:cNvCxnSpPr/>
          <p:nvPr/>
        </p:nvCxnSpPr>
        <p:spPr>
          <a:xfrm rot="-9496" flipH="false" flipV="false">
            <a:off x="1066809" y="2660650"/>
            <a:ext cx="4597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9" id="9"/>
          <p:cNvSpPr/>
          <p:nvPr/>
        </p:nvSpPr>
        <p:spPr>
          <a:xfrm rot="0" flipH="false" flipV="false">
            <a:off x="1066800" y="2819400"/>
            <a:ext cx="45974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建立自动监听更新管道，知识条目强制关联有效期，确保知识库内容的时效性与准确性。</a:t>
            </a:r>
            <a:endParaRPr lang="en-US" sz="1100"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6223000" y="1905000"/>
            <a:ext cx="5207000" cy="2159000"/>
          </a:xfrm>
          <a:prstGeom prst="roundRect">
            <a:avLst>
              <a:gd name="adj" fmla="val 7058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1" id="11"/>
          <p:cNvPicPr>
            <a:picLocks noChangeAspect="true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0" flipH="false" flipV="false">
            <a:off x="6527800" y="2209800"/>
            <a:ext cx="304800" cy="304800"/>
          </a:xfrm>
          <a:prstGeom prst="rect">
            <a:avLst/>
          </a:prstGeom>
        </p:spPr>
      </p:pic>
      <p:sp>
        <p:nvSpPr>
          <p:cNvPr name="AutoShape 12" id="12"/>
          <p:cNvSpPr/>
          <p:nvPr/>
        </p:nvSpPr>
        <p:spPr>
          <a:xfrm rot="0" flipH="false" flipV="false">
            <a:off x="6959600" y="2197100"/>
            <a:ext cx="38100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检索响应延迟风险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rot="-9496" flipH="false" flipV="false">
            <a:off x="6527809" y="2660650"/>
            <a:ext cx="4597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4" id="14"/>
          <p:cNvSpPr/>
          <p:nvPr/>
        </p:nvSpPr>
        <p:spPr>
          <a:xfrm rot="0" flipH="false" flipV="false">
            <a:off x="6527800" y="2819400"/>
            <a:ext cx="45974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缓存热门知识，向量库采用GPU加速，异步预取当前项目知识，全方位优化检索速度。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762000" y="4318000"/>
            <a:ext cx="5207000" cy="2159000"/>
          </a:xfrm>
          <a:prstGeom prst="roundRect">
            <a:avLst>
              <a:gd name="adj" fmla="val 7058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16" id="16"/>
          <p:cNvPicPr>
            <a:picLocks noChangeAspect="true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0" flipH="false" flipV="false">
            <a:off x="1066800" y="4622800"/>
            <a:ext cx="304800" cy="304800"/>
          </a:xfrm>
          <a:prstGeom prst="rect">
            <a:avLst/>
          </a:prstGeom>
        </p:spPr>
      </p:pic>
      <p:sp>
        <p:nvSpPr>
          <p:cNvPr name="AutoShape 17" id="17"/>
          <p:cNvSpPr/>
          <p:nvPr/>
        </p:nvSpPr>
        <p:spPr>
          <a:xfrm rot="0" flipH="false" flipV="false">
            <a:off x="1498600" y="4610100"/>
            <a:ext cx="38100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核心数据泄露风险</a:t>
            </a:r>
            <a:endParaRPr lang="en-US" sz="1100"/>
          </a:p>
        </p:txBody>
      </p:sp>
      <p:cxnSp>
        <p:nvCxnSpPr>
          <p:cNvPr name="Connector 18" id="18"/>
          <p:cNvCxnSpPr/>
          <p:nvPr/>
        </p:nvCxnSpPr>
        <p:spPr>
          <a:xfrm rot="-9496" flipH="false" flipV="false">
            <a:off x="1066809" y="5073650"/>
            <a:ext cx="4597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19" id="19"/>
          <p:cNvSpPr/>
          <p:nvPr/>
        </p:nvSpPr>
        <p:spPr>
          <a:xfrm rot="0" flipH="false" flipV="false">
            <a:off x="1066800" y="5232400"/>
            <a:ext cx="45974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严格控制MCP Server的访问范围，部署私有LLM或使用企业级API，确保数据不出域、不传输至境外。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6223000" y="4318000"/>
            <a:ext cx="5207000" cy="2159000"/>
          </a:xfrm>
          <a:prstGeom prst="roundRect">
            <a:avLst>
              <a:gd name="adj" fmla="val 7058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pic>
        <p:nvPicPr>
          <p:cNvPr name="Picture 21" id="21"/>
          <p:cNvPicPr>
            <a:picLocks noChangeAspect="true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 rot="0" flipH="false" flipV="false">
            <a:off x="6527800" y="4622800"/>
            <a:ext cx="304800" cy="304800"/>
          </a:xfrm>
          <a:prstGeom prst="rect">
            <a:avLst/>
          </a:prstGeom>
        </p:spPr>
      </p:pic>
      <p:sp>
        <p:nvSpPr>
          <p:cNvPr name="AutoShape 22" id="22"/>
          <p:cNvSpPr/>
          <p:nvPr/>
        </p:nvSpPr>
        <p:spPr>
          <a:xfrm rot="0" flipH="false" flipV="false">
            <a:off x="6959600" y="4610100"/>
            <a:ext cx="3810000" cy="3302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6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检索结果噪音干扰</a:t>
            </a:r>
            <a:endParaRPr lang="en-US" sz="1100"/>
          </a:p>
        </p:txBody>
      </p:sp>
      <p:cxnSp>
        <p:nvCxnSpPr>
          <p:cNvPr name="Connector 23" id="23"/>
          <p:cNvCxnSpPr/>
          <p:nvPr/>
        </p:nvCxnSpPr>
        <p:spPr>
          <a:xfrm rot="-9496" flipH="false" flipV="false">
            <a:off x="6527809" y="5073650"/>
            <a:ext cx="4597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mpd="sng" cap="flat">
            <a:solidFill>
              <a:srgbClr val="FFFFFF">
                <a:alpha val="1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name="AutoShape 24" id="24"/>
          <p:cNvSpPr/>
          <p:nvPr/>
        </p:nvSpPr>
        <p:spPr>
          <a:xfrm rot="0" flipH="false" flipV="false">
            <a:off x="6527800" y="5232400"/>
            <a:ext cx="4597400" cy="1143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16666"/>
              </a:lnSpc>
              <a:defRPr/>
            </a:pPr>
            <a:r>
              <a:rPr lang="en-US" b="false" i="false" strike="noStrike" u="none" sz="13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持续优化分块策略与重排序模型，引入用户反馈信号进行迭代，提升知识检索的精准度与相关性。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11827">
              <a:alpha val="8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762000" y="635000"/>
            <a:ext cx="10668000" cy="508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32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试点阶段实现待办跟踪</a:t>
            </a:r>
            <a:endParaRPr lang="en-US" sz="1100"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762000" y="1206500"/>
            <a:ext cx="10668000" cy="3048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false" i="false" strike="noStrike" u="none" sz="1400">
                <a:solidFill>
                  <a:srgbClr val="D1D5DB"/>
                </a:solidFill>
                <a:latin typeface="Noto Sans SC"/>
                <a:ea typeface="Noto Sans SC"/>
                <a:cs typeface="Noto Sans SC"/>
                <a:sym typeface="Noto Sans SC"/>
              </a:rPr>
              <a:t>明确试点阶段的核心任务，拆解实施细节，确保项目有序推进与关键里程碑的达成。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762000" y="1778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6" id="6"/>
          <p:cNvSpPr/>
          <p:nvPr/>
        </p:nvSpPr>
        <p:spPr>
          <a:xfrm rot="0" flipH="false" flipV="false">
            <a:off x="952500" y="1930400"/>
            <a:ext cx="508000" cy="254000"/>
          </a:xfrm>
          <a:prstGeom prst="roundRect">
            <a:avLst>
              <a:gd name="adj" fmla="val 20000"/>
            </a:avLst>
          </a:prstGeom>
          <a:solidFill>
            <a:srgbClr val="EF4444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87171"/>
                </a:solidFill>
                <a:latin typeface="Noto Sans SC"/>
                <a:ea typeface="Noto Sans SC"/>
                <a:cs typeface="Noto Sans SC"/>
                <a:sym typeface="Noto Sans SC"/>
              </a:rPr>
              <a:t>HIGH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 rot="0" flipH="false" flipV="false">
            <a:off x="1587500" y="1917700"/>
            <a:ext cx="3810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P1. 企业私域数据准备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 rot="0" flipH="false" flipV="false">
            <a:off x="952500" y="2260600"/>
            <a:ext cx="482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91666"/>
              </a:lnSpc>
              <a:defRPr/>
            </a:pPr>
            <a:r>
              <a:rPr lang="en-US" b="false" i="false" strike="noStrike" u="none" sz="10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梳理试点业务域的知识资产：SDK源码、API文档、Spec契约文件，构建基础知识库。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 rot="0" flipH="false" flipV="false">
            <a:off x="762000" y="28194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0" id="10"/>
          <p:cNvSpPr/>
          <p:nvPr/>
        </p:nvSpPr>
        <p:spPr>
          <a:xfrm rot="0" flipH="false" flipV="false">
            <a:off x="952500" y="2971800"/>
            <a:ext cx="571500" cy="254000"/>
          </a:xfrm>
          <a:prstGeom prst="roundRect">
            <a:avLst>
              <a:gd name="adj" fmla="val 20000"/>
            </a:avLst>
          </a:prstGeom>
          <a:solidFill>
            <a:srgbClr val="F59E0B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BBF24"/>
                </a:solidFill>
                <a:latin typeface="Noto Sans SC"/>
                <a:ea typeface="Noto Sans SC"/>
                <a:cs typeface="Noto Sans SC"/>
                <a:sym typeface="Noto Sans SC"/>
              </a:rPr>
              <a:t>MEDIUM</a:t>
            </a:r>
            <a:endParaRPr lang="en-US" sz="1100"/>
          </a:p>
        </p:txBody>
      </p:sp>
      <p:sp>
        <p:nvSpPr>
          <p:cNvPr name="AutoShape 11" id="11"/>
          <p:cNvSpPr/>
          <p:nvPr/>
        </p:nvSpPr>
        <p:spPr>
          <a:xfrm rot="0" flipH="false" flipV="false">
            <a:off x="1651000" y="2959100"/>
            <a:ext cx="3810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P2. JSON API 文档 loader 开发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 rot="0" flipH="false" flipV="false">
            <a:off x="952500" y="3302000"/>
            <a:ext cx="482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91666"/>
              </a:lnSpc>
              <a:defRPr/>
            </a:pPr>
            <a:r>
              <a:rPr lang="en-US" b="false" i="false" strike="noStrike" u="none" sz="10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新增JSON数组展开逻辑，将每个API条目映射为独立chunk，提升检索精度。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 rot="0" flipH="false" flipV="false">
            <a:off x="762000" y="38608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4" id="14"/>
          <p:cNvSpPr/>
          <p:nvPr/>
        </p:nvSpPr>
        <p:spPr>
          <a:xfrm rot="0" flipH="false" flipV="false">
            <a:off x="952500" y="4013200"/>
            <a:ext cx="571500" cy="254000"/>
          </a:xfrm>
          <a:prstGeom prst="roundRect">
            <a:avLst>
              <a:gd name="adj" fmla="val 20000"/>
            </a:avLst>
          </a:prstGeom>
          <a:solidFill>
            <a:srgbClr val="F59E0B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BBF24"/>
                </a:solidFill>
                <a:latin typeface="Noto Sans SC"/>
                <a:ea typeface="Noto Sans SC"/>
                <a:cs typeface="Noto Sans SC"/>
                <a:sym typeface="Noto Sans SC"/>
              </a:rPr>
              <a:t>MEDIUM</a:t>
            </a:r>
            <a:endParaRPr lang="en-US" sz="1100"/>
          </a:p>
        </p:txBody>
      </p:sp>
      <p:sp>
        <p:nvSpPr>
          <p:cNvPr name="AutoShape 15" id="15"/>
          <p:cNvSpPr/>
          <p:nvPr/>
        </p:nvSpPr>
        <p:spPr>
          <a:xfrm rot="0" flipH="false" flipV="false">
            <a:off x="1651000" y="4000500"/>
            <a:ext cx="3810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P3. Python SDK AST 解析模块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 rot="0" flipH="false" flipV="false">
            <a:off x="952500" y="4343400"/>
            <a:ext cx="482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91666"/>
              </a:lnSpc>
              <a:defRPr/>
            </a:pPr>
            <a:r>
              <a:rPr lang="en-US" b="false" i="false" strike="noStrike" u="none" sz="10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参照Java实现，利用Python ast库解析源码结构，提取关键接口与参数定义。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 rot="0" flipH="false" flipV="false">
            <a:off x="762000" y="49022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18" id="18"/>
          <p:cNvSpPr/>
          <p:nvPr/>
        </p:nvSpPr>
        <p:spPr>
          <a:xfrm rot="0" flipH="false" flipV="false">
            <a:off x="952500" y="5054600"/>
            <a:ext cx="571500" cy="254000"/>
          </a:xfrm>
          <a:prstGeom prst="roundRect">
            <a:avLst>
              <a:gd name="adj" fmla="val 20000"/>
            </a:avLst>
          </a:prstGeom>
          <a:solidFill>
            <a:srgbClr val="F59E0B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BBF24"/>
                </a:solidFill>
                <a:latin typeface="Noto Sans SC"/>
                <a:ea typeface="Noto Sans SC"/>
                <a:cs typeface="Noto Sans SC"/>
                <a:sym typeface="Noto Sans SC"/>
              </a:rPr>
              <a:t>MEDIUM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 rot="0" flipH="false" flipV="false">
            <a:off x="1651000" y="5041900"/>
            <a:ext cx="3810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P4. 基于LLM的智能文档分类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 rot="0" flipH="false" flipV="false">
            <a:off x="952500" y="5384800"/>
            <a:ext cx="482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91666"/>
              </a:lnSpc>
              <a:defRPr/>
            </a:pPr>
            <a:r>
              <a:rPr lang="en-US" b="false" i="false" strike="noStrike" u="none" sz="10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替换传统规则匹配，引入大模型进行文档意图分类和章节边界的智能识别。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 rot="0" flipH="false" flipV="false">
            <a:off x="762000" y="5943600"/>
            <a:ext cx="5207000" cy="736600"/>
          </a:xfrm>
          <a:prstGeom prst="roundRect">
            <a:avLst>
              <a:gd name="adj" fmla="val 13793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2" id="22"/>
          <p:cNvSpPr/>
          <p:nvPr/>
        </p:nvSpPr>
        <p:spPr>
          <a:xfrm rot="0" flipH="false" flipV="false">
            <a:off x="952500" y="6070600"/>
            <a:ext cx="571500" cy="228600"/>
          </a:xfrm>
          <a:prstGeom prst="roundRect">
            <a:avLst>
              <a:gd name="adj" fmla="val 22222"/>
            </a:avLst>
          </a:prstGeom>
          <a:solidFill>
            <a:srgbClr val="F59E0B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000">
                <a:solidFill>
                  <a:srgbClr val="FBBF24"/>
                </a:solidFill>
                <a:latin typeface="Noto Sans SC"/>
                <a:ea typeface="Noto Sans SC"/>
                <a:cs typeface="Noto Sans SC"/>
                <a:sym typeface="Noto Sans SC"/>
              </a:rPr>
              <a:t>MEDIUM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 rot="0" flipH="false" flipV="false">
            <a:off x="1651000" y="60579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P5. 生产环境后端部署方案落地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 rot="0" flipH="false" flipV="false">
            <a:off x="952500" y="6324600"/>
            <a:ext cx="4826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91666"/>
              </a:lnSpc>
              <a:defRPr/>
            </a:pPr>
            <a:r>
              <a:rPr lang="en-US" b="false" i="false" strike="noStrike" u="none" sz="9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部署Docker容器化环境（ES + Milvus + Neo4j），验证三路检索性能。</a:t>
            </a:r>
            <a:endParaRPr lang="en-US" sz="1100"/>
          </a:p>
        </p:txBody>
      </p:sp>
      <p:sp>
        <p:nvSpPr>
          <p:cNvPr name="AutoShape 25" id="25"/>
          <p:cNvSpPr/>
          <p:nvPr/>
        </p:nvSpPr>
        <p:spPr>
          <a:xfrm rot="0" flipH="false" flipV="false">
            <a:off x="6223000" y="17780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26" id="26"/>
          <p:cNvSpPr/>
          <p:nvPr/>
        </p:nvSpPr>
        <p:spPr>
          <a:xfrm rot="0" flipH="false" flipV="false">
            <a:off x="6413500" y="1930400"/>
            <a:ext cx="508000" cy="254000"/>
          </a:xfrm>
          <a:prstGeom prst="roundRect">
            <a:avLst>
              <a:gd name="adj" fmla="val 20000"/>
            </a:avLst>
          </a:prstGeom>
          <a:solidFill>
            <a:srgbClr val="3B82F6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60A5FA"/>
                </a:solidFill>
                <a:latin typeface="Noto Sans SC"/>
                <a:ea typeface="Noto Sans SC"/>
                <a:cs typeface="Noto Sans SC"/>
                <a:sym typeface="Noto Sans SC"/>
              </a:rPr>
              <a:t>LOW</a:t>
            </a:r>
            <a:endParaRPr lang="en-US" sz="1100"/>
          </a:p>
        </p:txBody>
      </p:sp>
      <p:sp>
        <p:nvSpPr>
          <p:cNvPr name="AutoShape 27" id="27"/>
          <p:cNvSpPr/>
          <p:nvPr/>
        </p:nvSpPr>
        <p:spPr>
          <a:xfrm rot="0" flipH="false" flipV="false">
            <a:off x="7048500" y="1917700"/>
            <a:ext cx="3810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P6. 增量更新管道机制实现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 rot="0" flipH="false" flipV="false">
            <a:off x="6413500" y="2260600"/>
            <a:ext cx="482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91666"/>
              </a:lnSpc>
              <a:defRPr/>
            </a:pPr>
            <a:r>
              <a:rPr lang="en-US" b="false" i="false" strike="noStrike" u="none" sz="10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设计文件指纹比对策略，实现仅重处理变更文件的增量更新，优化资源消耗。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 rot="0" flipH="false" flipV="false">
            <a:off x="6223000" y="28194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0" id="30"/>
          <p:cNvSpPr/>
          <p:nvPr/>
        </p:nvSpPr>
        <p:spPr>
          <a:xfrm rot="0" flipH="false" flipV="false">
            <a:off x="6413500" y="2971800"/>
            <a:ext cx="508000" cy="254000"/>
          </a:xfrm>
          <a:prstGeom prst="roundRect">
            <a:avLst>
              <a:gd name="adj" fmla="val 20000"/>
            </a:avLst>
          </a:prstGeom>
          <a:solidFill>
            <a:srgbClr val="3B82F6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60A5FA"/>
                </a:solidFill>
                <a:latin typeface="Noto Sans SC"/>
                <a:ea typeface="Noto Sans SC"/>
                <a:cs typeface="Noto Sans SC"/>
                <a:sym typeface="Noto Sans SC"/>
              </a:rPr>
              <a:t>LOW</a:t>
            </a:r>
            <a:endParaRPr lang="en-US" sz="1100"/>
          </a:p>
        </p:txBody>
      </p:sp>
      <p:sp>
        <p:nvSpPr>
          <p:cNvPr name="AutoShape 31" id="31"/>
          <p:cNvSpPr/>
          <p:nvPr/>
        </p:nvSpPr>
        <p:spPr>
          <a:xfrm rot="0" flipH="false" flipV="false">
            <a:off x="7048500" y="2959100"/>
            <a:ext cx="3810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P7. Orchestrator 生产模式适配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 rot="0" flipH="false" flipV="false">
            <a:off x="6413500" y="3302000"/>
            <a:ext cx="482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91666"/>
              </a:lnSpc>
              <a:defRPr/>
            </a:pPr>
            <a:r>
              <a:rPr lang="en-US" b="false" i="false" strike="noStrike" u="none" sz="10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重构核心组件实例化逻辑，调整为通过Factory获取，适配生产环境多实例管理。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 rot="0" flipH="false" flipV="false">
            <a:off x="6223000" y="38608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4" id="34"/>
          <p:cNvSpPr/>
          <p:nvPr/>
        </p:nvSpPr>
        <p:spPr>
          <a:xfrm rot="0" flipH="false" flipV="false">
            <a:off x="6413500" y="4013200"/>
            <a:ext cx="508000" cy="254000"/>
          </a:xfrm>
          <a:prstGeom prst="roundRect">
            <a:avLst>
              <a:gd name="adj" fmla="val 20000"/>
            </a:avLst>
          </a:prstGeom>
          <a:solidFill>
            <a:srgbClr val="EF4444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87171"/>
                </a:solidFill>
                <a:latin typeface="Noto Sans SC"/>
                <a:ea typeface="Noto Sans SC"/>
                <a:cs typeface="Noto Sans SC"/>
                <a:sym typeface="Noto Sans SC"/>
              </a:rPr>
              <a:t>HIGH</a:t>
            </a:r>
            <a:endParaRPr lang="en-US" sz="1100"/>
          </a:p>
        </p:txBody>
      </p:sp>
      <p:sp>
        <p:nvSpPr>
          <p:cNvPr name="AutoShape 35" id="35"/>
          <p:cNvSpPr/>
          <p:nvPr/>
        </p:nvSpPr>
        <p:spPr>
          <a:xfrm rot="0" flipH="false" flipV="false">
            <a:off x="7048500" y="4000500"/>
            <a:ext cx="3810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P8. 全链路端到端功能验证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 rot="0" flipH="false" flipV="false">
            <a:off x="6413500" y="4343400"/>
            <a:ext cx="482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91666"/>
              </a:lnSpc>
              <a:defRPr/>
            </a:pPr>
            <a:r>
              <a:rPr lang="en-US" b="false" i="false" strike="noStrike" u="none" sz="10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利用企业真实私域数据，跑通从数据导入、处理到最终Prompt输出的完整业务闭环。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 rot="0" flipH="false" flipV="false">
            <a:off x="6223000" y="4902200"/>
            <a:ext cx="5207000" cy="889000"/>
          </a:xfrm>
          <a:prstGeom prst="roundRect">
            <a:avLst>
              <a:gd name="adj" fmla="val 11428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8" id="38"/>
          <p:cNvSpPr/>
          <p:nvPr/>
        </p:nvSpPr>
        <p:spPr>
          <a:xfrm rot="0" flipH="false" flipV="false">
            <a:off x="6413500" y="5054600"/>
            <a:ext cx="571500" cy="254000"/>
          </a:xfrm>
          <a:prstGeom prst="roundRect">
            <a:avLst>
              <a:gd name="adj" fmla="val 20000"/>
            </a:avLst>
          </a:prstGeom>
          <a:solidFill>
            <a:srgbClr val="F59E0B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100">
                <a:solidFill>
                  <a:srgbClr val="FBBF24"/>
                </a:solidFill>
                <a:latin typeface="Noto Sans SC"/>
                <a:ea typeface="Noto Sans SC"/>
                <a:cs typeface="Noto Sans SC"/>
                <a:sym typeface="Noto Sans SC"/>
              </a:rPr>
              <a:t>MEDIUM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 rot="0" flipH="false" flipV="false">
            <a:off x="7112000" y="5041900"/>
            <a:ext cx="3810000" cy="2794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P9. 反馈闭环权重动态调整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 rot="0" flipH="false" flipV="false">
            <a:off x="6413500" y="5384800"/>
            <a:ext cx="4826000" cy="381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91666"/>
              </a:lnSpc>
              <a:defRPr/>
            </a:pPr>
            <a:r>
              <a:rPr lang="en-US" b="false" i="false" strike="noStrike" u="none" sz="10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建立用户反馈收集机制，实现根据反馈正负向动态调整知识片段的检索权重。</a:t>
            </a:r>
            <a:endParaRPr lang="en-US" sz="1100"/>
          </a:p>
        </p:txBody>
      </p:sp>
      <p:sp>
        <p:nvSpPr>
          <p:cNvPr name="AutoShape 41" id="41"/>
          <p:cNvSpPr/>
          <p:nvPr/>
        </p:nvSpPr>
        <p:spPr>
          <a:xfrm rot="0" flipH="false" flipV="false">
            <a:off x="6223000" y="5943600"/>
            <a:ext cx="5207000" cy="736600"/>
          </a:xfrm>
          <a:prstGeom prst="roundRect">
            <a:avLst>
              <a:gd name="adj" fmla="val 13793"/>
            </a:avLst>
          </a:prstGeom>
          <a:solidFill>
            <a:srgbClr val="1E293B">
              <a:alpha val="60000"/>
            </a:srgbClr>
          </a:solidFill>
          <a:ln w="12700" cmpd="sng" cap="flat">
            <a:solidFill>
              <a:srgbClr val="22D3EE">
                <a:alpha val="30000"/>
              </a:srgbClr>
            </a:solidFill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2" id="42"/>
          <p:cNvSpPr/>
          <p:nvPr/>
        </p:nvSpPr>
        <p:spPr>
          <a:xfrm rot="0" flipH="false" flipV="false">
            <a:off x="6413500" y="6070600"/>
            <a:ext cx="571500" cy="228600"/>
          </a:xfrm>
          <a:prstGeom prst="roundRect">
            <a:avLst>
              <a:gd name="adj" fmla="val 22222"/>
            </a:avLst>
          </a:prstGeom>
          <a:solidFill>
            <a:srgbClr val="F59E0B">
              <a:alpha val="2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1000">
                <a:solidFill>
                  <a:srgbClr val="FBBF24"/>
                </a:solidFill>
                <a:latin typeface="Noto Sans SC"/>
                <a:ea typeface="Noto Sans SC"/>
                <a:cs typeface="Noto Sans SC"/>
                <a:sym typeface="Noto Sans SC"/>
              </a:rPr>
              <a:t>MEDIUM</a:t>
            </a:r>
            <a:endParaRPr lang="en-US" sz="1100"/>
          </a:p>
        </p:txBody>
      </p:sp>
      <p:sp>
        <p:nvSpPr>
          <p:cNvPr name="AutoShape 43" id="43"/>
          <p:cNvSpPr/>
          <p:nvPr/>
        </p:nvSpPr>
        <p:spPr>
          <a:xfrm rot="0" flipH="false" flipV="false">
            <a:off x="7112000" y="6057900"/>
            <a:ext cx="3810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l" marL="0" indent="0">
              <a:lnSpc>
                <a:spcPct val="125000"/>
              </a:lnSpc>
              <a:defRPr/>
            </a:pPr>
            <a:r>
              <a:rPr lang="en-US" b="true" i="false" strike="noStrike" u="none" sz="13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P10. MCP 工具调用触发率优化</a:t>
            </a:r>
            <a:endParaRPr lang="en-US" sz="1100"/>
          </a:p>
        </p:txBody>
      </p:sp>
      <p:sp>
        <p:nvSpPr>
          <p:cNvPr name="AutoShape 44" id="44"/>
          <p:cNvSpPr/>
          <p:nvPr/>
        </p:nvSpPr>
        <p:spPr>
          <a:xfrm rot="0" flipH="false" flipV="false">
            <a:off x="6413500" y="6324600"/>
            <a:ext cx="4826000" cy="254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t" rtlCol="false" anchorCtr="false" vert="horz" wrap="square" lIns="0" rIns="0" tIns="0" bIns="0"/>
          <a:lstStyle/>
          <a:p>
            <a:pPr algn="l" marL="0" indent="0">
              <a:lnSpc>
                <a:spcPct val="91666"/>
              </a:lnSpc>
              <a:defRPr/>
            </a:pPr>
            <a:r>
              <a:rPr lang="en-US" b="false" i="false" strike="noStrike" u="none" sz="900">
                <a:solidFill>
                  <a:srgbClr val="9CA3AF"/>
                </a:solidFill>
                <a:latin typeface="Noto Sans SC"/>
                <a:ea typeface="Noto Sans SC"/>
                <a:cs typeface="Noto Sans SC"/>
                <a:sym typeface="Noto Sans SC"/>
              </a:rPr>
              <a:t>优化系统指令设计与会话预热策略，提升Agent对工具使用的决策准确率。</a:t>
            </a:r>
            <a:endParaRPr lang="en-US" sz="110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blipFill dpi="0" rotWithShape="true">
          <a:blip r:embed="rId2">
            <a:lum/>
          </a:blip>
          <a:srcRect/>
          <a:stretch>
            <a:fillRect l="0" t="0" r="0" b="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rot="0" flipH="false" flipV="false"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F172A">
              <a:alpha val="60000"/>
            </a:srgbClr>
          </a:soli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3" id="3"/>
          <p:cNvSpPr/>
          <p:nvPr/>
        </p:nvSpPr>
        <p:spPr>
          <a:xfrm rot="0" flipH="false" flipV="false">
            <a:off x="3556000" y="889000"/>
            <a:ext cx="5080000" cy="5080000"/>
          </a:xfrm>
          <a:prstGeom prst="ellipse">
            <a:avLst/>
          </a:prstGeom>
          <a:gradFill rotWithShape="true">
            <a:gsLst>
              <a:gs pos="0">
                <a:srgbClr val="22D3EE">
                  <a:alpha val="25000"/>
                </a:srgbClr>
              </a:gs>
              <a:gs pos="70000">
                <a:srgbClr val="22D3EE">
                  <a:alpha val="0"/>
                </a:srgbClr>
              </a:gs>
            </a:gsLst>
            <a:path path="circle">
              <a:fillToRect l="50000" r="50000" t="50000" b="50000"/>
            </a:path>
            <a:tileRect t="0" b="0" l="0" r="0"/>
          </a:gradFill>
          <a:ln w="25400" cmpd="sng" cap="flat">
            <a:noFill/>
            <a:prstDash val="solid"/>
            <a:round/>
          </a:ln>
        </p:spPr>
        <p:txBody>
          <a:bodyPr anchor="ctr" rtlCol="false" vert="horz" wrap="square" lIns="63500" rIns="63500" tIns="63500" bIns="63500"/>
          <a:lstStyle/>
          <a:p>
            <a:pPr algn="ctr">
              <a:defRPr/>
            </a:pPr>
            <a:endParaRPr/>
          </a:p>
        </p:txBody>
      </p:sp>
      <p:sp>
        <p:nvSpPr>
          <p:cNvPr name="AutoShape 4" id="4"/>
          <p:cNvSpPr/>
          <p:nvPr/>
        </p:nvSpPr>
        <p:spPr>
          <a:xfrm rot="0" flipH="false" flipV="false">
            <a:off x="1016000" y="2603500"/>
            <a:ext cx="10160000" cy="1016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  <a:effectLst>
            <a:outerShdw dir="2700000" dist="0" blurRad="254000" algn="tl" rotWithShape="false">
              <a:srgbClr val="22D3EE">
                <a:alpha val="40000"/>
              </a:srgbClr>
            </a:outerShdw>
          </a:effectLst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true" i="false" strike="noStrike" u="none" sz="640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Q &amp; A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 rot="0" flipH="false" flipV="false">
            <a:off x="1016000" y="3873500"/>
            <a:ext cx="10160000" cy="635000"/>
          </a:xfrm>
          <a:prstGeom prst="rect">
            <a:avLst/>
          </a:prstGeom>
          <a:noFill/>
          <a:ln w="12700" cmpd="sng" cap="flat">
            <a:noFill/>
            <a:prstDash val="solid"/>
            <a:round/>
          </a:ln>
        </p:spPr>
        <p:txBody>
          <a:bodyPr anchor="ctr" rtlCol="false" anchorCtr="false" vert="horz" wrap="square" lIns="0" rIns="0" tIns="0" bIns="0"/>
          <a:lstStyle/>
          <a:p>
            <a:pPr algn="ctr" marL="0" indent="0">
              <a:lnSpc>
                <a:spcPct val="125000"/>
              </a:lnSpc>
              <a:defRPr/>
            </a:pPr>
            <a:r>
              <a:rPr lang="en-US" b="false" i="false" strike="noStrike" u="none" sz="2800" spc="400">
                <a:solidFill>
                  <a:srgbClr val="22D3EE"/>
                </a:solidFill>
                <a:latin typeface="Noto Sans SC"/>
                <a:ea typeface="Noto Sans SC"/>
                <a:cs typeface="Noto Sans SC"/>
                <a:sym typeface="Noto Sans SC"/>
              </a:rPr>
              <a:t>感谢聆听！</a:t>
            </a:r>
            <a:endParaRPr lang="en-US" sz="1100"/>
          </a:p>
        </p:txBody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0" y="6190112"/>
            <a:ext cx="1524000" cy="6678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