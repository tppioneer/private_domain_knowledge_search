
<file path=[Content_Types].xml><?xml version="1.0" encoding="utf-8"?>
<Types xmlns="http://schemas.openxmlformats.org/package/2006/content-types">
  <Default ContentType="image/jpeg" Extension="jpeg"/>
  <Default ContentType="image/png" Extension="png"/>
  <Default ContentType="application/vnd.openxmlformats-package.relationships+xml" Extension="rels"/>
  <Default ContentType="image/svg+xml" Extension="svg"/>
  <Default ContentType="application/xml" Extension="xml"/>
  <Override ContentType="application/vnd.openxmlformats-package.core-properties+xml" PartName="/docProps/core.xml"/>
  <Override ContentType="application/vnd.openxmlformats-officedocument.presentationml.notesMaster+xml" PartName="/ppt/notesMasters/notesMaster1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0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12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Master+xml" PartName="/ppt/slideMasters/slideMaster1.xml"/>
  <Override ContentType="application/vnd.openxmlformats-officedocument.presentationml.slideMaster+xml" PartName="/ppt/slideMasters/slideMaster2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slide+xml" PartName="/ppt/slides/slide7.xml"/>
  <Override ContentType="application/vnd.openxmlformats-officedocument.presentationml.slide+xml" PartName="/ppt/slides/slide8.xml"/>
  <Override ContentType="application/vnd.openxmlformats-officedocument.presentationml.slide+xml" PartName="/ppt/slides/slide9.xml"/>
  <Override ContentType="application/vnd.openxmlformats-officedocument.presentationml.slide+xml" PartName="/ppt/slides/slide10.xml"/>
  <Override ContentType="application/vnd.openxmlformats-officedocument.presentationml.slide+xml" PartName="/ppt/slides/slide11.xml"/>
  <Override ContentType="application/vnd.openxmlformats-officedocument.presentationml.slide+xml" PartName="/ppt/slides/slide12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core.xml" Type="http://schemas.openxmlformats.org/package/2006/relationships/metadata/core-properties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  <p:sldMasterId id="2147483660" r:id="rId8"/>
  </p:sldMasterIdLst>
  <p:notesMasterIdLst>
    <p:notesMasterId r:id="rId6"/>
  </p:notesMasterIdLst>
  <p:sldIdLst>
    <p:sldId id="256" r:id="rId9"/>
    <p:sldId id="257" r:id="rId10"/>
    <p:sldId id="258" r:id="rId11"/>
    <p:sldId id="259" r:id="rId12"/>
    <p:sldId id="260" r:id="rId13"/>
    <p:sldId id="261" r:id="rId14"/>
    <p:sldId id="262" r:id="rId15"/>
    <p:sldId id="263" r:id="rId16"/>
    <p:sldId id="264" r:id="rId17"/>
    <p:sldId id="265" r:id="rId18"/>
    <p:sldId id="266" r:id="rId19"/>
    <p:sldId id="267" r:id="rId20"/>
  </p:sldIdLst>
  <p:sldSz cx="12192000" cy="6858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 mar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 marL="45720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 marL="91440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 marL="137160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 marL="182880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 marL="228600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 marL="274320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 marL="320040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 marL="365760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<Relationships xmlns="http://schemas.openxmlformats.org/package/2006/relationships"><Relationship Id="rId1" Target="theme/theme1.xml" Type="http://schemas.openxmlformats.org/officeDocument/2006/relationships/theme"/><Relationship Id="rId10" Target="slides/slide2.xml" Type="http://schemas.openxmlformats.org/officeDocument/2006/relationships/slide"/><Relationship Id="rId11" Target="slides/slide3.xml" Type="http://schemas.openxmlformats.org/officeDocument/2006/relationships/slide"/><Relationship Id="rId12" Target="slides/slide4.xml" Type="http://schemas.openxmlformats.org/officeDocument/2006/relationships/slide"/><Relationship Id="rId13" Target="slides/slide5.xml" Type="http://schemas.openxmlformats.org/officeDocument/2006/relationships/slide"/><Relationship Id="rId14" Target="slides/slide6.xml" Type="http://schemas.openxmlformats.org/officeDocument/2006/relationships/slide"/><Relationship Id="rId15" Target="slides/slide7.xml" Type="http://schemas.openxmlformats.org/officeDocument/2006/relationships/slide"/><Relationship Id="rId16" Target="slides/slide8.xml" Type="http://schemas.openxmlformats.org/officeDocument/2006/relationships/slide"/><Relationship Id="rId17" Target="slides/slide9.xml" Type="http://schemas.openxmlformats.org/officeDocument/2006/relationships/slide"/><Relationship Id="rId18" Target="slides/slide10.xml" Type="http://schemas.openxmlformats.org/officeDocument/2006/relationships/slide"/><Relationship Id="rId19" Target="slides/slide11.xml" Type="http://schemas.openxmlformats.org/officeDocument/2006/relationships/slide"/><Relationship Id="rId2" Target="viewProps.xml" Type="http://schemas.openxmlformats.org/officeDocument/2006/relationships/viewProps"/><Relationship Id="rId20" Target="slides/slide12.xml" Type="http://schemas.openxmlformats.org/officeDocument/2006/relationships/slide"/><Relationship Id="rId21" Target="notesSlides/notesSlide1.xml" Type="http://schemas.openxmlformats.org/officeDocument/2006/relationships/notesSlide"/><Relationship Id="rId22" Target="notesSlides/notesSlide2.xml" Type="http://schemas.openxmlformats.org/officeDocument/2006/relationships/notesSlide"/><Relationship Id="rId23" Target="notesSlides/notesSlide3.xml" Type="http://schemas.openxmlformats.org/officeDocument/2006/relationships/notesSlide"/><Relationship Id="rId24" Target="notesSlides/notesSlide4.xml" Type="http://schemas.openxmlformats.org/officeDocument/2006/relationships/notesSlide"/><Relationship Id="rId25" Target="notesSlides/notesSlide5.xml" Type="http://schemas.openxmlformats.org/officeDocument/2006/relationships/notesSlide"/><Relationship Id="rId26" Target="notesSlides/notesSlide6.xml" Type="http://schemas.openxmlformats.org/officeDocument/2006/relationships/notesSlide"/><Relationship Id="rId27" Target="notesSlides/notesSlide7.xml" Type="http://schemas.openxmlformats.org/officeDocument/2006/relationships/notesSlide"/><Relationship Id="rId28" Target="notesSlides/notesSlide8.xml" Type="http://schemas.openxmlformats.org/officeDocument/2006/relationships/notesSlide"/><Relationship Id="rId29" Target="notesSlides/notesSlide9.xml" Type="http://schemas.openxmlformats.org/officeDocument/2006/relationships/notesSlide"/><Relationship Id="rId3" Target="presProps.xml" Type="http://schemas.openxmlformats.org/officeDocument/2006/relationships/presProps"/><Relationship Id="rId30" Target="notesSlides/notesSlide10.xml" Type="http://schemas.openxmlformats.org/officeDocument/2006/relationships/notesSlide"/><Relationship Id="rId31" Target="notesSlides/notesSlide11.xml" Type="http://schemas.openxmlformats.org/officeDocument/2006/relationships/notesSlide"/><Relationship Id="rId32" Target="notesSlides/notesSlide12.xml" Type="http://schemas.openxmlformats.org/officeDocument/2006/relationships/notesSlide"/><Relationship Id="rId4" Target="slideMasters/slideMaster1.xml" Type="http://schemas.openxmlformats.org/officeDocument/2006/relationships/slideMaster"/><Relationship Id="rId6" Target="notesMasters/notesMaster1.xml" Type="http://schemas.openxmlformats.org/officeDocument/2006/relationships/notesMaster"/><Relationship Id="rId7" Target="theme/theme2.xml" Type="http://schemas.openxmlformats.org/officeDocument/2006/relationships/theme"/><Relationship Id="rId8" Target="slideMasters/slideMaster2.xml" Type="http://schemas.openxmlformats.org/officeDocument/2006/relationships/slideMaster"/><Relationship Id="rId9" Target="slides/slide1.xml" Type="http://schemas.openxmlformats.org/officeDocument/2006/relationships/slide"/></Relationships>
</file>

<file path=ppt/notesMasters/_rels/notesMaster1.xml.rels><?xml version="1.0" encoding="UTF-8" standalone="yes"?><Relationships xmlns="http://schemas.openxmlformats.org/package/2006/relationships"><Relationship Id="rId1" Target="../theme/theme2.xml" Type="http://schemas.openxmlformats.org/officeDocument/2006/relationships/theme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268E1E-0E44-426D-905E-8AD9B19D2182}" type="datetimeFigureOut">
              <a:rPr lang="cs-CZ" smtClean="0"/>
              <a:t>1.7.2013</a:t>
            </a:fld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cs-CZ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1B2431-D351-4C6E-A3CF-9DFAC0E3E050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7988891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.xml" Type="http://schemas.openxmlformats.org/officeDocument/2006/relationships/slide"/></Relationships>
</file>

<file path=ppt/notesSlides/_rels/notesSlide2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2.xml" Type="http://schemas.openxmlformats.org/officeDocument/2006/relationships/slide"/></Relationships>
</file>

<file path=ppt/notesSlides/_rels/notesSlide3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3.xml" Type="http://schemas.openxmlformats.org/officeDocument/2006/relationships/slide"/></Relationships>
</file>

<file path=ppt/notesSlides/_rels/notesSlide4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4.xml" Type="http://schemas.openxmlformats.org/officeDocument/2006/relationships/slide"/></Relationships>
</file>

<file path=ppt/notesSlides/_rels/notesSlide5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5.xml" Type="http://schemas.openxmlformats.org/officeDocument/2006/relationships/slide"/></Relationships>
</file>

<file path=ppt/notesSlides/_rels/notesSlide6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6.xml" Type="http://schemas.openxmlformats.org/officeDocument/2006/relationships/slide"/></Relationships>
</file>

<file path=ppt/notesSlides/_rels/notesSlide7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7.xml" Type="http://schemas.openxmlformats.org/officeDocument/2006/relationships/slide"/></Relationships>
</file>

<file path=ppt/notesSlides/_rels/notesSlide8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8.xml" Type="http://schemas.openxmlformats.org/officeDocument/2006/relationships/slide"/></Relationships>
</file>

<file path=ppt/notesSlides/_rels/notesSlide9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9.xml" Type="http://schemas.openxmlformats.org/officeDocument/2006/relationships/slide"/></Relationships>
</file>

<file path=ppt/notesSlides/_rels/notesSlide10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0.xml" Type="http://schemas.openxmlformats.org/officeDocument/2006/relationships/slide"/></Relationships>
</file>

<file path=ppt/notesSlides/_rels/notesSlide11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1.xml" Type="http://schemas.openxmlformats.org/officeDocument/2006/relationships/slide"/></Relationships>
</file>

<file path=ppt/notesSlides/_rels/notesSlide12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2.xml" Type="http://schemas.openxmlformats.org/officeDocument/2006/relationships/slide"/></Relationships>
</file>

<file path=ppt/notesSlides/notesSlide1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false" i="false" u="none" strike="noStrike"/>
            </a:lvl1pPr>
          </a:lstStyle>
          <a:p>
            <a:pPr algn="l" indent="0">
              <a:lnSpc>
                <a:spcPct val="100000"/>
              </a:lnSpc>
            </a:pPr>
            <a:r>
              <a:rPr lang="en-US" b="false" i="false" strike="noStrike" u="none" sz="1400">
                <a:solidFill>
                  <a:srgbClr val="000000"/>
                </a:solidFill>
              </a:rPr>
              <a:t>大家好，今天我将向各位专家汇报我们关于“私域知识赋能AI Coding工具”的技术方案。我们的目标是打造一个真正懂业务的AI Copilot，解决当前通用AI编程工具在企业应用中的痛点。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false" i="false" u="none" strike="noStrike"/>
            </a:lvl1pPr>
          </a:lstStyle>
          <a:p>
            <a:pPr algn="l" indent="0">
              <a:lnSpc>
                <a:spcPct val="100000"/>
              </a:lnSpc>
            </a:pPr>
            <a:r>
              <a:rPr lang="en-US" b="false" i="false" strike="noStrike" u="none" sz="1400">
                <a:solidFill>
                  <a:srgbClr val="000000"/>
                </a:solidFill>
              </a:rPr>
              <a:t>当前AI编程面临两大困境。一方面，通用模型存在“知识盲区”，不了解企业的私有知识和规范。另一方面，开发者陷入“低效循环”，需要花费大量时间调教AI。核心问题在于通用AI与企业私域知识之间存在巨大鸿沟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false" i="false" u="none" strike="noStrike"/>
            </a:lvl1pPr>
          </a:lstStyle>
          <a:p>
            <a:pPr algn="l" indent="0">
              <a:lnSpc>
                <a:spcPct val="100000"/>
              </a:lnSpc>
            </a:pPr>
            <a:r>
              <a:rPr lang="en-US" b="false" i="false" strike="noStrike" u="none" sz="1400">
                <a:solidFill>
                  <a:srgbClr val="000000"/>
                </a:solidFill>
              </a:rPr>
              <a:t>我们的目标是构建一个以私域知识工程为核心的技术体系，让AI能自动理解企业知识，并在需求开发、问题定位和代码检视三大场景中精准赋能。最终，我们希望将AI打造成每个开发者的专属专家，全面提升开发效率和质量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false" i="false" u="none" strike="noStrike"/>
            </a:lvl1pPr>
          </a:lstStyle>
          <a:p>
            <a:pPr algn="l" indent="0">
              <a:lnSpc>
                <a:spcPct val="100000"/>
              </a:lnSpc>
            </a:pPr>
            <a:r>
              <a:rPr lang="en-US" b="false" i="false" strike="noStrike" u="none" sz="1400">
                <a:solidFill>
                  <a:srgbClr val="000000"/>
                </a:solidFill>
              </a:rPr>
              <a:t>我们的技术架构核心是Spec和RAG双引擎驱动。Spec引擎保证规范性，RAG引擎增强智能性。整个系统从数据源层开始，经过加工、存储、检索，最终通过AI Coding工具为开发者服务，并通过运营反馈闭环实现持续优化。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false" i="false" u="none" strike="noStrike"/>
            </a:lvl1pPr>
          </a:lstStyle>
          <a:p>
            <a:pPr algn="l" indent="0">
              <a:lnSpc>
                <a:spcPct val="100000"/>
              </a:lnSpc>
            </a:pPr>
            <a:r>
              <a:rPr lang="en-US" b="false" i="false" strike="noStrike" u="none" sz="1400">
                <a:solidFill>
                  <a:srgbClr val="000000"/>
                </a:solidFill>
              </a:rPr>
              <a:t>这张图详细展示了数据的生命周期。从数据采集开始，经过知识加工、存储，再到检索与生成，最终在应用中产生反馈，形成一个完整的闭环。这个流程确保了私域知识能够高效、准确地从源头传递到AI生成环节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false" i="false" u="none" strike="noStrike"/>
            </a:lvl1pPr>
          </a:lstStyle>
          <a:p>
            <a:pPr algn="l" indent="0">
              <a:lnSpc>
                <a:spcPct val="100000"/>
              </a:lnSpc>
            </a:pPr>
            <a:r>
              <a:rPr lang="en-US" b="false" i="false" strike="noStrike" u="none" sz="1400">
                <a:solidFill>
                  <a:srgbClr val="000000"/>
                </a:solidFill>
              </a:rPr>
              <a:t>我们将私域知识分为四大类并进行结构化。在数据预处理方面，文档分块与向量化效果待验证，而代码知识图谱的深度分析和生产级索引建设则有待实现。轻量级模式已完成验证。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false" i="false" u="none" strike="noStrike"/>
            </a:lvl1pPr>
          </a:lstStyle>
          <a:p>
            <a:pPr algn="l" indent="0">
              <a:lnSpc>
                <a:spcPct val="100000"/>
              </a:lnSpc>
            </a:pPr>
            <a:r>
              <a:rPr lang="en-US" b="false" i="false" strike="noStrike" u="none" sz="1400">
                <a:solidFill>
                  <a:srgbClr val="000000"/>
                </a:solidFill>
              </a:rPr>
              <a:t>我们设计了三种触发机制来确保知识注入的精准性。通过MCP协议，我们将后端知识服务与IDE无缝集成。为保障检索效果，我们采用混合检索策略，并计划引入Cross-BERT进行重排序，目前该模型待实现。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false" i="false" u="none" strike="noStrike"/>
            </a:lvl1pPr>
          </a:lstStyle>
          <a:p>
            <a:pPr algn="l" indent="0">
              <a:lnSpc>
                <a:spcPct val="100000"/>
              </a:lnSpc>
            </a:pPr>
            <a:r>
              <a:rPr lang="en-US" b="false" i="false" strike="noStrike" u="none" sz="1400">
                <a:solidFill>
                  <a:srgbClr val="000000"/>
                </a:solidFill>
              </a:rPr>
              <a:t>我们的方案聚焦于三大核心应用场景：需求开发、问题定位和代码检视。目前，需求开发场景已部分验证，而问题定位和代码检视场景的端到端效果仍待验证。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false" i="false" u="none" strike="noStrike"/>
            </a:lvl1pPr>
          </a:lstStyle>
          <a:p>
            <a:pPr algn="l" indent="0">
              <a:lnSpc>
                <a:spcPct val="100000"/>
              </a:lnSpc>
            </a:pPr>
            <a:r>
              <a:rPr lang="en-US" b="false" i="false" strike="noStrike" u="none" sz="1400">
                <a:solidFill>
                  <a:srgbClr val="000000"/>
                </a:solidFill>
              </a:rPr>
              <a:t>这是我们的技术选型。我们为每个组件都提供了轻量和生产两种方案，以适应不同阶段的需求。其中，LLM的选择核心考量是数据隐私与安全，必须确保私域数据不出境。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false" i="false" u="none" strike="noStrike"/>
            </a:lvl1pPr>
          </a:lstStyle>
          <a:p>
            <a:pPr algn="l" indent="0">
              <a:lnSpc>
                <a:spcPct val="100000"/>
              </a:lnSpc>
            </a:pPr>
            <a:r>
              <a:rPr lang="en-US" b="false" i="false" strike="noStrike" u="none" sz="1400">
                <a:solidFill>
                  <a:srgbClr val="000000"/>
                </a:solidFill>
              </a:rPr>
              <a:t>我们识别了四大潜在风险，并制定了相应的应对策略。针对知识库陈旧、检索延迟、数据泄露和检索噪音等问题，我们都有具体的技术和流程方案来规避和解决。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false" i="false" u="none" strike="noStrike"/>
            </a:lvl1pPr>
          </a:lstStyle>
          <a:p>
            <a:pPr algn="l" indent="0">
              <a:lnSpc>
                <a:spcPct val="100000"/>
              </a:lnSpc>
            </a:pPr>
            <a:r>
              <a:rPr lang="en-US" b="false" i="false" strike="noStrike" u="none" sz="1400">
                <a:solidFill>
                  <a:srgbClr val="000000"/>
                </a:solidFill>
              </a:rPr>
              <a:t>目前，项目已完成轻量级原型验证，但生产级部署和部分核心功能仍待实现。下一步，我们将聚焦于企业私域数据的准备和全链路的端到端验证，这是Pilot阶段的最高优先级任务。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false" i="false" u="none" strike="noStrike"/>
            </a:lvl1pPr>
          </a:lstStyle>
          <a:p>
            <a:pPr algn="l" indent="0">
              <a:lnSpc>
                <a:spcPct val="100000"/>
              </a:lnSpc>
            </a:pPr>
            <a:r>
              <a:rPr lang="en-US" b="false" i="false" strike="noStrike" u="none" sz="1400">
                <a:solidFill>
                  <a:srgbClr val="000000"/>
                </a:solidFill>
              </a:rPr>
              <a:t>总结来说，本项目将显著提升开发效率和代码质量，并沉淀技术资产。展望未来，我们将致力于将AI从工具升级为伙伴，并探索多模态知识融合和预测性开发等更前沿的方向。我们相信，我们正在构建的是未来软件开发的新范式。感谢大家的聆听！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2.xml.rels><?xml version="1.0" encoding="UTF-8" standalone="yes"?><Relationships xmlns="http://schemas.openxmlformats.org/package/2006/relationships"><Relationship Id="rId1" Target="../slideMasters/slideMaster2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标题幻灯片" type="title">
  <p:cSld name="TITLE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Shape 30"/>
          <p:cNvSpPr txBox="1"/>
          <p:nvPr>
            <p:ph type="ctrTitle"/>
          </p:nvPr>
        </p:nvSpPr>
        <p:spPr>
          <a:xfrm>
            <a:off x="1143000" y="841772"/>
            <a:ext cx="68580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Arial"/>
              <a:buNone/>
              <a:defRPr sz="45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3" name="Shape 31"/>
          <p:cNvSpPr txBox="1"/>
          <p:nvPr>
            <p:ph idx="1" type="subTitle"/>
          </p:nvPr>
        </p:nvSpPr>
        <p:spPr>
          <a:xfrm>
            <a:off x="1143000" y="2701528"/>
            <a:ext cx="6858000" cy="124182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lvl="0" algn="ctr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1pPr>
            <a:lvl2pPr lvl="1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9pPr>
          </a:lstStyle>
          <a:p/>
        </p:txBody>
      </p:sp>
      <p:sp>
        <p:nvSpPr>
          <p:cNvPr id="14" name="Shape 32"/>
          <p:cNvSpPr txBox="1"/>
          <p:nvPr>
            <p:ph idx="10" type="dt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5" name="Shape 33"/>
          <p:cNvSpPr txBox="1"/>
          <p:nvPr>
            <p:ph idx="11" type="ftr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6" name="Shape 34"/>
          <p:cNvSpPr txBox="1"/>
          <p:nvPr>
            <p:ph idx="12" type="sldNum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标题和内容" type="obj">
  <p:cSld name="OBJECT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Shape 54"/>
          <p:cNvSpPr txBox="1"/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9" name="Shape 55"/>
          <p:cNvSpPr txBox="1"/>
          <p:nvPr>
            <p:ph idx="1" type="body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175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indent="-3175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20" name="Shape 56"/>
          <p:cNvSpPr txBox="1"/>
          <p:nvPr>
            <p:ph idx="10" type="dt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21" name="Shape 57"/>
          <p:cNvSpPr txBox="1"/>
          <p:nvPr>
            <p:ph idx="11" type="ftr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22" name="Shape 58"/>
          <p:cNvSpPr txBox="1"/>
          <p:nvPr>
            <p:ph idx="12" type="sldNum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节标题" type="secHead">
  <p:cSld name="SECTION_HEADER">
    <p:spTree>
      <p:nvGrpSpPr>
        <p:cNvPr id="23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Shape 59"/>
          <p:cNvSpPr txBox="1"/>
          <p:nvPr>
            <p:ph type="title"/>
          </p:nvPr>
        </p:nvSpPr>
        <p:spPr>
          <a:xfrm>
            <a:off x="623888" y="1282304"/>
            <a:ext cx="7886700" cy="2139553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Arial"/>
              <a:buNone/>
              <a:defRPr sz="45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25" name="Shape 60"/>
          <p:cNvSpPr txBox="1"/>
          <p:nvPr>
            <p:ph idx="1" type="body"/>
          </p:nvPr>
        </p:nvSpPr>
        <p:spPr>
          <a:xfrm>
            <a:off x="623888" y="3442097"/>
            <a:ext cx="7886700" cy="112514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 sz="15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26" name="Shape 61"/>
          <p:cNvSpPr txBox="1"/>
          <p:nvPr>
            <p:ph idx="10" type="dt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27" name="Shape 62"/>
          <p:cNvSpPr txBox="1"/>
          <p:nvPr>
            <p:ph idx="11" type="ftr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28" name="Shape 63"/>
          <p:cNvSpPr txBox="1"/>
          <p:nvPr>
            <p:ph idx="12" type="sldNum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两栏内容" type="twoObj">
  <p:cSld name="TWO_OBJECTS">
    <p:spTree>
      <p:nvGrpSpPr>
        <p:cNvPr id="29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Shape 9"/>
          <p:cNvSpPr txBox="1"/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31" name="Shape 10"/>
          <p:cNvSpPr txBox="1"/>
          <p:nvPr>
            <p:ph idx="1" type="body"/>
          </p:nvPr>
        </p:nvSpPr>
        <p:spPr>
          <a:xfrm>
            <a:off x="628650" y="1369219"/>
            <a:ext cx="3886200" cy="3263504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175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indent="-3175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32" name="Shape 11"/>
          <p:cNvSpPr txBox="1"/>
          <p:nvPr>
            <p:ph idx="2" type="body"/>
          </p:nvPr>
        </p:nvSpPr>
        <p:spPr>
          <a:xfrm>
            <a:off x="4629150" y="1369219"/>
            <a:ext cx="3886200" cy="3263504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175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indent="-3175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33" name="Shape 12"/>
          <p:cNvSpPr txBox="1"/>
          <p:nvPr>
            <p:ph idx="10" type="dt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34" name="Shape 13"/>
          <p:cNvSpPr txBox="1"/>
          <p:nvPr>
            <p:ph idx="11" type="ftr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35" name="Shape 14"/>
          <p:cNvSpPr txBox="1"/>
          <p:nvPr>
            <p:ph idx="12" type="sldNum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比较" type="twoTxTwoObj">
  <p:cSld name="TWO_OBJECTS_WITH_TEXT">
    <p:spTree>
      <p:nvGrpSpPr>
        <p:cNvPr id="36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Shape 35"/>
          <p:cNvSpPr txBox="1"/>
          <p:nvPr>
            <p:ph type="title"/>
          </p:nvPr>
        </p:nvSpPr>
        <p:spPr>
          <a:xfrm>
            <a:off x="629841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38" name="Shape 36"/>
          <p:cNvSpPr txBox="1"/>
          <p:nvPr>
            <p:ph idx="1" type="body"/>
          </p:nvPr>
        </p:nvSpPr>
        <p:spPr>
          <a:xfrm>
            <a:off x="629841" y="1260872"/>
            <a:ext cx="3868340" cy="617934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1pPr>
            <a:lvl2pPr indent="-2286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b="1" sz="15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b="1" sz="14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9pPr>
          </a:lstStyle>
          <a:p/>
        </p:txBody>
      </p:sp>
      <p:sp>
        <p:nvSpPr>
          <p:cNvPr id="39" name="Shape 37"/>
          <p:cNvSpPr txBox="1"/>
          <p:nvPr>
            <p:ph idx="2" type="body"/>
          </p:nvPr>
        </p:nvSpPr>
        <p:spPr>
          <a:xfrm>
            <a:off x="629841" y="1878806"/>
            <a:ext cx="3868340" cy="276344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175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indent="-3175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40" name="Shape 38"/>
          <p:cNvSpPr txBox="1"/>
          <p:nvPr>
            <p:ph idx="3" type="body"/>
          </p:nvPr>
        </p:nvSpPr>
        <p:spPr>
          <a:xfrm>
            <a:off x="4629150" y="1260872"/>
            <a:ext cx="3887391" cy="617934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1pPr>
            <a:lvl2pPr indent="-2286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b="1" sz="15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b="1" sz="14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9pPr>
          </a:lstStyle>
          <a:p/>
        </p:txBody>
      </p:sp>
      <p:sp>
        <p:nvSpPr>
          <p:cNvPr id="41" name="Shape 39"/>
          <p:cNvSpPr txBox="1"/>
          <p:nvPr>
            <p:ph idx="4" type="body"/>
          </p:nvPr>
        </p:nvSpPr>
        <p:spPr>
          <a:xfrm>
            <a:off x="4629150" y="1878806"/>
            <a:ext cx="3887391" cy="276344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175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indent="-3175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42" name="Shape 40"/>
          <p:cNvSpPr txBox="1"/>
          <p:nvPr>
            <p:ph idx="10" type="dt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43" name="Shape 41"/>
          <p:cNvSpPr txBox="1"/>
          <p:nvPr>
            <p:ph idx="11" type="ftr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44" name="Shape 42"/>
          <p:cNvSpPr txBox="1"/>
          <p:nvPr>
            <p:ph idx="12" type="sldNum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仅标题" type="titleOnly">
  <p:cSld name="TITLE_ONLY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Shape 20"/>
          <p:cNvSpPr txBox="1"/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47" name="Shape 21"/>
          <p:cNvSpPr txBox="1"/>
          <p:nvPr>
            <p:ph idx="10" type="dt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48" name="Shape 22"/>
          <p:cNvSpPr txBox="1"/>
          <p:nvPr>
            <p:ph idx="11" type="ftr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49" name="Shape 23"/>
          <p:cNvSpPr txBox="1"/>
          <p:nvPr>
            <p:ph idx="12" type="sldNum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空白" type="blank">
  <p:cSld name="BLANK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Shape 6"/>
          <p:cNvSpPr txBox="1"/>
          <p:nvPr>
            <p:ph idx="10" type="dt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52" name="Shape 7"/>
          <p:cNvSpPr txBox="1"/>
          <p:nvPr>
            <p:ph idx="11" type="ftr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53" name="Shape 8"/>
          <p:cNvSpPr txBox="1"/>
          <p:nvPr>
            <p:ph idx="12" type="sldNum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内容与标题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Shape 43"/>
          <p:cNvSpPr txBox="1"/>
          <p:nvPr>
            <p:ph type="title"/>
          </p:nvPr>
        </p:nvSpPr>
        <p:spPr>
          <a:xfrm>
            <a:off x="629841" y="342900"/>
            <a:ext cx="2949178" cy="120015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56" name="Shape 44"/>
          <p:cNvSpPr txBox="1"/>
          <p:nvPr>
            <p:ph idx="1" type="body"/>
          </p:nvPr>
        </p:nvSpPr>
        <p:spPr>
          <a:xfrm>
            <a:off x="3887391" y="740569"/>
            <a:ext cx="4629150" cy="3655219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810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6195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Char char="•"/>
              <a:defRPr sz="2100"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2385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4pPr>
            <a:lvl5pPr indent="-32385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5pPr>
            <a:lvl6pPr indent="-32385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6pPr>
            <a:lvl7pPr indent="-32385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7pPr>
            <a:lvl8pPr indent="-32385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8pPr>
            <a:lvl9pPr indent="-32385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9pPr>
          </a:lstStyle>
          <a:p/>
        </p:txBody>
      </p:sp>
      <p:sp>
        <p:nvSpPr>
          <p:cNvPr id="57" name="Shape 45"/>
          <p:cNvSpPr txBox="1"/>
          <p:nvPr>
            <p:ph idx="2" type="body"/>
          </p:nvPr>
        </p:nvSpPr>
        <p:spPr>
          <a:xfrm>
            <a:off x="629841" y="1543050"/>
            <a:ext cx="2949178" cy="285869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1pPr>
            <a:lvl2pPr indent="-2286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sz="11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9pPr>
          </a:lstStyle>
          <a:p/>
        </p:txBody>
      </p:sp>
      <p:sp>
        <p:nvSpPr>
          <p:cNvPr id="58" name="Shape 46"/>
          <p:cNvSpPr txBox="1"/>
          <p:nvPr>
            <p:ph idx="10" type="dt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59" name="Shape 47"/>
          <p:cNvSpPr txBox="1"/>
          <p:nvPr>
            <p:ph idx="11" type="ftr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0" name="Shape 48"/>
          <p:cNvSpPr txBox="1"/>
          <p:nvPr>
            <p:ph idx="12" type="sldNum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图片与标题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Shape 24"/>
          <p:cNvSpPr txBox="1"/>
          <p:nvPr>
            <p:ph type="title"/>
          </p:nvPr>
        </p:nvSpPr>
        <p:spPr>
          <a:xfrm>
            <a:off x="629841" y="342900"/>
            <a:ext cx="2949178" cy="120015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3" name="Shape 25"/>
          <p:cNvSpPr/>
          <p:nvPr>
            <p:ph idx="2" type="pic"/>
          </p:nvPr>
        </p:nvSpPr>
        <p:spPr>
          <a:xfrm>
            <a:off x="3887391" y="740569"/>
            <a:ext cx="4629150" cy="3655219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Shape 26"/>
          <p:cNvSpPr txBox="1"/>
          <p:nvPr>
            <p:ph idx="1" type="body"/>
          </p:nvPr>
        </p:nvSpPr>
        <p:spPr>
          <a:xfrm>
            <a:off x="629841" y="1543050"/>
            <a:ext cx="2949178" cy="285869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1pPr>
            <a:lvl2pPr indent="-2286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sz="11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9pPr>
          </a:lstStyle>
          <a:p/>
        </p:txBody>
      </p:sp>
      <p:sp>
        <p:nvSpPr>
          <p:cNvPr id="65" name="Shape 27"/>
          <p:cNvSpPr txBox="1"/>
          <p:nvPr>
            <p:ph idx="10" type="dt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6" name="Shape 28"/>
          <p:cNvSpPr txBox="1"/>
          <p:nvPr>
            <p:ph idx="11" type="ftr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7" name="Shape 29"/>
          <p:cNvSpPr txBox="1"/>
          <p:nvPr>
            <p:ph idx="12" type="sldNum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标题和竖排文字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Shape 49"/>
          <p:cNvSpPr txBox="1"/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0" name="Shape 50"/>
          <p:cNvSpPr txBox="1"/>
          <p:nvPr>
            <p:ph idx="1" type="body"/>
          </p:nvPr>
        </p:nvSpPr>
        <p:spPr>
          <a:xfrm rot="5400000">
            <a:off x="2940248" y="-942379"/>
            <a:ext cx="3263504" cy="78867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175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indent="-3175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71" name="Shape 51"/>
          <p:cNvSpPr txBox="1"/>
          <p:nvPr>
            <p:ph idx="10" type="dt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2" name="Shape 52"/>
          <p:cNvSpPr txBox="1"/>
          <p:nvPr>
            <p:ph idx="11" type="ftr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3" name="Shape 53"/>
          <p:cNvSpPr txBox="1"/>
          <p:nvPr>
            <p:ph idx="12" type="sldNum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竖排标题与文本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Shape 15"/>
          <p:cNvSpPr txBox="1"/>
          <p:nvPr>
            <p:ph type="title"/>
          </p:nvPr>
        </p:nvSpPr>
        <p:spPr>
          <a:xfrm rot="5400000">
            <a:off x="5350073" y="1467445"/>
            <a:ext cx="4358879" cy="1971675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6" name="Shape 16"/>
          <p:cNvSpPr txBox="1"/>
          <p:nvPr>
            <p:ph idx="1" type="body"/>
          </p:nvPr>
        </p:nvSpPr>
        <p:spPr>
          <a:xfrm rot="5400000">
            <a:off x="1349573" y="-447080"/>
            <a:ext cx="4358879" cy="5800725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175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indent="-3175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77" name="Shape 17"/>
          <p:cNvSpPr txBox="1"/>
          <p:nvPr>
            <p:ph idx="10" type="dt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8" name="Shape 18"/>
          <p:cNvSpPr txBox="1"/>
          <p:nvPr>
            <p:ph idx="11" type="ftr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9" name="Shape 19"/>
          <p:cNvSpPr txBox="1"/>
          <p:nvPr>
            <p:ph idx="12" type="sldNum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_rels/slideMaster2.xml.rels><?xml version="1.0" encoding="UTF-8" standalone="yes"?><Relationships xmlns="http://schemas.openxmlformats.org/package/2006/relationships"><Relationship Id="rId1" Target="../theme/theme3.xml" Type="http://schemas.openxmlformats.org/officeDocument/2006/relationships/theme"/><Relationship Id="rId2" Target="../slideLayouts/slideLayout12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hape 1"/>
          <p:cNvSpPr txBox="1"/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Arial"/>
              <a:buNone/>
              <a:defRPr b="0" i="0" sz="3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7" name="Shape 2"/>
          <p:cNvSpPr txBox="1"/>
          <p:nvPr>
            <p:ph idx="1" type="body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Shape 3"/>
          <p:cNvSpPr txBox="1"/>
          <p:nvPr>
            <p:ph idx="10" type="dt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9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" name="Shape 4"/>
          <p:cNvSpPr txBox="1"/>
          <p:nvPr>
            <p:ph idx="11" type="ftr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9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0" name="Shape 5"/>
          <p:cNvSpPr txBox="1"/>
          <p:nvPr>
            <p:ph idx="12" type="sldNum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默认主题">
    <p:bg>
      <p:bgPr>
        <a:solidFill>
          <a:srgbClr val="FFFFFF">
            <a:alpha val="100000"/>
          </a:srgbClr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57483699" r:id="rId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12.xml" Type="http://schemas.openxmlformats.org/officeDocument/2006/relationships/slideLayout"/><Relationship Id="rId2" Target="../media/image1.jpeg" Type="http://schemas.openxmlformats.org/officeDocument/2006/relationships/image"/><Relationship Id="rId3" Target="../notesSlides/notesSlide1.xml" Type="http://schemas.openxmlformats.org/officeDocument/2006/relationships/notesSlide"/></Relationships>
</file>

<file path=ppt/slides/_rels/slide2.xml.rels><?xml version="1.0" encoding="UTF-8" standalone="yes"?><Relationships xmlns="http://schemas.openxmlformats.org/package/2006/relationships"><Relationship Id="rId1" Target="../slideLayouts/slideLayout12.xml" Type="http://schemas.openxmlformats.org/officeDocument/2006/relationships/slideLayout"/><Relationship Id="rId2" Target="../media/image2.jpeg" Type="http://schemas.openxmlformats.org/officeDocument/2006/relationships/image"/><Relationship Id="rId3" Target="../media/image3.png" Type="http://schemas.openxmlformats.org/officeDocument/2006/relationships/image"/><Relationship Id="rId4" Target="../media/image4.svg" Type="http://schemas.openxmlformats.org/officeDocument/2006/relationships/image"/><Relationship Id="rId5" Target="../media/image5.png" Type="http://schemas.openxmlformats.org/officeDocument/2006/relationships/image"/><Relationship Id="rId6" Target="../media/image6.svg" Type="http://schemas.openxmlformats.org/officeDocument/2006/relationships/image"/><Relationship Id="rId7" Target="../media/image7.png" Type="http://schemas.openxmlformats.org/officeDocument/2006/relationships/image"/><Relationship Id="rId8" Target="../media/image8.svg" Type="http://schemas.openxmlformats.org/officeDocument/2006/relationships/image"/><Relationship Id="rId9" Target="../notesSlides/notesSlide2.xml" Type="http://schemas.openxmlformats.org/officeDocument/2006/relationships/notesSlide"/></Relationships>
</file>

<file path=ppt/slides/_rels/slide3.xml.rels><?xml version="1.0" encoding="UTF-8" standalone="yes"?><Relationships xmlns="http://schemas.openxmlformats.org/package/2006/relationships"><Relationship Id="rId1" Target="../slideLayouts/slideLayout12.xml" Type="http://schemas.openxmlformats.org/officeDocument/2006/relationships/slideLayout"/><Relationship Id="rId10" Target="../media/image16.svg" Type="http://schemas.openxmlformats.org/officeDocument/2006/relationships/image"/><Relationship Id="rId11" Target="../notesSlides/notesSlide3.xml" Type="http://schemas.openxmlformats.org/officeDocument/2006/relationships/notesSlide"/><Relationship Id="rId2" Target="../media/image2.jpeg" Type="http://schemas.openxmlformats.org/officeDocument/2006/relationships/image"/><Relationship Id="rId3" Target="../media/image9.png" Type="http://schemas.openxmlformats.org/officeDocument/2006/relationships/image"/><Relationship Id="rId4" Target="../media/image10.svg" Type="http://schemas.openxmlformats.org/officeDocument/2006/relationships/image"/><Relationship Id="rId5" Target="../media/image11.png" Type="http://schemas.openxmlformats.org/officeDocument/2006/relationships/image"/><Relationship Id="rId6" Target="../media/image12.svg" Type="http://schemas.openxmlformats.org/officeDocument/2006/relationships/image"/><Relationship Id="rId7" Target="../media/image13.png" Type="http://schemas.openxmlformats.org/officeDocument/2006/relationships/image"/><Relationship Id="rId8" Target="../media/image14.svg" Type="http://schemas.openxmlformats.org/officeDocument/2006/relationships/image"/><Relationship Id="rId9" Target="../media/image15.png" Type="http://schemas.openxmlformats.org/officeDocument/2006/relationships/image"/></Relationships>
</file>

<file path=ppt/slides/_rels/slide4.xml.rels><?xml version="1.0" encoding="UTF-8" standalone="yes"?><Relationships xmlns="http://schemas.openxmlformats.org/package/2006/relationships"><Relationship Id="rId1" Target="../slideLayouts/slideLayout12.xml" Type="http://schemas.openxmlformats.org/officeDocument/2006/relationships/slideLayout"/><Relationship Id="rId10" Target="../media/image24.svg" Type="http://schemas.openxmlformats.org/officeDocument/2006/relationships/image"/><Relationship Id="rId11" Target="../media/image25.png" Type="http://schemas.openxmlformats.org/officeDocument/2006/relationships/image"/><Relationship Id="rId12" Target="../media/image26.svg" Type="http://schemas.openxmlformats.org/officeDocument/2006/relationships/image"/><Relationship Id="rId13" Target="../media/image27.png" Type="http://schemas.openxmlformats.org/officeDocument/2006/relationships/image"/><Relationship Id="rId14" Target="../media/image28.svg" Type="http://schemas.openxmlformats.org/officeDocument/2006/relationships/image"/><Relationship Id="rId15" Target="../notesSlides/notesSlide4.xml" Type="http://schemas.openxmlformats.org/officeDocument/2006/relationships/notesSlide"/><Relationship Id="rId2" Target="../media/image2.jpeg" Type="http://schemas.openxmlformats.org/officeDocument/2006/relationships/image"/><Relationship Id="rId3" Target="../media/image17.png" Type="http://schemas.openxmlformats.org/officeDocument/2006/relationships/image"/><Relationship Id="rId4" Target="../media/image18.svg" Type="http://schemas.openxmlformats.org/officeDocument/2006/relationships/image"/><Relationship Id="rId5" Target="../media/image19.png" Type="http://schemas.openxmlformats.org/officeDocument/2006/relationships/image"/><Relationship Id="rId6" Target="../media/image20.svg" Type="http://schemas.openxmlformats.org/officeDocument/2006/relationships/image"/><Relationship Id="rId7" Target="../media/image21.png" Type="http://schemas.openxmlformats.org/officeDocument/2006/relationships/image"/><Relationship Id="rId8" Target="../media/image22.svg" Type="http://schemas.openxmlformats.org/officeDocument/2006/relationships/image"/><Relationship Id="rId9" Target="../media/image23.png" Type="http://schemas.openxmlformats.org/officeDocument/2006/relationships/image"/></Relationships>
</file>

<file path=ppt/slides/_rels/slide5.xml.rels><?xml version="1.0" encoding="UTF-8" standalone="yes"?><Relationships xmlns="http://schemas.openxmlformats.org/package/2006/relationships"><Relationship Id="rId1" Target="../slideLayouts/slideLayout12.xml" Type="http://schemas.openxmlformats.org/officeDocument/2006/relationships/slideLayout"/><Relationship Id="rId10" Target="../media/image24.svg" Type="http://schemas.openxmlformats.org/officeDocument/2006/relationships/image"/><Relationship Id="rId11" Target="../media/image25.png" Type="http://schemas.openxmlformats.org/officeDocument/2006/relationships/image"/><Relationship Id="rId12" Target="../media/image26.svg" Type="http://schemas.openxmlformats.org/officeDocument/2006/relationships/image"/><Relationship Id="rId13" Target="../media/image13.png" Type="http://schemas.openxmlformats.org/officeDocument/2006/relationships/image"/><Relationship Id="rId14" Target="../media/image14.svg" Type="http://schemas.openxmlformats.org/officeDocument/2006/relationships/image"/><Relationship Id="rId15" Target="../notesSlides/notesSlide5.xml" Type="http://schemas.openxmlformats.org/officeDocument/2006/relationships/notesSlide"/><Relationship Id="rId2" Target="../media/image2.jpeg" Type="http://schemas.openxmlformats.org/officeDocument/2006/relationships/image"/><Relationship Id="rId3" Target="../media/image29.png" Type="http://schemas.openxmlformats.org/officeDocument/2006/relationships/image"/><Relationship Id="rId4" Target="../media/image30.svg" Type="http://schemas.openxmlformats.org/officeDocument/2006/relationships/image"/><Relationship Id="rId5" Target="../media/image31.png" Type="http://schemas.openxmlformats.org/officeDocument/2006/relationships/image"/><Relationship Id="rId6" Target="../media/image32.svg" Type="http://schemas.openxmlformats.org/officeDocument/2006/relationships/image"/><Relationship Id="rId7" Target="../media/image21.png" Type="http://schemas.openxmlformats.org/officeDocument/2006/relationships/image"/><Relationship Id="rId8" Target="../media/image22.svg" Type="http://schemas.openxmlformats.org/officeDocument/2006/relationships/image"/><Relationship Id="rId9" Target="../media/image23.png" Type="http://schemas.openxmlformats.org/officeDocument/2006/relationships/image"/></Relationships>
</file>

<file path=ppt/slides/_rels/slide6.xml.rels><?xml version="1.0" encoding="UTF-8" standalone="yes"?><Relationships xmlns="http://schemas.openxmlformats.org/package/2006/relationships"><Relationship Id="rId1" Target="../slideLayouts/slideLayout12.xml" Type="http://schemas.openxmlformats.org/officeDocument/2006/relationships/slideLayout"/><Relationship Id="rId10" Target="../media/image38.svg" Type="http://schemas.openxmlformats.org/officeDocument/2006/relationships/image"/><Relationship Id="rId11" Target="../notesSlides/notesSlide6.xml" Type="http://schemas.openxmlformats.org/officeDocument/2006/relationships/notesSlide"/><Relationship Id="rId2" Target="../media/image2.jpeg" Type="http://schemas.openxmlformats.org/officeDocument/2006/relationships/image"/><Relationship Id="rId3" Target="../media/image33.png" Type="http://schemas.openxmlformats.org/officeDocument/2006/relationships/image"/><Relationship Id="rId4" Target="../media/image34.svg" Type="http://schemas.openxmlformats.org/officeDocument/2006/relationships/image"/><Relationship Id="rId5" Target="../media/image35.png" Type="http://schemas.openxmlformats.org/officeDocument/2006/relationships/image"/><Relationship Id="rId6" Target="../media/image36.svg" Type="http://schemas.openxmlformats.org/officeDocument/2006/relationships/image"/><Relationship Id="rId7" Target="../media/image27.png" Type="http://schemas.openxmlformats.org/officeDocument/2006/relationships/image"/><Relationship Id="rId8" Target="../media/image28.svg" Type="http://schemas.openxmlformats.org/officeDocument/2006/relationships/image"/><Relationship Id="rId9" Target="../media/image37.png" Type="http://schemas.openxmlformats.org/officeDocument/2006/relationships/image"/></Relationships>
</file>

<file path=ppt/slides/_rels/slide7.xml.rels><?xml version="1.0" encoding="UTF-8" standalone="yes"?><Relationships xmlns="http://schemas.openxmlformats.org/package/2006/relationships"><Relationship Id="rId1" Target="../slideLayouts/slideLayout12.xml" Type="http://schemas.openxmlformats.org/officeDocument/2006/relationships/slideLayout"/><Relationship Id="rId2" Target="../media/image2.jpeg" Type="http://schemas.openxmlformats.org/officeDocument/2006/relationships/image"/><Relationship Id="rId3" Target="../media/image39.png" Type="http://schemas.openxmlformats.org/officeDocument/2006/relationships/image"/><Relationship Id="rId4" Target="../media/image40.svg" Type="http://schemas.openxmlformats.org/officeDocument/2006/relationships/image"/><Relationship Id="rId5" Target="../media/image41.png" Type="http://schemas.openxmlformats.org/officeDocument/2006/relationships/image"/><Relationship Id="rId6" Target="../media/image42.svg" Type="http://schemas.openxmlformats.org/officeDocument/2006/relationships/image"/><Relationship Id="rId7" Target="../media/image11.png" Type="http://schemas.openxmlformats.org/officeDocument/2006/relationships/image"/><Relationship Id="rId8" Target="../media/image12.svg" Type="http://schemas.openxmlformats.org/officeDocument/2006/relationships/image"/><Relationship Id="rId9" Target="../notesSlides/notesSlide7.xml" Type="http://schemas.openxmlformats.org/officeDocument/2006/relationships/notesSlide"/></Relationships>
</file>

<file path=ppt/slides/_rels/slide8.xml.rels><?xml version="1.0" encoding="UTF-8" standalone="yes"?><Relationships xmlns="http://schemas.openxmlformats.org/package/2006/relationships"><Relationship Id="rId1" Target="../slideLayouts/slideLayout12.xml" Type="http://schemas.openxmlformats.org/officeDocument/2006/relationships/slideLayout"/><Relationship Id="rId2" Target="../media/image2.jpeg" Type="http://schemas.openxmlformats.org/officeDocument/2006/relationships/image"/><Relationship Id="rId3" Target="../media/image27.png" Type="http://schemas.openxmlformats.org/officeDocument/2006/relationships/image"/><Relationship Id="rId4" Target="../media/image28.svg" Type="http://schemas.openxmlformats.org/officeDocument/2006/relationships/image"/><Relationship Id="rId5" Target="../media/image25.png" Type="http://schemas.openxmlformats.org/officeDocument/2006/relationships/image"/><Relationship Id="rId6" Target="../media/image26.svg" Type="http://schemas.openxmlformats.org/officeDocument/2006/relationships/image"/><Relationship Id="rId7" Target="../media/image43.png" Type="http://schemas.openxmlformats.org/officeDocument/2006/relationships/image"/><Relationship Id="rId8" Target="../media/image44.svg" Type="http://schemas.openxmlformats.org/officeDocument/2006/relationships/image"/><Relationship Id="rId9" Target="../notesSlides/notesSlide8.xml" Type="http://schemas.openxmlformats.org/officeDocument/2006/relationships/notesSlide"/></Relationships>
</file>

<file path=ppt/slides/_rels/slide9.xml.rels><?xml version="1.0" encoding="UTF-8" standalone="yes"?><Relationships xmlns="http://schemas.openxmlformats.org/package/2006/relationships"><Relationship Id="rId1" Target="../slideLayouts/slideLayout12.xml" Type="http://schemas.openxmlformats.org/officeDocument/2006/relationships/slideLayout"/><Relationship Id="rId10" Target="../media/image48.svg" Type="http://schemas.openxmlformats.org/officeDocument/2006/relationships/image"/><Relationship Id="rId11" Target="../media/image49.png" Type="http://schemas.openxmlformats.org/officeDocument/2006/relationships/image"/><Relationship Id="rId12" Target="../media/image50.svg" Type="http://schemas.openxmlformats.org/officeDocument/2006/relationships/image"/><Relationship Id="rId13" Target="../media/image21.png" Type="http://schemas.openxmlformats.org/officeDocument/2006/relationships/image"/><Relationship Id="rId14" Target="../media/image22.svg" Type="http://schemas.openxmlformats.org/officeDocument/2006/relationships/image"/><Relationship Id="rId15" Target="../media/image51.png" Type="http://schemas.openxmlformats.org/officeDocument/2006/relationships/image"/><Relationship Id="rId16" Target="../media/image52.svg" Type="http://schemas.openxmlformats.org/officeDocument/2006/relationships/image"/><Relationship Id="rId17" Target="../media/image53.png" Type="http://schemas.openxmlformats.org/officeDocument/2006/relationships/image"/><Relationship Id="rId18" Target="../media/image54.svg" Type="http://schemas.openxmlformats.org/officeDocument/2006/relationships/image"/><Relationship Id="rId19" Target="../notesSlides/notesSlide9.xml" Type="http://schemas.openxmlformats.org/officeDocument/2006/relationships/notesSlide"/><Relationship Id="rId2" Target="../media/image2.jpeg" Type="http://schemas.openxmlformats.org/officeDocument/2006/relationships/image"/><Relationship Id="rId3" Target="../media/image17.png" Type="http://schemas.openxmlformats.org/officeDocument/2006/relationships/image"/><Relationship Id="rId4" Target="../media/image18.svg" Type="http://schemas.openxmlformats.org/officeDocument/2006/relationships/image"/><Relationship Id="rId5" Target="../media/image25.png" Type="http://schemas.openxmlformats.org/officeDocument/2006/relationships/image"/><Relationship Id="rId6" Target="../media/image26.svg" Type="http://schemas.openxmlformats.org/officeDocument/2006/relationships/image"/><Relationship Id="rId7" Target="../media/image45.png" Type="http://schemas.openxmlformats.org/officeDocument/2006/relationships/image"/><Relationship Id="rId8" Target="../media/image46.svg" Type="http://schemas.openxmlformats.org/officeDocument/2006/relationships/image"/><Relationship Id="rId9" Target="../media/image47.png" Type="http://schemas.openxmlformats.org/officeDocument/2006/relationships/image"/></Relationships>
</file>

<file path=ppt/slides/_rels/slide10.xml.rels><?xml version="1.0" encoding="UTF-8" standalone="yes"?><Relationships xmlns="http://schemas.openxmlformats.org/package/2006/relationships"><Relationship Id="rId1" Target="../slideLayouts/slideLayout12.xml" Type="http://schemas.openxmlformats.org/officeDocument/2006/relationships/slideLayout"/><Relationship Id="rId10" Target="../media/image60.svg" Type="http://schemas.openxmlformats.org/officeDocument/2006/relationships/image"/><Relationship Id="rId11" Target="../notesSlides/notesSlide10.xml" Type="http://schemas.openxmlformats.org/officeDocument/2006/relationships/notesSlide"/><Relationship Id="rId2" Target="../media/image2.jpeg" Type="http://schemas.openxmlformats.org/officeDocument/2006/relationships/image"/><Relationship Id="rId3" Target="../media/image55.png" Type="http://schemas.openxmlformats.org/officeDocument/2006/relationships/image"/><Relationship Id="rId4" Target="../media/image56.svg" Type="http://schemas.openxmlformats.org/officeDocument/2006/relationships/image"/><Relationship Id="rId5" Target="../media/image5.png" Type="http://schemas.openxmlformats.org/officeDocument/2006/relationships/image"/><Relationship Id="rId6" Target="../media/image6.svg" Type="http://schemas.openxmlformats.org/officeDocument/2006/relationships/image"/><Relationship Id="rId7" Target="../media/image57.png" Type="http://schemas.openxmlformats.org/officeDocument/2006/relationships/image"/><Relationship Id="rId8" Target="../media/image58.svg" Type="http://schemas.openxmlformats.org/officeDocument/2006/relationships/image"/><Relationship Id="rId9" Target="../media/image59.png" Type="http://schemas.openxmlformats.org/officeDocument/2006/relationships/image"/></Relationships>
</file>

<file path=ppt/slides/_rels/slide11.xml.rels><?xml version="1.0" encoding="UTF-8" standalone="yes"?><Relationships xmlns="http://schemas.openxmlformats.org/package/2006/relationships"><Relationship Id="rId1" Target="../slideLayouts/slideLayout12.xml" Type="http://schemas.openxmlformats.org/officeDocument/2006/relationships/slideLayout"/><Relationship Id="rId2" Target="../media/image2.jpeg" Type="http://schemas.openxmlformats.org/officeDocument/2006/relationships/image"/><Relationship Id="rId3" Target="../media/image61.png" Type="http://schemas.openxmlformats.org/officeDocument/2006/relationships/image"/><Relationship Id="rId4" Target="../media/image62.svg" Type="http://schemas.openxmlformats.org/officeDocument/2006/relationships/image"/><Relationship Id="rId5" Target="../media/image63.png" Type="http://schemas.openxmlformats.org/officeDocument/2006/relationships/image"/><Relationship Id="rId6" Target="../media/image64.svg" Type="http://schemas.openxmlformats.org/officeDocument/2006/relationships/image"/><Relationship Id="rId7" Target="../media/image65.png" Type="http://schemas.openxmlformats.org/officeDocument/2006/relationships/image"/><Relationship Id="rId8" Target="../media/image66.svg" Type="http://schemas.openxmlformats.org/officeDocument/2006/relationships/image"/><Relationship Id="rId9" Target="../notesSlides/notesSlide11.xml" Type="http://schemas.openxmlformats.org/officeDocument/2006/relationships/notesSlide"/></Relationships>
</file>

<file path=ppt/slides/_rels/slide12.xml.rels><?xml version="1.0" encoding="UTF-8" standalone="yes"?><Relationships xmlns="http://schemas.openxmlformats.org/package/2006/relationships"><Relationship Id="rId1" Target="../slideLayouts/slideLayout12.xml" Type="http://schemas.openxmlformats.org/officeDocument/2006/relationships/slideLayout"/><Relationship Id="rId2" Target="../media/image67.jpeg" Type="http://schemas.openxmlformats.org/officeDocument/2006/relationships/image"/><Relationship Id="rId3" Target="../media/image29.png" Type="http://schemas.openxmlformats.org/officeDocument/2006/relationships/image"/><Relationship Id="rId4" Target="../media/image30.svg" Type="http://schemas.openxmlformats.org/officeDocument/2006/relationships/image"/><Relationship Id="rId5" Target="../media/image68.png" Type="http://schemas.openxmlformats.org/officeDocument/2006/relationships/image"/><Relationship Id="rId6" Target="../media/image69.svg" Type="http://schemas.openxmlformats.org/officeDocument/2006/relationships/image"/><Relationship Id="rId7" Target="../notesSlides/notesSlide12.xml" Type="http://schemas.openxmlformats.org/officeDocument/2006/relationships/notesSlide"/><Relationship Id="rId8" Target="../media/image70.png" Type="http://schemas.openxmlformats.org/officeDocument/2006/relationships/image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blipFill dpi="0" rotWithShape="true">
          <a:blip r:embed="rId2">
            <a:lum/>
          </a:blip>
          <a:srcRect/>
          <a:stretch>
            <a:fillRect l="0" t="0" r="0" b="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 rot="0" flipH="false" flipV="false">
            <a:off x="0" y="0"/>
            <a:ext cx="12192000" cy="6858000"/>
          </a:xfrm>
          <a:prstGeom prst="roundRect">
            <a:avLst>
              <a:gd name="adj" fmla="val 0"/>
            </a:avLst>
          </a:prstGeom>
          <a:gradFill rotWithShape="true">
            <a:gsLst>
              <a:gs pos="0">
                <a:srgbClr val="0F172A">
                  <a:alpha val="85000"/>
                </a:srgbClr>
              </a:gs>
              <a:gs pos="100000">
                <a:srgbClr val="0F172A">
                  <a:alpha val="40000"/>
                </a:srgbClr>
              </a:gs>
            </a:gsLst>
            <a:lin ang="0"/>
          </a:gradFill>
          <a:ln w="25400" cmpd="sng" cap="flat">
            <a:noFill/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sp>
        <p:nvSpPr>
          <p:cNvPr name="AutoShape 3" id="3"/>
          <p:cNvSpPr/>
          <p:nvPr/>
        </p:nvSpPr>
        <p:spPr>
          <a:xfrm rot="0" flipH="false" flipV="false">
            <a:off x="1016000" y="2286000"/>
            <a:ext cx="10160000" cy="1524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t" rtlCol="false" anchorCtr="false" vert="horz" wrap="square" lIns="0" rIns="0" tIns="0" bIns="0"/>
          <a:lstStyle/>
          <a:p>
            <a:pPr algn="l" indent="0">
              <a:lnSpc>
                <a:spcPct val="108333"/>
              </a:lnSpc>
              <a:defRPr/>
            </a:pPr>
            <a:r>
              <a:rPr lang="en-US" b="true" i="false" strike="noStrike" u="none" sz="4800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私域知识赋能AI Coding工具</a:t>
            </a:r>
            <a:r>
              <a:rPr lang="en-US" b="true" i="false" strike="noStrike" u="none" sz="4800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/>
            </a:r>
            <a:br>
              <a:rPr lang="en-US" b="true" i="false" strike="noStrike" u="none" sz="4800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</a:br>
            <a:r>
              <a:rPr lang="en-US" b="true" i="false" strike="noStrike" u="none" sz="4800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技术方案</a:t>
            </a:r>
            <a:endParaRPr lang="en-US" sz="1100"/>
          </a:p>
        </p:txBody>
      </p:sp>
      <p:sp>
        <p:nvSpPr>
          <p:cNvPr name="AutoShape 4" id="4"/>
          <p:cNvSpPr/>
          <p:nvPr/>
        </p:nvSpPr>
        <p:spPr>
          <a:xfrm rot="0" flipH="false" flipV="false">
            <a:off x="1016000" y="4191000"/>
            <a:ext cx="7620000" cy="508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t" rtlCol="false" anchorCtr="false" vert="horz" wrap="square" lIns="0" rIns="0" tIns="0" bIns="0"/>
          <a:lstStyle/>
          <a:p>
            <a:pPr algn="l" indent="0">
              <a:lnSpc>
                <a:spcPct val="125000"/>
              </a:lnSpc>
              <a:defRPr/>
            </a:pPr>
            <a:r>
              <a:rPr lang="en-US" b="false" i="false" strike="noStrike" u="none" sz="2400">
                <a:solidFill>
                  <a:srgbClr val="2DD4BF"/>
                </a:solidFill>
                <a:latin typeface="Noto Sans SC"/>
                <a:ea typeface="Noto Sans SC"/>
                <a:cs typeface="Noto Sans SC"/>
                <a:sym typeface="Noto Sans SC"/>
              </a:rPr>
              <a:t>打造懂业务的AI Copilot</a:t>
            </a:r>
            <a:endParaRPr lang="en-US" sz="1100"/>
          </a:p>
        </p:txBody>
      </p:sp>
      <p:sp>
        <p:nvSpPr>
          <p:cNvPr name="AutoShape 5" id="5"/>
          <p:cNvSpPr/>
          <p:nvPr/>
        </p:nvSpPr>
        <p:spPr>
          <a:xfrm rot="0" flipH="false" flipV="false">
            <a:off x="1016000" y="5461000"/>
            <a:ext cx="3302000" cy="558800"/>
          </a:xfrm>
          <a:prstGeom prst="roundRect">
            <a:avLst>
              <a:gd name="adj" fmla="val 18181"/>
            </a:avLst>
          </a:prstGeom>
          <a:solidFill>
            <a:srgbClr val="FFFFFF">
              <a:alpha val="10000"/>
            </a:srgbClr>
          </a:solidFill>
          <a:ln w="12700" cmpd="sng" cap="flat">
            <a:solidFill>
              <a:srgbClr val="FFFFFF">
                <a:alpha val="20000"/>
              </a:srgbClr>
            </a:solidFill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sp>
        <p:nvSpPr>
          <p:cNvPr name="AutoShape 6" id="6"/>
          <p:cNvSpPr/>
          <p:nvPr/>
        </p:nvSpPr>
        <p:spPr>
          <a:xfrm rot="0" flipH="false" flipV="false">
            <a:off x="1219200" y="5588000"/>
            <a:ext cx="3048000" cy="3048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indent="0">
              <a:lnSpc>
                <a:spcPct val="125000"/>
              </a:lnSpc>
              <a:defRPr/>
            </a:pPr>
            <a:r>
              <a:rPr lang="en-US" b="false" i="false" strike="noStrike" u="none" sz="1300">
                <a:solidFill>
                  <a:srgbClr val="E2E8F0"/>
                </a:solidFill>
                <a:latin typeface="Noto Sans SC"/>
                <a:ea typeface="Noto Sans SC"/>
                <a:cs typeface="Noto Sans SC"/>
                <a:sym typeface="Noto Sans SC"/>
              </a:rPr>
              <a:t>汇报人：AI助手 | 2026年3月</a:t>
            </a:r>
            <a:endParaRPr lang="en-US" sz="1100"/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blipFill dpi="0" rotWithShape="true">
          <a:blip r:embed="rId2">
            <a:lum/>
          </a:blip>
          <a:srcRect/>
          <a:stretch>
            <a:fillRect l="0" t="0" r="0" b="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 rot="0" flipH="false" flipV="false">
            <a:off x="0" y="0"/>
            <a:ext cx="12192000" cy="6858000"/>
          </a:xfrm>
          <a:prstGeom prst="roundRect">
            <a:avLst>
              <a:gd name="adj" fmla="val 0"/>
            </a:avLst>
          </a:prstGeom>
          <a:solidFill>
            <a:srgbClr val="111827">
              <a:alpha val="85000"/>
            </a:srgbClr>
          </a:solidFill>
          <a:ln w="25400" cmpd="sng" cap="flat">
            <a:noFill/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sp>
        <p:nvSpPr>
          <p:cNvPr name="AutoShape 3" id="3"/>
          <p:cNvSpPr/>
          <p:nvPr/>
        </p:nvSpPr>
        <p:spPr>
          <a:xfrm rot="0" flipH="false" flipV="false">
            <a:off x="762000" y="635000"/>
            <a:ext cx="7620000" cy="508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indent="0">
              <a:lnSpc>
                <a:spcPct val="125000"/>
              </a:lnSpc>
              <a:defRPr/>
            </a:pPr>
            <a:r>
              <a:rPr lang="en-US" b="true" i="false" strike="noStrike" u="none" sz="3200">
                <a:solidFill>
                  <a:srgbClr val="2DD4BF"/>
                </a:solidFill>
                <a:latin typeface="Noto Sans SC"/>
                <a:ea typeface="Noto Sans SC"/>
                <a:cs typeface="Noto Sans SC"/>
                <a:sym typeface="Noto Sans SC"/>
              </a:rPr>
              <a:t>01. 项目背景与挑战</a:t>
            </a:r>
            <a:endParaRPr lang="en-US" sz="1100"/>
          </a:p>
        </p:txBody>
      </p:sp>
      <p:sp>
        <p:nvSpPr>
          <p:cNvPr name="AutoShape 4" id="4"/>
          <p:cNvSpPr/>
          <p:nvPr/>
        </p:nvSpPr>
        <p:spPr>
          <a:xfrm rot="0" flipH="false" flipV="false">
            <a:off x="762000" y="1524000"/>
            <a:ext cx="5207000" cy="3556000"/>
          </a:xfrm>
          <a:prstGeom prst="roundRect">
            <a:avLst>
              <a:gd name="adj" fmla="val 4285"/>
            </a:avLst>
          </a:prstGeom>
          <a:solidFill>
            <a:srgbClr val="FFFFFF">
              <a:alpha val="5000"/>
            </a:srgbClr>
          </a:solidFill>
          <a:ln w="12700" cmpd="sng" cap="flat">
            <a:solidFill>
              <a:srgbClr val="2DD4BF">
                <a:alpha val="30000"/>
              </a:srgbClr>
            </a:solidFill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pic>
        <p:nvPicPr>
          <p:cNvPr name="Picture 5" id="5"/>
          <p:cNvPicPr>
            <a:picLocks noChangeAspect="true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 rot="0" flipH="false" flipV="false">
            <a:off x="1066800" y="1828800"/>
            <a:ext cx="304800" cy="304800"/>
          </a:xfrm>
          <a:prstGeom prst="rect">
            <a:avLst/>
          </a:prstGeom>
        </p:spPr>
      </p:pic>
      <p:sp>
        <p:nvSpPr>
          <p:cNvPr name="AutoShape 6" id="6"/>
          <p:cNvSpPr/>
          <p:nvPr/>
        </p:nvSpPr>
        <p:spPr>
          <a:xfrm rot="0" flipH="false" flipV="false">
            <a:off x="1473200" y="1803400"/>
            <a:ext cx="4318000" cy="3556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indent="0">
              <a:lnSpc>
                <a:spcPct val="125000"/>
              </a:lnSpc>
              <a:defRPr/>
            </a:pPr>
            <a:r>
              <a:rPr lang="en-US" b="true" i="false" strike="noStrike" u="none" sz="1800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通用模型的“知识盲区”</a:t>
            </a:r>
            <a:endParaRPr lang="en-US" sz="1100"/>
          </a:p>
        </p:txBody>
      </p:sp>
      <p:cxnSp>
        <p:nvCxnSpPr>
          <p:cNvPr name="Connector 7" id="7"/>
          <p:cNvCxnSpPr/>
          <p:nvPr/>
        </p:nvCxnSpPr>
        <p:spPr>
          <a:xfrm rot="-9496" flipH="false" flipV="false">
            <a:off x="1066809" y="2279650"/>
            <a:ext cx="45974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mpd="sng" cap="flat">
            <a:solidFill>
              <a:srgbClr val="FFFFFF">
                <a:alpha val="1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name="AutoShape 8" id="8"/>
          <p:cNvSpPr/>
          <p:nvPr/>
        </p:nvSpPr>
        <p:spPr>
          <a:xfrm rot="0" flipH="false" flipV="false">
            <a:off x="1066800" y="2476500"/>
            <a:ext cx="4597400" cy="635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t" rtlCol="false" anchorCtr="false" vert="horz" wrap="square" lIns="0" rIns="0" tIns="0" bIns="0"/>
          <a:lstStyle/>
          <a:p>
            <a:pPr algn="l" indent="0">
              <a:lnSpc>
                <a:spcPct val="108333"/>
              </a:lnSpc>
              <a:defRPr/>
            </a:pPr>
            <a:r>
              <a:rPr lang="en-US" b="true" i="false" strike="noStrike" u="none" sz="1400">
                <a:solidFill>
                  <a:srgbClr val="2DD4BF"/>
                </a:solidFill>
                <a:latin typeface="Noto Sans SC"/>
                <a:ea typeface="Noto Sans SC"/>
                <a:cs typeface="Noto Sans SC"/>
                <a:sym typeface="Noto Sans SC"/>
              </a:rPr>
              <a:t>缺乏领域知识：</a:t>
            </a:r>
            <a:r>
              <a:rPr lang="en-US" b="false" i="false" strike="noStrike" u="none" sz="1200">
                <a:solidFill>
                  <a:srgbClr val="D1D5DB"/>
                </a:solidFill>
                <a:latin typeface="Noto Sans SC"/>
                <a:ea typeface="Noto Sans SC"/>
                <a:cs typeface="Noto Sans SC"/>
                <a:sym typeface="Noto Sans SC"/>
              </a:rPr>
              <a:t>无法理解企业内部私有术语、业务逻辑和技术架构，导致回答空洞。</a:t>
            </a:r>
            <a:endParaRPr lang="en-US" sz="1100"/>
          </a:p>
        </p:txBody>
      </p:sp>
      <p:sp>
        <p:nvSpPr>
          <p:cNvPr name="AutoShape 9" id="9"/>
          <p:cNvSpPr/>
          <p:nvPr/>
        </p:nvSpPr>
        <p:spPr>
          <a:xfrm rot="0" flipH="false" flipV="false">
            <a:off x="1066800" y="3302000"/>
            <a:ext cx="4597400" cy="635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t" rtlCol="false" anchorCtr="false" vert="horz" wrap="square" lIns="0" rIns="0" tIns="0" bIns="0"/>
          <a:lstStyle/>
          <a:p>
            <a:pPr algn="l" indent="0">
              <a:lnSpc>
                <a:spcPct val="108333"/>
              </a:lnSpc>
              <a:defRPr/>
            </a:pPr>
            <a:r>
              <a:rPr lang="en-US" b="true" i="false" strike="noStrike" u="none" sz="1400">
                <a:solidFill>
                  <a:srgbClr val="2DD4BF"/>
                </a:solidFill>
                <a:latin typeface="Noto Sans SC"/>
                <a:ea typeface="Noto Sans SC"/>
                <a:cs typeface="Noto Sans SC"/>
                <a:sym typeface="Noto Sans SC"/>
              </a:rPr>
              <a:t>不熟悉私有SDK/API：</a:t>
            </a:r>
            <a:r>
              <a:rPr lang="en-US" b="false" i="false" strike="noStrike" u="none" sz="1200">
                <a:solidFill>
                  <a:srgbClr val="D1D5DB"/>
                </a:solidFill>
                <a:latin typeface="Noto Sans SC"/>
                <a:ea typeface="Noto Sans SC"/>
                <a:cs typeface="Noto Sans SC"/>
                <a:sym typeface="Noto Sans SC"/>
              </a:rPr>
              <a:t>无法提供准确的内部API调用示例和最佳实践，代码可用性低。</a:t>
            </a:r>
            <a:endParaRPr lang="en-US" sz="1100"/>
          </a:p>
        </p:txBody>
      </p:sp>
      <p:sp>
        <p:nvSpPr>
          <p:cNvPr name="AutoShape 10" id="10"/>
          <p:cNvSpPr/>
          <p:nvPr/>
        </p:nvSpPr>
        <p:spPr>
          <a:xfrm rot="0" flipH="false" flipV="false">
            <a:off x="1066800" y="4127500"/>
            <a:ext cx="4597400" cy="635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t" rtlCol="false" anchorCtr="false" vert="horz" wrap="square" lIns="0" rIns="0" tIns="0" bIns="0"/>
          <a:lstStyle/>
          <a:p>
            <a:pPr algn="l" indent="0">
              <a:lnSpc>
                <a:spcPct val="108333"/>
              </a:lnSpc>
              <a:defRPr/>
            </a:pPr>
            <a:r>
              <a:rPr lang="en-US" b="true" i="false" strike="noStrike" u="none" sz="1400">
                <a:solidFill>
                  <a:srgbClr val="2DD4BF"/>
                </a:solidFill>
                <a:latin typeface="Noto Sans SC"/>
                <a:ea typeface="Noto Sans SC"/>
                <a:cs typeface="Noto Sans SC"/>
                <a:sym typeface="Noto Sans SC"/>
              </a:rPr>
              <a:t>无视团队规范：</a:t>
            </a:r>
            <a:r>
              <a:rPr lang="en-US" b="false" i="false" strike="noStrike" u="none" sz="1200">
                <a:solidFill>
                  <a:srgbClr val="D1D5DB"/>
                </a:solidFill>
                <a:latin typeface="Noto Sans SC"/>
                <a:ea typeface="Noto Sans SC"/>
                <a:cs typeface="Noto Sans SC"/>
                <a:sym typeface="Noto Sans SC"/>
              </a:rPr>
              <a:t>生成代码不符合团队编码规范、命名约定，引入额外的代码审查成本。</a:t>
            </a:r>
            <a:endParaRPr lang="en-US" sz="1100"/>
          </a:p>
        </p:txBody>
      </p:sp>
      <p:sp>
        <p:nvSpPr>
          <p:cNvPr name="AutoShape 11" id="11"/>
          <p:cNvSpPr/>
          <p:nvPr/>
        </p:nvSpPr>
        <p:spPr>
          <a:xfrm rot="0" flipH="false" flipV="false">
            <a:off x="6223000" y="1524000"/>
            <a:ext cx="5207000" cy="3556000"/>
          </a:xfrm>
          <a:prstGeom prst="roundRect">
            <a:avLst>
              <a:gd name="adj" fmla="val 4285"/>
            </a:avLst>
          </a:prstGeom>
          <a:solidFill>
            <a:srgbClr val="FFFFFF">
              <a:alpha val="5000"/>
            </a:srgbClr>
          </a:solidFill>
          <a:ln w="12700" cmpd="sng" cap="flat">
            <a:solidFill>
              <a:srgbClr val="2DD4BF">
                <a:alpha val="30000"/>
              </a:srgbClr>
            </a:solidFill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pic>
        <p:nvPicPr>
          <p:cNvPr name="Picture 12" id="12"/>
          <p:cNvPicPr>
            <a:picLocks noChangeAspect="true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 rot="0" flipH="false" flipV="false">
            <a:off x="6527800" y="1828800"/>
            <a:ext cx="304800" cy="304800"/>
          </a:xfrm>
          <a:prstGeom prst="rect">
            <a:avLst/>
          </a:prstGeom>
        </p:spPr>
      </p:pic>
      <p:sp>
        <p:nvSpPr>
          <p:cNvPr name="AutoShape 13" id="13"/>
          <p:cNvSpPr/>
          <p:nvPr/>
        </p:nvSpPr>
        <p:spPr>
          <a:xfrm rot="0" flipH="false" flipV="false">
            <a:off x="6934200" y="1803400"/>
            <a:ext cx="4318000" cy="3556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indent="0">
              <a:lnSpc>
                <a:spcPct val="125000"/>
              </a:lnSpc>
              <a:defRPr/>
            </a:pPr>
            <a:r>
              <a:rPr lang="en-US" b="true" i="false" strike="noStrike" u="none" sz="1800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开发者的“低效循环”</a:t>
            </a:r>
            <a:endParaRPr lang="en-US" sz="1100"/>
          </a:p>
        </p:txBody>
      </p:sp>
      <p:cxnSp>
        <p:nvCxnSpPr>
          <p:cNvPr name="Connector 14" id="14"/>
          <p:cNvCxnSpPr/>
          <p:nvPr/>
        </p:nvCxnSpPr>
        <p:spPr>
          <a:xfrm rot="-9496" flipH="false" flipV="false">
            <a:off x="6527809" y="2279650"/>
            <a:ext cx="45974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mpd="sng" cap="flat">
            <a:solidFill>
              <a:srgbClr val="FFFFFF">
                <a:alpha val="1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name="AutoShape 15" id="15"/>
          <p:cNvSpPr/>
          <p:nvPr/>
        </p:nvSpPr>
        <p:spPr>
          <a:xfrm rot="0" flipH="false" flipV="false">
            <a:off x="6527800" y="2476500"/>
            <a:ext cx="4597400" cy="635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t" rtlCol="false" anchorCtr="false" vert="horz" wrap="square" lIns="0" rIns="0" tIns="0" bIns="0"/>
          <a:lstStyle/>
          <a:p>
            <a:pPr algn="l" indent="0">
              <a:lnSpc>
                <a:spcPct val="108333"/>
              </a:lnSpc>
              <a:defRPr/>
            </a:pPr>
            <a:r>
              <a:rPr lang="en-US" b="true" i="false" strike="noStrike" u="none" sz="1400">
                <a:solidFill>
                  <a:srgbClr val="2DD4BF"/>
                </a:solidFill>
                <a:latin typeface="Noto Sans SC"/>
                <a:ea typeface="Noto Sans SC"/>
                <a:cs typeface="Noto Sans SC"/>
                <a:sym typeface="Noto Sans SC"/>
              </a:rPr>
              <a:t>高返工率陷阱：</a:t>
            </a:r>
            <a:r>
              <a:rPr lang="en-US" b="false" i="false" strike="noStrike" u="none" sz="1200">
                <a:solidFill>
                  <a:srgbClr val="D1D5DB"/>
                </a:solidFill>
                <a:latin typeface="Noto Sans SC"/>
                <a:ea typeface="Noto Sans SC"/>
                <a:cs typeface="Noto Sans SC"/>
                <a:sym typeface="Noto Sans SC"/>
              </a:rPr>
              <a:t>在常见开发场景下，平均需要进行</a:t>
            </a:r>
            <a:r>
              <a:rPr lang="en-US" b="true" i="false" strike="noStrike" u="none" sz="1400">
                <a:solidFill>
                  <a:srgbClr val="2DD4BF"/>
                </a:solidFill>
                <a:latin typeface="Noto Sans SC"/>
                <a:ea typeface="Noto Sans SC"/>
                <a:cs typeface="Noto Sans SC"/>
                <a:sym typeface="Noto Sans SC"/>
              </a:rPr>
              <a:t>5轮以上</a:t>
            </a:r>
            <a:r>
              <a:rPr lang="en-US" b="false" i="false" strike="noStrike" u="none" sz="1200">
                <a:solidFill>
                  <a:srgbClr val="D1D5DB"/>
                </a:solidFill>
                <a:latin typeface="Noto Sans SC"/>
                <a:ea typeface="Noto Sans SC"/>
                <a:cs typeface="Noto Sans SC"/>
                <a:sym typeface="Noto Sans SC"/>
              </a:rPr>
              <a:t>的反复修改才能获得符合预期的可用代码。</a:t>
            </a:r>
            <a:endParaRPr lang="en-US" sz="1100"/>
          </a:p>
        </p:txBody>
      </p:sp>
      <p:sp>
        <p:nvSpPr>
          <p:cNvPr name="AutoShape 16" id="16"/>
          <p:cNvSpPr/>
          <p:nvPr/>
        </p:nvSpPr>
        <p:spPr>
          <a:xfrm rot="0" flipH="false" flipV="false">
            <a:off x="6527800" y="3302000"/>
            <a:ext cx="4597400" cy="635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t" rtlCol="false" anchorCtr="false" vert="horz" wrap="square" lIns="0" rIns="0" tIns="0" bIns="0"/>
          <a:lstStyle/>
          <a:p>
            <a:pPr algn="l" indent="0">
              <a:lnSpc>
                <a:spcPct val="108333"/>
              </a:lnSpc>
              <a:defRPr/>
            </a:pPr>
            <a:r>
              <a:rPr lang="en-US" b="true" i="false" strike="noStrike" u="none" sz="1400">
                <a:solidFill>
                  <a:srgbClr val="2DD4BF"/>
                </a:solidFill>
                <a:latin typeface="Noto Sans SC"/>
                <a:ea typeface="Noto Sans SC"/>
                <a:cs typeface="Noto Sans SC"/>
                <a:sym typeface="Noto Sans SC"/>
              </a:rPr>
              <a:t>项目级理解缺失：63%</a:t>
            </a:r>
            <a:r>
              <a:rPr lang="en-US" b="false" i="false" strike="noStrike" u="none" sz="1200">
                <a:solidFill>
                  <a:srgbClr val="D1D5DB"/>
                </a:solidFill>
                <a:latin typeface="Noto Sans SC"/>
                <a:ea typeface="Noto Sans SC"/>
                <a:cs typeface="Noto Sans SC"/>
                <a:sym typeface="Noto Sans SC"/>
              </a:rPr>
              <a:t>的开发者反馈，AI工具在处理复杂遗留代码库时，普遍存在上下文理解缺失的问题。</a:t>
            </a:r>
            <a:endParaRPr lang="en-US" sz="1100"/>
          </a:p>
        </p:txBody>
      </p:sp>
      <p:sp>
        <p:nvSpPr>
          <p:cNvPr name="AutoShape 17" id="17"/>
          <p:cNvSpPr/>
          <p:nvPr/>
        </p:nvSpPr>
        <p:spPr>
          <a:xfrm rot="0" flipH="false" flipV="false">
            <a:off x="6527800" y="4127500"/>
            <a:ext cx="4597400" cy="635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t" rtlCol="false" anchorCtr="false" vert="horz" wrap="square" lIns="0" rIns="0" tIns="0" bIns="0"/>
          <a:lstStyle/>
          <a:p>
            <a:pPr algn="l" indent="0">
              <a:lnSpc>
                <a:spcPct val="108333"/>
              </a:lnSpc>
              <a:defRPr/>
            </a:pPr>
            <a:r>
              <a:rPr lang="en-US" b="true" i="false" strike="noStrike" u="none" sz="1400">
                <a:solidFill>
                  <a:srgbClr val="2DD4BF"/>
                </a:solidFill>
                <a:latin typeface="Noto Sans SC"/>
                <a:ea typeface="Noto Sans SC"/>
                <a:cs typeface="Noto Sans SC"/>
                <a:sym typeface="Noto Sans SC"/>
              </a:rPr>
              <a:t>知识获取成本高昂：</a:t>
            </a:r>
            <a:r>
              <a:rPr lang="en-US" b="false" i="false" strike="noStrike" u="none" sz="1200">
                <a:solidFill>
                  <a:srgbClr val="D1D5DB"/>
                </a:solidFill>
                <a:latin typeface="Noto Sans SC"/>
                <a:ea typeface="Noto Sans SC"/>
                <a:cs typeface="Noto Sans SC"/>
                <a:sym typeface="Noto Sans SC"/>
              </a:rPr>
              <a:t>开发者需在代码编辑器、文档、知识库和AI工具间频繁切换，手动碎片化整合信息。</a:t>
            </a:r>
            <a:endParaRPr lang="en-US" sz="1100"/>
          </a:p>
        </p:txBody>
      </p:sp>
      <p:sp>
        <p:nvSpPr>
          <p:cNvPr name="AutoShape 18" id="18"/>
          <p:cNvSpPr/>
          <p:nvPr/>
        </p:nvSpPr>
        <p:spPr>
          <a:xfrm rot="0" flipH="false" flipV="false">
            <a:off x="762000" y="5334000"/>
            <a:ext cx="10668000" cy="1016000"/>
          </a:xfrm>
          <a:prstGeom prst="roundRect">
            <a:avLst>
              <a:gd name="adj" fmla="val 15000"/>
            </a:avLst>
          </a:prstGeom>
          <a:gradFill rotWithShape="true">
            <a:gsLst>
              <a:gs pos="0">
                <a:srgbClr val="2DD4BF">
                  <a:alpha val="15000"/>
                </a:srgbClr>
              </a:gs>
              <a:gs pos="100000">
                <a:srgbClr val="111827">
                  <a:alpha val="60000"/>
                </a:srgbClr>
              </a:gs>
            </a:gsLst>
            <a:lin ang="0"/>
          </a:gradFill>
          <a:ln w="12700" cmpd="sng" cap="flat">
            <a:solidFill>
              <a:srgbClr val="2DD4BF">
                <a:alpha val="40000"/>
              </a:srgbClr>
            </a:solidFill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pic>
        <p:nvPicPr>
          <p:cNvPr name="Picture 19" id="19"/>
          <p:cNvPicPr>
            <a:picLocks noChangeAspect="true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 rot="0" flipH="false" flipV="false">
            <a:off x="1066800" y="5664200"/>
            <a:ext cx="355600" cy="355600"/>
          </a:xfrm>
          <a:prstGeom prst="rect">
            <a:avLst/>
          </a:prstGeom>
        </p:spPr>
      </p:pic>
      <p:sp>
        <p:nvSpPr>
          <p:cNvPr name="AutoShape 20" id="20"/>
          <p:cNvSpPr/>
          <p:nvPr/>
        </p:nvSpPr>
        <p:spPr>
          <a:xfrm rot="0" flipH="false" flipV="false">
            <a:off x="1574800" y="5461000"/>
            <a:ext cx="9652000" cy="762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indent="0">
              <a:lnSpc>
                <a:spcPct val="116666"/>
              </a:lnSpc>
              <a:defRPr/>
            </a:pPr>
            <a:r>
              <a:rPr lang="en-US" b="true" i="false" strike="noStrike" u="none" sz="1500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核心痛点：</a:t>
            </a:r>
            <a:r>
              <a:rPr lang="en-US" b="false" i="false" strike="noStrike" u="none" sz="1400">
                <a:solidFill>
                  <a:srgbClr val="D1D5DB"/>
                </a:solidFill>
                <a:latin typeface="Noto Sans SC"/>
                <a:ea typeface="Noto Sans SC"/>
                <a:cs typeface="Noto Sans SC"/>
                <a:sym typeface="Noto Sans SC"/>
              </a:rPr>
              <a:t>通用AI模型与企业私域知识之间存在巨大的语义鸿沟，导致AI生成的代码“形似而神不似”，无法真正融入企业现有的开发流程与质量体系。</a:t>
            </a:r>
            <a:endParaRPr lang="en-US" sz="1100"/>
          </a:p>
        </p:txBody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blipFill dpi="0" rotWithShape="true">
          <a:blip r:embed="rId2">
            <a:lum/>
          </a:blip>
          <a:srcRect/>
          <a:stretch>
            <a:fillRect l="0" t="0" r="0" b="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 rot="0" flipH="false" flipV="false">
            <a:off x="0" y="0"/>
            <a:ext cx="12192000" cy="6858000"/>
          </a:xfrm>
          <a:prstGeom prst="roundRect">
            <a:avLst>
              <a:gd name="adj" fmla="val 0"/>
            </a:avLst>
          </a:prstGeom>
          <a:solidFill>
            <a:srgbClr val="111827">
              <a:alpha val="85000"/>
            </a:srgbClr>
          </a:solidFill>
          <a:ln w="25400" cmpd="sng" cap="flat">
            <a:noFill/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sp>
        <p:nvSpPr>
          <p:cNvPr name="AutoShape 3" id="3"/>
          <p:cNvSpPr/>
          <p:nvPr/>
        </p:nvSpPr>
        <p:spPr>
          <a:xfrm rot="0" flipH="false" flipV="false">
            <a:off x="762000" y="635000"/>
            <a:ext cx="7620000" cy="508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indent="0">
              <a:lnSpc>
                <a:spcPct val="125000"/>
              </a:lnSpc>
              <a:defRPr/>
            </a:pPr>
            <a:r>
              <a:rPr lang="en-US" b="true" i="false" strike="noStrike" u="none" sz="3200">
                <a:solidFill>
                  <a:srgbClr val="2DD4BF"/>
                </a:solidFill>
                <a:latin typeface="Noto Sans SC"/>
                <a:ea typeface="Noto Sans SC"/>
                <a:cs typeface="Noto Sans SC"/>
                <a:sym typeface="Noto Sans SC"/>
              </a:rPr>
              <a:t>02. 项目目标与愿景</a:t>
            </a:r>
            <a:endParaRPr lang="en-US" sz="1100"/>
          </a:p>
        </p:txBody>
      </p:sp>
      <p:sp>
        <p:nvSpPr>
          <p:cNvPr name="AutoShape 4" id="4"/>
          <p:cNvSpPr/>
          <p:nvPr/>
        </p:nvSpPr>
        <p:spPr>
          <a:xfrm rot="0" flipH="false" flipV="false">
            <a:off x="762000" y="1524000"/>
            <a:ext cx="5207000" cy="4826000"/>
          </a:xfrm>
          <a:prstGeom prst="roundRect">
            <a:avLst>
              <a:gd name="adj" fmla="val 3157"/>
            </a:avLst>
          </a:prstGeom>
          <a:solidFill>
            <a:srgbClr val="1E293B">
              <a:alpha val="60000"/>
            </a:srgbClr>
          </a:solidFill>
          <a:ln w="12700" cmpd="sng" cap="flat">
            <a:solidFill>
              <a:srgbClr val="2DD4BF">
                <a:alpha val="30000"/>
              </a:srgbClr>
            </a:solidFill>
            <a:prstDash val="solid"/>
            <a:round/>
          </a:ln>
          <a:effectLst>
            <a:outerShdw dir="2700000" dist="127000" blurRad="254000" algn="tl" rotWithShape="false">
              <a:srgbClr val="000000">
                <a:alpha val="30000"/>
              </a:srgbClr>
            </a:outerShdw>
          </a:effectLst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sp>
        <p:nvSpPr>
          <p:cNvPr name="AutoShape 5" id="5"/>
          <p:cNvSpPr/>
          <p:nvPr/>
        </p:nvSpPr>
        <p:spPr>
          <a:xfrm rot="0" flipH="false" flipV="false">
            <a:off x="1016000" y="1778000"/>
            <a:ext cx="4699000" cy="381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indent="0">
              <a:lnSpc>
                <a:spcPct val="125000"/>
              </a:lnSpc>
              <a:defRPr/>
            </a:pPr>
            <a:r>
              <a:rPr lang="en-US" b="true" i="false" strike="noStrike" u="none" sz="1800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建设目标：构建私域知识工程体系</a:t>
            </a:r>
            <a:endParaRPr lang="en-US" sz="1100"/>
          </a:p>
        </p:txBody>
      </p:sp>
      <p:cxnSp>
        <p:nvCxnSpPr>
          <p:cNvPr name="Connector 6" id="6"/>
          <p:cNvCxnSpPr/>
          <p:nvPr/>
        </p:nvCxnSpPr>
        <p:spPr>
          <a:xfrm rot="-9291" flipH="false" flipV="false">
            <a:off x="1016009" y="2216150"/>
            <a:ext cx="4699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mpd="sng" cap="flat">
            <a:solidFill>
              <a:srgbClr val="2DD4BF">
                <a:alpha val="3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pic>
        <p:nvPicPr>
          <p:cNvPr name="Picture 7" id="7"/>
          <p:cNvPicPr>
            <a:picLocks noChangeAspect="true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 rot="0" flipH="false" flipV="false">
            <a:off x="1016000" y="2476500"/>
            <a:ext cx="304800" cy="304800"/>
          </a:xfrm>
          <a:prstGeom prst="rect">
            <a:avLst/>
          </a:prstGeom>
        </p:spPr>
      </p:pic>
      <p:sp>
        <p:nvSpPr>
          <p:cNvPr name="AutoShape 8" id="8"/>
          <p:cNvSpPr/>
          <p:nvPr/>
        </p:nvSpPr>
        <p:spPr>
          <a:xfrm rot="0" flipH="false" flipV="false">
            <a:off x="1447800" y="2476500"/>
            <a:ext cx="4318000" cy="3048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indent="0">
              <a:lnSpc>
                <a:spcPct val="125000"/>
              </a:lnSpc>
              <a:defRPr/>
            </a:pPr>
            <a:r>
              <a:rPr lang="en-US" b="true" i="false" strike="noStrike" u="none" sz="1500">
                <a:solidFill>
                  <a:srgbClr val="F1F5F9"/>
                </a:solidFill>
                <a:latin typeface="Noto Sans SC"/>
                <a:ea typeface="Noto Sans SC"/>
                <a:cs typeface="Noto Sans SC"/>
                <a:sym typeface="Noto Sans SC"/>
              </a:rPr>
              <a:t>知识自动理解</a:t>
            </a:r>
            <a:endParaRPr lang="en-US" sz="1100"/>
          </a:p>
        </p:txBody>
      </p:sp>
      <p:sp>
        <p:nvSpPr>
          <p:cNvPr name="AutoShape 9" id="9"/>
          <p:cNvSpPr/>
          <p:nvPr/>
        </p:nvSpPr>
        <p:spPr>
          <a:xfrm rot="0" flipH="false" flipV="false">
            <a:off x="1447800" y="2819400"/>
            <a:ext cx="4318000" cy="508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t" rtlCol="false" anchorCtr="false" vert="horz" wrap="square" lIns="0" rIns="0" tIns="0" bIns="0"/>
          <a:lstStyle/>
          <a:p>
            <a:pPr algn="l" indent="0">
              <a:lnSpc>
                <a:spcPct val="108333"/>
              </a:lnSpc>
              <a:defRPr/>
            </a:pPr>
            <a:r>
              <a:rPr lang="en-US" b="false" i="false" strike="noStrike" u="none" sz="1200">
                <a:solidFill>
                  <a:srgbClr val="94A3B8"/>
                </a:solidFill>
                <a:latin typeface="Noto Sans SC"/>
                <a:ea typeface="Noto Sans SC"/>
                <a:cs typeface="Noto Sans SC"/>
                <a:sym typeface="Noto Sans SC"/>
              </a:rPr>
              <a:t>让AI自动学习并内化企业业务术语、私有API、技术规范及历史最佳实践，建立深度认知。</a:t>
            </a:r>
            <a:endParaRPr lang="en-US" sz="1100"/>
          </a:p>
        </p:txBody>
      </p:sp>
      <p:pic>
        <p:nvPicPr>
          <p:cNvPr name="Picture 10" id="10"/>
          <p:cNvPicPr>
            <a:picLocks noChangeAspect="true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 rot="0" flipH="false" flipV="false">
            <a:off x="1016000" y="3556000"/>
            <a:ext cx="304800" cy="304800"/>
          </a:xfrm>
          <a:prstGeom prst="rect">
            <a:avLst/>
          </a:prstGeom>
        </p:spPr>
      </p:pic>
      <p:sp>
        <p:nvSpPr>
          <p:cNvPr name="AutoShape 11" id="11"/>
          <p:cNvSpPr/>
          <p:nvPr/>
        </p:nvSpPr>
        <p:spPr>
          <a:xfrm rot="0" flipH="false" flipV="false">
            <a:off x="1447800" y="3556000"/>
            <a:ext cx="4318000" cy="3048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indent="0">
              <a:lnSpc>
                <a:spcPct val="125000"/>
              </a:lnSpc>
              <a:defRPr/>
            </a:pPr>
            <a:r>
              <a:rPr lang="en-US" b="true" i="false" strike="noStrike" u="none" sz="1500">
                <a:solidFill>
                  <a:srgbClr val="F1F5F9"/>
                </a:solidFill>
                <a:latin typeface="Noto Sans SC"/>
                <a:ea typeface="Noto Sans SC"/>
                <a:cs typeface="Noto Sans SC"/>
                <a:sym typeface="Noto Sans SC"/>
              </a:rPr>
              <a:t>三大核心场景精准赋能</a:t>
            </a:r>
            <a:endParaRPr lang="en-US" sz="1100"/>
          </a:p>
        </p:txBody>
      </p:sp>
      <p:sp>
        <p:nvSpPr>
          <p:cNvPr name="AutoShape 12" id="12"/>
          <p:cNvSpPr/>
          <p:nvPr/>
        </p:nvSpPr>
        <p:spPr>
          <a:xfrm rot="0" flipH="false" flipV="false">
            <a:off x="1447800" y="3898900"/>
            <a:ext cx="4318000" cy="9525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t" rtlCol="false" anchorCtr="false" vert="horz" wrap="square" lIns="0" rIns="0" tIns="0" bIns="0"/>
          <a:lstStyle/>
          <a:p>
            <a:pPr algn="l" indent="0">
              <a:lnSpc>
                <a:spcPct val="116666"/>
              </a:lnSpc>
              <a:defRPr/>
            </a:pPr>
            <a:r>
              <a:rPr lang="en-US" b="false" i="false" strike="noStrike" u="none" sz="1200">
                <a:solidFill>
                  <a:srgbClr val="94A3B8"/>
                </a:solidFill>
                <a:latin typeface="Noto Sans SC"/>
                <a:ea typeface="Noto Sans SC"/>
                <a:cs typeface="Noto Sans SC"/>
                <a:sym typeface="Noto Sans SC"/>
              </a:rPr>
              <a:t>•</a:t>
            </a:r>
            <a:r>
              <a:rPr lang="en-US" b="true" i="false" strike="noStrike" u="none" sz="1200">
                <a:solidFill>
                  <a:srgbClr val="94A3B8"/>
                </a:solidFill>
                <a:latin typeface="Noto Sans SC"/>
                <a:ea typeface="Noto Sans SC"/>
                <a:cs typeface="Noto Sans SC"/>
                <a:sym typeface="Noto Sans SC"/>
              </a:rPr>
              <a:t>需求开发</a:t>
            </a:r>
            <a:r>
              <a:rPr lang="en-US" b="false" i="false" strike="noStrike" u="none" sz="1200">
                <a:solidFill>
                  <a:srgbClr val="94A3B8"/>
                </a:solidFill>
                <a:latin typeface="Noto Sans SC"/>
                <a:ea typeface="Noto Sans SC"/>
                <a:cs typeface="Noto Sans SC"/>
                <a:sym typeface="Noto Sans SC"/>
              </a:rPr>
              <a:t>：自然语言转高质量规范代码</a:t>
            </a:r>
            <a:r>
              <a:rPr lang="en-US" b="false" i="false" strike="noStrike" u="none" sz="1200">
                <a:solidFill>
                  <a:srgbClr val="94A3B8"/>
                </a:solidFill>
                <a:latin typeface="Noto Sans SC"/>
                <a:ea typeface="Noto Sans SC"/>
                <a:cs typeface="Noto Sans SC"/>
                <a:sym typeface="Noto Sans SC"/>
              </a:rPr>
              <a:t/>
            </a:r>
            <a:br>
              <a:rPr lang="en-US" b="false" i="false" strike="noStrike" u="none" sz="1200">
                <a:solidFill>
                  <a:srgbClr val="94A3B8"/>
                </a:solidFill>
                <a:latin typeface="Noto Sans SC"/>
                <a:ea typeface="Noto Sans SC"/>
                <a:cs typeface="Noto Sans SC"/>
                <a:sym typeface="Noto Sans SC"/>
              </a:rPr>
            </a:br>
            <a:r>
              <a:rPr lang="en-US" b="false" i="false" strike="noStrike" u="none" sz="1200">
                <a:solidFill>
                  <a:srgbClr val="94A3B8"/>
                </a:solidFill>
                <a:latin typeface="Noto Sans SC"/>
                <a:ea typeface="Noto Sans SC"/>
                <a:cs typeface="Noto Sans SC"/>
                <a:sym typeface="Noto Sans SC"/>
              </a:rPr>
              <a:t>•</a:t>
            </a:r>
            <a:r>
              <a:rPr lang="en-US" b="true" i="false" strike="noStrike" u="none" sz="1200">
                <a:solidFill>
                  <a:srgbClr val="94A3B8"/>
                </a:solidFill>
                <a:latin typeface="Noto Sans SC"/>
                <a:ea typeface="Noto Sans SC"/>
                <a:cs typeface="Noto Sans SC"/>
                <a:sym typeface="Noto Sans SC"/>
              </a:rPr>
              <a:t>问题定位</a:t>
            </a:r>
            <a:r>
              <a:rPr lang="en-US" b="false" i="false" strike="noStrike" u="none" sz="1200">
                <a:solidFill>
                  <a:srgbClr val="94A3B8"/>
                </a:solidFill>
                <a:latin typeface="Noto Sans SC"/>
                <a:ea typeface="Noto Sans SC"/>
                <a:cs typeface="Noto Sans SC"/>
                <a:sym typeface="Noto Sans SC"/>
              </a:rPr>
              <a:t>：结合历史案例快速诊断根因</a:t>
            </a:r>
            <a:r>
              <a:rPr lang="en-US" b="false" i="false" strike="noStrike" u="none" sz="1200">
                <a:solidFill>
                  <a:srgbClr val="94A3B8"/>
                </a:solidFill>
                <a:latin typeface="Noto Sans SC"/>
                <a:ea typeface="Noto Sans SC"/>
                <a:cs typeface="Noto Sans SC"/>
                <a:sym typeface="Noto Sans SC"/>
              </a:rPr>
              <a:t/>
            </a:r>
            <a:br>
              <a:rPr lang="en-US" b="false" i="false" strike="noStrike" u="none" sz="1200">
                <a:solidFill>
                  <a:srgbClr val="94A3B8"/>
                </a:solidFill>
                <a:latin typeface="Noto Sans SC"/>
                <a:ea typeface="Noto Sans SC"/>
                <a:cs typeface="Noto Sans SC"/>
                <a:sym typeface="Noto Sans SC"/>
              </a:rPr>
            </a:br>
            <a:r>
              <a:rPr lang="en-US" b="false" i="false" strike="noStrike" u="none" sz="1200">
                <a:solidFill>
                  <a:srgbClr val="94A3B8"/>
                </a:solidFill>
                <a:latin typeface="Noto Sans SC"/>
                <a:ea typeface="Noto Sans SC"/>
                <a:cs typeface="Noto Sans SC"/>
                <a:sym typeface="Noto Sans SC"/>
              </a:rPr>
              <a:t>•</a:t>
            </a:r>
            <a:r>
              <a:rPr lang="en-US" b="true" i="false" strike="noStrike" u="none" sz="1200">
                <a:solidFill>
                  <a:srgbClr val="94A3B8"/>
                </a:solidFill>
                <a:latin typeface="Noto Sans SC"/>
                <a:ea typeface="Noto Sans SC"/>
                <a:cs typeface="Noto Sans SC"/>
                <a:sym typeface="Noto Sans SC"/>
              </a:rPr>
              <a:t>代码检视</a:t>
            </a:r>
            <a:r>
              <a:rPr lang="en-US" b="false" i="false" strike="noStrike" u="none" sz="1200">
                <a:solidFill>
                  <a:srgbClr val="94A3B8"/>
                </a:solidFill>
                <a:latin typeface="Noto Sans SC"/>
                <a:ea typeface="Noto Sans SC"/>
                <a:cs typeface="Noto Sans SC"/>
                <a:sym typeface="Noto Sans SC"/>
              </a:rPr>
              <a:t>：自动审查契约、规范与安全合规性</a:t>
            </a:r>
            <a:endParaRPr lang="en-US" sz="1100"/>
          </a:p>
        </p:txBody>
      </p:sp>
      <p:pic>
        <p:nvPicPr>
          <p:cNvPr name="Picture 13" id="13"/>
          <p:cNvPicPr>
            <a:picLocks noChangeAspect="true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 rot="0" flipH="false" flipV="false">
            <a:off x="1016000" y="5080000"/>
            <a:ext cx="304800" cy="304800"/>
          </a:xfrm>
          <a:prstGeom prst="rect">
            <a:avLst/>
          </a:prstGeom>
        </p:spPr>
      </p:pic>
      <p:sp>
        <p:nvSpPr>
          <p:cNvPr name="AutoShape 14" id="14"/>
          <p:cNvSpPr/>
          <p:nvPr/>
        </p:nvSpPr>
        <p:spPr>
          <a:xfrm rot="0" flipH="false" flipV="false">
            <a:off x="1447800" y="5080000"/>
            <a:ext cx="4318000" cy="3048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indent="0">
              <a:lnSpc>
                <a:spcPct val="125000"/>
              </a:lnSpc>
              <a:defRPr/>
            </a:pPr>
            <a:r>
              <a:rPr lang="en-US" b="true" i="false" strike="noStrike" u="none" sz="1500">
                <a:solidFill>
                  <a:srgbClr val="F1F5F9"/>
                </a:solidFill>
                <a:latin typeface="Noto Sans SC"/>
                <a:ea typeface="Noto Sans SC"/>
                <a:cs typeface="Noto Sans SC"/>
                <a:sym typeface="Noto Sans SC"/>
              </a:rPr>
              <a:t>构建持续迭代运营闭环</a:t>
            </a:r>
            <a:endParaRPr lang="en-US" sz="1100"/>
          </a:p>
        </p:txBody>
      </p:sp>
      <p:sp>
        <p:nvSpPr>
          <p:cNvPr name="AutoShape 15" id="15"/>
          <p:cNvSpPr/>
          <p:nvPr/>
        </p:nvSpPr>
        <p:spPr>
          <a:xfrm rot="0" flipH="false" flipV="false">
            <a:off x="1447800" y="5422900"/>
            <a:ext cx="4318000" cy="508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t" rtlCol="false" anchorCtr="false" vert="horz" wrap="square" lIns="0" rIns="0" tIns="0" bIns="0"/>
          <a:lstStyle/>
          <a:p>
            <a:pPr algn="l" indent="0">
              <a:lnSpc>
                <a:spcPct val="108333"/>
              </a:lnSpc>
              <a:defRPr/>
            </a:pPr>
            <a:r>
              <a:rPr lang="en-US" b="false" i="false" strike="noStrike" u="none" sz="1200">
                <a:solidFill>
                  <a:srgbClr val="94A3B8"/>
                </a:solidFill>
                <a:latin typeface="Noto Sans SC"/>
                <a:ea typeface="Noto Sans SC"/>
                <a:cs typeface="Noto Sans SC"/>
                <a:sym typeface="Noto Sans SC"/>
              </a:rPr>
              <a:t>收集开发者反馈数据，形成“使用-反馈-优化”的正向循环，持续提升知识库精准度。</a:t>
            </a:r>
            <a:endParaRPr lang="en-US" sz="1100"/>
          </a:p>
        </p:txBody>
      </p:sp>
      <p:sp>
        <p:nvSpPr>
          <p:cNvPr name="AutoShape 16" id="16"/>
          <p:cNvSpPr/>
          <p:nvPr/>
        </p:nvSpPr>
        <p:spPr>
          <a:xfrm rot="0" flipH="false" flipV="false">
            <a:off x="6223000" y="1524000"/>
            <a:ext cx="5207000" cy="4826000"/>
          </a:xfrm>
          <a:prstGeom prst="roundRect">
            <a:avLst>
              <a:gd name="adj" fmla="val 3157"/>
            </a:avLst>
          </a:prstGeom>
          <a:solidFill>
            <a:srgbClr val="1E293B">
              <a:alpha val="60000"/>
            </a:srgbClr>
          </a:solidFill>
          <a:ln w="12700" cmpd="sng" cap="flat">
            <a:solidFill>
              <a:srgbClr val="2DD4BF">
                <a:alpha val="30000"/>
              </a:srgbClr>
            </a:solidFill>
            <a:prstDash val="solid"/>
            <a:round/>
          </a:ln>
          <a:effectLst>
            <a:outerShdw dir="2700000" dist="127000" blurRad="254000" algn="tl" rotWithShape="false">
              <a:srgbClr val="000000">
                <a:alpha val="30000"/>
              </a:srgbClr>
            </a:outerShdw>
          </a:effectLst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sp>
        <p:nvSpPr>
          <p:cNvPr name="AutoShape 17" id="17"/>
          <p:cNvSpPr/>
          <p:nvPr/>
        </p:nvSpPr>
        <p:spPr>
          <a:xfrm rot="0" flipH="false" flipV="false">
            <a:off x="6477000" y="1778000"/>
            <a:ext cx="4699000" cy="381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indent="0">
              <a:lnSpc>
                <a:spcPct val="125000"/>
              </a:lnSpc>
              <a:defRPr/>
            </a:pPr>
            <a:r>
              <a:rPr lang="en-US" b="true" i="false" strike="noStrike" u="none" sz="1800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项目愿景：打造开发者的“专属专家”</a:t>
            </a:r>
            <a:endParaRPr lang="en-US" sz="1100"/>
          </a:p>
        </p:txBody>
      </p:sp>
      <p:cxnSp>
        <p:nvCxnSpPr>
          <p:cNvPr name="Connector 18" id="18"/>
          <p:cNvCxnSpPr/>
          <p:nvPr/>
        </p:nvCxnSpPr>
        <p:spPr>
          <a:xfrm rot="-9291" flipH="false" flipV="false">
            <a:off x="6477009" y="2216150"/>
            <a:ext cx="4699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mpd="sng" cap="flat">
            <a:solidFill>
              <a:srgbClr val="2DD4BF">
                <a:alpha val="3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name="AutoShape 19" id="19"/>
          <p:cNvSpPr/>
          <p:nvPr/>
        </p:nvSpPr>
        <p:spPr>
          <a:xfrm rot="0" flipH="false" flipV="false">
            <a:off x="6477000" y="2476500"/>
            <a:ext cx="4699000" cy="1524000"/>
          </a:xfrm>
          <a:prstGeom prst="roundRect">
            <a:avLst>
              <a:gd name="adj" fmla="val 6666"/>
            </a:avLst>
          </a:prstGeom>
          <a:solidFill>
            <a:srgbClr val="2DD4BF">
              <a:alpha val="10000"/>
            </a:srgbClr>
          </a:solidFill>
          <a:ln w="25400" cmpd="sng" cap="flat">
            <a:noFill/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pic>
        <p:nvPicPr>
          <p:cNvPr name="Picture 20" id="20"/>
          <p:cNvPicPr>
            <a:picLocks noChangeAspect="true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 rot="0" flipH="false" flipV="false">
            <a:off x="6731000" y="2933700"/>
            <a:ext cx="609600" cy="609600"/>
          </a:xfrm>
          <a:prstGeom prst="rect">
            <a:avLst/>
          </a:prstGeom>
        </p:spPr>
      </p:pic>
      <p:sp>
        <p:nvSpPr>
          <p:cNvPr name="AutoShape 21" id="21"/>
          <p:cNvSpPr/>
          <p:nvPr/>
        </p:nvSpPr>
        <p:spPr>
          <a:xfrm rot="0" flipH="false" flipV="false">
            <a:off x="7493000" y="2730500"/>
            <a:ext cx="3556000" cy="1016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indent="0">
              <a:lnSpc>
                <a:spcPct val="116666"/>
              </a:lnSpc>
              <a:defRPr/>
            </a:pPr>
            <a:r>
              <a:rPr lang="en-US" b="false" i="false" strike="noStrike" u="none" sz="1400">
                <a:solidFill>
                  <a:srgbClr val="F1F5F9"/>
                </a:solidFill>
                <a:latin typeface="Noto Sans SC"/>
                <a:ea typeface="Noto Sans SC"/>
                <a:cs typeface="Noto Sans SC"/>
                <a:sym typeface="Noto Sans SC"/>
              </a:rPr>
              <a:t>将AI深度融入开发全流程，使其成为每个开发者身边的私域专家，提供即时、精准的技术支持。</a:t>
            </a:r>
            <a:endParaRPr lang="en-US" sz="1100"/>
          </a:p>
        </p:txBody>
      </p:sp>
      <p:sp>
        <p:nvSpPr>
          <p:cNvPr name="AutoShape 22" id="22"/>
          <p:cNvSpPr/>
          <p:nvPr/>
        </p:nvSpPr>
        <p:spPr>
          <a:xfrm rot="0" flipH="false" flipV="false">
            <a:off x="6477000" y="4191000"/>
            <a:ext cx="4699000" cy="1905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t" rtlCol="false" anchorCtr="false" vert="horz" wrap="square" lIns="0" rIns="0" tIns="0" bIns="0"/>
          <a:lstStyle/>
          <a:p>
            <a:pPr algn="l" indent="0">
              <a:lnSpc>
                <a:spcPct val="150000"/>
              </a:lnSpc>
              <a:defRPr/>
            </a:pPr>
            <a:r>
              <a:rPr lang="en-US" b="false" i="false" strike="noStrike" u="none" sz="1400">
                <a:solidFill>
                  <a:srgbClr val="2DD4BF"/>
                </a:solidFill>
                <a:latin typeface="Noto Sans SC"/>
                <a:ea typeface="Noto Sans SC"/>
                <a:cs typeface="Noto Sans SC"/>
                <a:sym typeface="Noto Sans SC"/>
              </a:rPr>
              <a:t>◆ 效率跃升：</a:t>
            </a:r>
            <a:r>
              <a:rPr lang="en-US" b="false" i="false" strike="noStrike" u="none" sz="1300">
                <a:solidFill>
                  <a:srgbClr val="94A3B8"/>
                </a:solidFill>
                <a:latin typeface="Noto Sans SC"/>
                <a:ea typeface="Noto Sans SC"/>
                <a:cs typeface="Noto Sans SC"/>
                <a:sym typeface="Noto Sans SC"/>
              </a:rPr>
              <a:t>自动化重复性工作，释放核心生产力</a:t>
            </a:r>
            <a:r>
              <a:rPr lang="en-US" b="false" i="false" strike="noStrike" u="none" sz="1600">
                <a:solidFill>
                  <a:srgbClr val="1F2329"/>
                </a:solidFill>
                <a:latin typeface="Noto Sans SC"/>
                <a:ea typeface="Noto Sans SC"/>
                <a:cs typeface="Noto Sans SC"/>
                <a:sym typeface="Noto Sans SC"/>
              </a:rPr>
              <a:t/>
            </a:r>
            <a:endParaRPr lang="en-US" sz="1100"/>
          </a:p>
          <a:p>
            <a:pPr algn="l" indent="0">
              <a:lnSpc>
                <a:spcPct val="150000"/>
              </a:lnSpc>
            </a:pPr>
            <a:r>
              <a:rPr lang="en-US" b="false" i="false" strike="noStrike" u="none" sz="1400">
                <a:solidFill>
                  <a:srgbClr val="2DD4BF"/>
                </a:solidFill>
                <a:latin typeface="Noto Sans SC"/>
                <a:ea typeface="Noto Sans SC"/>
                <a:cs typeface="Noto Sans SC"/>
                <a:sym typeface="Noto Sans SC"/>
              </a:rPr>
              <a:t>◆ 质量保障：</a:t>
            </a:r>
            <a:r>
              <a:rPr lang="en-US" b="false" i="false" strike="noStrike" u="none" sz="1300">
                <a:solidFill>
                  <a:srgbClr val="94A3B8"/>
                </a:solidFill>
                <a:latin typeface="Noto Sans SC"/>
                <a:ea typeface="Noto Sans SC"/>
                <a:cs typeface="Noto Sans SC"/>
                <a:sym typeface="Noto Sans SC"/>
              </a:rPr>
              <a:t>统一代码规范与安全标准，降低技术债务</a:t>
            </a:r>
            <a:r>
              <a:rPr lang="en-US" b="false" i="false" strike="noStrike" u="none" sz="1600">
                <a:solidFill>
                  <a:srgbClr val="1F2329"/>
                </a:solidFill>
                <a:latin typeface="Noto Sans SC"/>
                <a:ea typeface="Noto Sans SC"/>
                <a:cs typeface="Noto Sans SC"/>
                <a:sym typeface="Noto Sans SC"/>
              </a:rPr>
              <a:t/>
            </a:r>
          </a:p>
          <a:p>
            <a:pPr algn="l" indent="0">
              <a:lnSpc>
                <a:spcPct val="150000"/>
              </a:lnSpc>
            </a:pPr>
            <a:r>
              <a:rPr lang="en-US" b="false" i="false" strike="noStrike" u="none" sz="1400">
                <a:solidFill>
                  <a:srgbClr val="2DD4BF"/>
                </a:solidFill>
                <a:latin typeface="Noto Sans SC"/>
                <a:ea typeface="Noto Sans SC"/>
                <a:cs typeface="Noto Sans SC"/>
                <a:sym typeface="Noto Sans SC"/>
              </a:rPr>
              <a:t>◆ 知识传承：</a:t>
            </a:r>
            <a:r>
              <a:rPr lang="en-US" b="false" i="false" strike="noStrike" u="none" sz="1300">
                <a:solidFill>
                  <a:srgbClr val="94A3B8"/>
                </a:solidFill>
                <a:latin typeface="Noto Sans SC"/>
                <a:ea typeface="Noto Sans SC"/>
                <a:cs typeface="Noto Sans SC"/>
                <a:sym typeface="Noto Sans SC"/>
              </a:rPr>
              <a:t>沉淀团队智慧，加速新人成长与技术复用</a:t>
            </a:r>
          </a:p>
        </p:txBody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blipFill dpi="0" rotWithShape="true">
          <a:blip r:embed="rId2">
            <a:lum/>
          </a:blip>
          <a:srcRect/>
          <a:stretch>
            <a:fillRect l="0" t="0" r="0" b="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 rot="0" flipH="false" flipV="false">
            <a:off x="0" y="0"/>
            <a:ext cx="12192000" cy="6858000"/>
          </a:xfrm>
          <a:prstGeom prst="roundRect">
            <a:avLst>
              <a:gd name="adj" fmla="val 0"/>
            </a:avLst>
          </a:prstGeom>
          <a:solidFill>
            <a:srgbClr val="111827">
              <a:alpha val="85000"/>
            </a:srgbClr>
          </a:solidFill>
          <a:ln w="25400" cmpd="sng" cap="flat">
            <a:noFill/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sp>
        <p:nvSpPr>
          <p:cNvPr name="AutoShape 3" id="3"/>
          <p:cNvSpPr/>
          <p:nvPr/>
        </p:nvSpPr>
        <p:spPr>
          <a:xfrm rot="0" flipH="false" flipV="false">
            <a:off x="762000" y="635000"/>
            <a:ext cx="7620000" cy="508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indent="0">
              <a:lnSpc>
                <a:spcPct val="125000"/>
              </a:lnSpc>
              <a:defRPr/>
            </a:pPr>
            <a:r>
              <a:rPr lang="en-US" b="true" i="false" strike="noStrike" u="none" sz="3200">
                <a:solidFill>
                  <a:srgbClr val="2DD4BF"/>
                </a:solidFill>
                <a:latin typeface="Noto Sans SC"/>
                <a:ea typeface="Noto Sans SC"/>
                <a:cs typeface="Noto Sans SC"/>
                <a:sym typeface="Noto Sans SC"/>
              </a:rPr>
              <a:t>03. 总体技术架构</a:t>
            </a:r>
            <a:endParaRPr lang="en-US" sz="1100"/>
          </a:p>
        </p:txBody>
      </p:sp>
      <p:sp>
        <p:nvSpPr>
          <p:cNvPr name="AutoShape 4" id="4"/>
          <p:cNvSpPr/>
          <p:nvPr/>
        </p:nvSpPr>
        <p:spPr>
          <a:xfrm rot="0" flipH="false" flipV="false">
            <a:off x="762000" y="1397000"/>
            <a:ext cx="10668000" cy="1270000"/>
          </a:xfrm>
          <a:prstGeom prst="roundRect">
            <a:avLst>
              <a:gd name="adj" fmla="val 8000"/>
            </a:avLst>
          </a:prstGeom>
          <a:solidFill>
            <a:srgbClr val="FFFFFF">
              <a:alpha val="5000"/>
            </a:srgbClr>
          </a:solidFill>
          <a:ln w="12700" cmpd="sng" cap="flat">
            <a:solidFill>
              <a:srgbClr val="2DD4BF">
                <a:alpha val="20000"/>
              </a:srgbClr>
            </a:solidFill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sp>
        <p:nvSpPr>
          <p:cNvPr name="AutoShape 5" id="5"/>
          <p:cNvSpPr/>
          <p:nvPr/>
        </p:nvSpPr>
        <p:spPr>
          <a:xfrm rot="0" flipH="false" flipV="false">
            <a:off x="1016000" y="1587500"/>
            <a:ext cx="3810000" cy="3048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indent="0">
              <a:lnSpc>
                <a:spcPct val="125000"/>
              </a:lnSpc>
              <a:defRPr/>
            </a:pPr>
            <a:r>
              <a:rPr lang="en-US" b="true" i="false" strike="noStrike" u="none" sz="1600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设计思想：Spec + RAG 双引擎驱动</a:t>
            </a:r>
            <a:endParaRPr lang="en-US" sz="1100"/>
          </a:p>
        </p:txBody>
      </p:sp>
      <p:cxnSp>
        <p:nvCxnSpPr>
          <p:cNvPr name="Connector 6" id="6"/>
          <p:cNvCxnSpPr/>
          <p:nvPr/>
        </p:nvCxnSpPr>
        <p:spPr>
          <a:xfrm rot="5314074" flipH="false" flipV="false">
            <a:off x="5842000" y="2216229"/>
            <a:ext cx="508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mpd="sng" cap="flat">
            <a:solidFill>
              <a:srgbClr val="FFFFFF">
                <a:alpha val="15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name="AutoShape 7" id="7"/>
          <p:cNvSpPr/>
          <p:nvPr/>
        </p:nvSpPr>
        <p:spPr>
          <a:xfrm rot="0" flipH="false" flipV="false">
            <a:off x="1016000" y="1968500"/>
            <a:ext cx="4826000" cy="635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t" rtlCol="false" anchorCtr="false" vert="horz" wrap="square" lIns="0" rIns="0" tIns="0" bIns="0"/>
          <a:lstStyle/>
          <a:p>
            <a:pPr algn="l" indent="0">
              <a:lnSpc>
                <a:spcPct val="108333"/>
              </a:lnSpc>
              <a:defRPr/>
            </a:pPr>
            <a:r>
              <a:rPr lang="en-US" b="true" i="false" strike="noStrike" u="none" sz="1300">
                <a:solidFill>
                  <a:srgbClr val="2DD4BF"/>
                </a:solidFill>
                <a:latin typeface="Noto Sans SC"/>
                <a:ea typeface="Noto Sans SC"/>
                <a:cs typeface="Noto Sans SC"/>
                <a:sym typeface="Noto Sans SC"/>
              </a:rPr>
              <a:t>Spec引擎 (规范性保障):</a:t>
            </a:r>
            <a:r>
              <a:rPr lang="en-US" b="false" i="false" strike="noStrike" u="none" sz="1200">
                <a:solidFill>
                  <a:srgbClr val="D1D5DB"/>
                </a:solidFill>
                <a:latin typeface="Noto Sans SC"/>
                <a:ea typeface="Noto Sans SC"/>
                <a:cs typeface="Noto Sans SC"/>
                <a:sym typeface="Noto Sans SC"/>
              </a:rPr>
              <a:t>将接口契约、数据模型、编码规范等结构化知识作为硬约束，确保输出结果的正确性和合规性。</a:t>
            </a:r>
            <a:endParaRPr lang="en-US" sz="1100"/>
          </a:p>
        </p:txBody>
      </p:sp>
      <p:sp>
        <p:nvSpPr>
          <p:cNvPr name="AutoShape 8" id="8"/>
          <p:cNvSpPr/>
          <p:nvPr/>
        </p:nvSpPr>
        <p:spPr>
          <a:xfrm rot="0" flipH="false" flipV="false">
            <a:off x="6350000" y="1968500"/>
            <a:ext cx="4826000" cy="635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t" rtlCol="false" anchorCtr="false" vert="horz" wrap="square" lIns="0" rIns="0" tIns="0" bIns="0"/>
          <a:lstStyle/>
          <a:p>
            <a:pPr algn="l" indent="0">
              <a:lnSpc>
                <a:spcPct val="108333"/>
              </a:lnSpc>
              <a:defRPr/>
            </a:pPr>
            <a:r>
              <a:rPr lang="en-US" b="true" i="false" strike="noStrike" u="none" sz="1300">
                <a:solidFill>
                  <a:srgbClr val="2DD4BF"/>
                </a:solidFill>
                <a:latin typeface="Noto Sans SC"/>
                <a:ea typeface="Noto Sans SC"/>
                <a:cs typeface="Noto Sans SC"/>
                <a:sym typeface="Noto Sans SC"/>
              </a:rPr>
              <a:t>RAG引擎 (智能性增强):</a:t>
            </a:r>
            <a:r>
              <a:rPr lang="en-US" b="false" i="false" strike="noStrike" u="none" sz="1200">
                <a:solidFill>
                  <a:srgbClr val="D1D5DB"/>
                </a:solidFill>
                <a:latin typeface="Noto Sans SC"/>
                <a:ea typeface="Noto Sans SC"/>
                <a:cs typeface="Noto Sans SC"/>
                <a:sym typeface="Noto Sans SC"/>
              </a:rPr>
              <a:t>通过语义检索动态注入非结构化知识，如历史方案、API文档等，实现“软智能”，提升场景适应性。</a:t>
            </a:r>
            <a:endParaRPr lang="en-US" sz="1100"/>
          </a:p>
        </p:txBody>
      </p:sp>
      <p:sp>
        <p:nvSpPr>
          <p:cNvPr name="AutoShape 9" id="9"/>
          <p:cNvSpPr/>
          <p:nvPr/>
        </p:nvSpPr>
        <p:spPr>
          <a:xfrm rot="0" flipH="false" flipV="false">
            <a:off x="762000" y="2921000"/>
            <a:ext cx="2540000" cy="3048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indent="0">
              <a:lnSpc>
                <a:spcPct val="125000"/>
              </a:lnSpc>
              <a:defRPr/>
            </a:pPr>
            <a:r>
              <a:rPr lang="en-US" b="true" i="false" strike="noStrike" u="none" sz="1600">
                <a:solidFill>
                  <a:srgbClr val="E5E7EB"/>
                </a:solidFill>
                <a:latin typeface="Noto Sans SC"/>
                <a:ea typeface="Noto Sans SC"/>
                <a:cs typeface="Noto Sans SC"/>
                <a:sym typeface="Noto Sans SC"/>
              </a:rPr>
              <a:t>系统核心架构流程</a:t>
            </a:r>
            <a:endParaRPr lang="en-US" sz="1100"/>
          </a:p>
        </p:txBody>
      </p:sp>
      <p:sp>
        <p:nvSpPr>
          <p:cNvPr name="AutoShape 10" id="10"/>
          <p:cNvSpPr/>
          <p:nvPr/>
        </p:nvSpPr>
        <p:spPr>
          <a:xfrm rot="0" flipH="false" flipV="false">
            <a:off x="762000" y="3429000"/>
            <a:ext cx="1651000" cy="2286000"/>
          </a:xfrm>
          <a:prstGeom prst="roundRect">
            <a:avLst>
              <a:gd name="adj" fmla="val 4615"/>
            </a:avLst>
          </a:prstGeom>
          <a:solidFill>
            <a:srgbClr val="1F2937">
              <a:alpha val="60000"/>
            </a:srgbClr>
          </a:solidFill>
          <a:ln w="12700" cmpd="sng" cap="flat">
            <a:solidFill>
              <a:srgbClr val="4B5563">
                <a:alpha val="100000"/>
              </a:srgbClr>
            </a:solidFill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pic>
        <p:nvPicPr>
          <p:cNvPr name="Picture 11" id="11"/>
          <p:cNvPicPr>
            <a:picLocks noChangeAspect="true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 rot="0" flipH="false" flipV="false">
            <a:off x="952500" y="3619500"/>
            <a:ext cx="304800" cy="304800"/>
          </a:xfrm>
          <a:prstGeom prst="rect">
            <a:avLst/>
          </a:prstGeom>
        </p:spPr>
      </p:pic>
      <p:sp>
        <p:nvSpPr>
          <p:cNvPr name="AutoShape 12" id="12"/>
          <p:cNvSpPr/>
          <p:nvPr/>
        </p:nvSpPr>
        <p:spPr>
          <a:xfrm rot="0" flipH="false" flipV="false">
            <a:off x="1333500" y="3619500"/>
            <a:ext cx="1270000" cy="3048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indent="0">
              <a:lnSpc>
                <a:spcPct val="125000"/>
              </a:lnSpc>
              <a:defRPr/>
            </a:pPr>
            <a:r>
              <a:rPr lang="en-US" b="true" i="false" strike="noStrike" u="none" sz="1300">
                <a:solidFill>
                  <a:srgbClr val="F3F4F6"/>
                </a:solidFill>
                <a:latin typeface="Noto Sans SC"/>
                <a:ea typeface="Noto Sans SC"/>
                <a:cs typeface="Noto Sans SC"/>
                <a:sym typeface="Noto Sans SC"/>
              </a:rPr>
              <a:t>数据源层</a:t>
            </a:r>
            <a:endParaRPr lang="en-US" sz="1100"/>
          </a:p>
        </p:txBody>
      </p:sp>
      <p:sp>
        <p:nvSpPr>
          <p:cNvPr name="AutoShape 13" id="13"/>
          <p:cNvSpPr/>
          <p:nvPr/>
        </p:nvSpPr>
        <p:spPr>
          <a:xfrm rot="0" flipH="false" flipV="false">
            <a:off x="889000" y="4064000"/>
            <a:ext cx="1397000" cy="1524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t" rtlCol="false" anchorCtr="false" vert="horz" wrap="square" lIns="0" rIns="0" tIns="0" bIns="0"/>
          <a:lstStyle/>
          <a:p>
            <a:pPr algn="l" indent="0">
              <a:lnSpc>
                <a:spcPct val="125000"/>
              </a:lnSpc>
              <a:defRPr/>
            </a:pPr>
            <a:r>
              <a:rPr lang="en-US" b="false" i="false" strike="noStrike" u="none" sz="1100">
                <a:solidFill>
                  <a:srgbClr val="9CA3AF"/>
                </a:solidFill>
                <a:latin typeface="Noto Sans SC"/>
                <a:ea typeface="Noto Sans SC"/>
                <a:cs typeface="Noto Sans SC"/>
                <a:sym typeface="Noto Sans SC"/>
              </a:rPr>
              <a:t>• 业务需求文档</a:t>
            </a:r>
            <a:r>
              <a:rPr lang="en-US" b="false" i="false" strike="noStrike" u="none" sz="1100">
                <a:solidFill>
                  <a:srgbClr val="9CA3AF"/>
                </a:solidFill>
                <a:latin typeface="Noto Sans SC"/>
                <a:ea typeface="Noto Sans SC"/>
                <a:cs typeface="Noto Sans SC"/>
                <a:sym typeface="Noto Sans SC"/>
              </a:rPr>
              <a:t/>
            </a:r>
            <a:endParaRPr lang="en-US" sz="1100"/>
          </a:p>
          <a:p>
            <a:pPr algn="l" indent="0">
              <a:lnSpc>
                <a:spcPct val="125000"/>
              </a:lnSpc>
            </a:pPr>
            <a:r>
              <a:rPr lang="en-US" b="false" i="false" strike="noStrike" u="none" sz="1100">
                <a:solidFill>
                  <a:srgbClr val="9CA3AF"/>
                </a:solidFill>
                <a:latin typeface="Noto Sans SC"/>
                <a:ea typeface="Noto Sans SC"/>
                <a:cs typeface="Noto Sans SC"/>
                <a:sym typeface="Noto Sans SC"/>
              </a:rPr>
              <a:t>• API接口文档</a:t>
            </a:r>
            <a:r>
              <a:rPr lang="en-US" b="false" i="false" strike="noStrike" u="none" sz="1100">
                <a:solidFill>
                  <a:srgbClr val="9CA3AF"/>
                </a:solidFill>
                <a:latin typeface="Noto Sans SC"/>
                <a:ea typeface="Noto Sans SC"/>
                <a:cs typeface="Noto Sans SC"/>
                <a:sym typeface="Noto Sans SC"/>
              </a:rPr>
              <a:t/>
            </a:r>
          </a:p>
          <a:p>
            <a:pPr algn="l" indent="0">
              <a:lnSpc>
                <a:spcPct val="125000"/>
              </a:lnSpc>
            </a:pPr>
            <a:r>
              <a:rPr lang="en-US" b="false" i="false" strike="noStrike" u="none" sz="1100">
                <a:solidFill>
                  <a:srgbClr val="9CA3AF"/>
                </a:solidFill>
                <a:latin typeface="Noto Sans SC"/>
                <a:ea typeface="Noto Sans SC"/>
                <a:cs typeface="Noto Sans SC"/>
                <a:sym typeface="Noto Sans SC"/>
              </a:rPr>
              <a:t>• 代码仓库源码</a:t>
            </a:r>
            <a:r>
              <a:rPr lang="en-US" b="false" i="false" strike="noStrike" u="none" sz="1100">
                <a:solidFill>
                  <a:srgbClr val="9CA3AF"/>
                </a:solidFill>
                <a:latin typeface="Noto Sans SC"/>
                <a:ea typeface="Noto Sans SC"/>
                <a:cs typeface="Noto Sans SC"/>
                <a:sym typeface="Noto Sans SC"/>
              </a:rPr>
              <a:t/>
            </a:r>
          </a:p>
          <a:p>
            <a:pPr algn="l" indent="0">
              <a:lnSpc>
                <a:spcPct val="125000"/>
              </a:lnSpc>
            </a:pPr>
            <a:r>
              <a:rPr lang="en-US" b="false" i="false" strike="noStrike" u="none" sz="1100">
                <a:solidFill>
                  <a:srgbClr val="9CA3AF"/>
                </a:solidFill>
                <a:latin typeface="Noto Sans SC"/>
                <a:ea typeface="Noto Sans SC"/>
                <a:cs typeface="Noto Sans SC"/>
                <a:sym typeface="Noto Sans SC"/>
              </a:rPr>
              <a:t>• 历史工单记录</a:t>
            </a:r>
          </a:p>
        </p:txBody>
      </p:sp>
      <p:pic>
        <p:nvPicPr>
          <p:cNvPr name="Picture 14" id="14"/>
          <p:cNvPicPr>
            <a:picLocks noChangeAspect="true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 rot="0" flipH="false" flipV="false">
            <a:off x="2476500" y="4445000"/>
            <a:ext cx="254000" cy="254000"/>
          </a:xfrm>
          <a:prstGeom prst="rect">
            <a:avLst/>
          </a:prstGeom>
        </p:spPr>
      </p:pic>
      <p:sp>
        <p:nvSpPr>
          <p:cNvPr name="AutoShape 15" id="15"/>
          <p:cNvSpPr/>
          <p:nvPr/>
        </p:nvSpPr>
        <p:spPr>
          <a:xfrm rot="0" flipH="false" flipV="false">
            <a:off x="2794000" y="3429000"/>
            <a:ext cx="1651000" cy="2286000"/>
          </a:xfrm>
          <a:prstGeom prst="roundRect">
            <a:avLst>
              <a:gd name="adj" fmla="val 4615"/>
            </a:avLst>
          </a:prstGeom>
          <a:solidFill>
            <a:srgbClr val="1F2937">
              <a:alpha val="60000"/>
            </a:srgbClr>
          </a:solidFill>
          <a:ln w="12700" cmpd="sng" cap="flat">
            <a:solidFill>
              <a:srgbClr val="4B5563">
                <a:alpha val="100000"/>
              </a:srgbClr>
            </a:solidFill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pic>
        <p:nvPicPr>
          <p:cNvPr name="Picture 16" id="16"/>
          <p:cNvPicPr>
            <a:picLocks noChangeAspect="true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 rot="0" flipH="false" flipV="false">
            <a:off x="2984500" y="3619500"/>
            <a:ext cx="304800" cy="304800"/>
          </a:xfrm>
          <a:prstGeom prst="rect">
            <a:avLst/>
          </a:prstGeom>
        </p:spPr>
      </p:pic>
      <p:sp>
        <p:nvSpPr>
          <p:cNvPr name="AutoShape 17" id="17"/>
          <p:cNvSpPr/>
          <p:nvPr/>
        </p:nvSpPr>
        <p:spPr>
          <a:xfrm rot="0" flipH="false" flipV="false">
            <a:off x="3365500" y="3619500"/>
            <a:ext cx="1270000" cy="3048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indent="0">
              <a:lnSpc>
                <a:spcPct val="125000"/>
              </a:lnSpc>
              <a:defRPr/>
            </a:pPr>
            <a:r>
              <a:rPr lang="en-US" b="true" i="false" strike="noStrike" u="none" sz="1300">
                <a:solidFill>
                  <a:srgbClr val="F3F4F6"/>
                </a:solidFill>
                <a:latin typeface="Noto Sans SC"/>
                <a:ea typeface="Noto Sans SC"/>
                <a:cs typeface="Noto Sans SC"/>
                <a:sym typeface="Noto Sans SC"/>
              </a:rPr>
              <a:t>知识加工层</a:t>
            </a:r>
            <a:endParaRPr lang="en-US" sz="1100"/>
          </a:p>
        </p:txBody>
      </p:sp>
      <p:sp>
        <p:nvSpPr>
          <p:cNvPr name="AutoShape 18" id="18"/>
          <p:cNvSpPr/>
          <p:nvPr/>
        </p:nvSpPr>
        <p:spPr>
          <a:xfrm rot="0" flipH="false" flipV="false">
            <a:off x="2921000" y="4064000"/>
            <a:ext cx="1397000" cy="1524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t" rtlCol="false" anchorCtr="false" vert="horz" wrap="square" lIns="0" rIns="0" tIns="0" bIns="0"/>
          <a:lstStyle/>
          <a:p>
            <a:pPr algn="l" indent="0">
              <a:lnSpc>
                <a:spcPct val="125000"/>
              </a:lnSpc>
              <a:defRPr/>
            </a:pPr>
            <a:r>
              <a:rPr lang="en-US" b="false" i="false" strike="noStrike" u="none" sz="1100">
                <a:solidFill>
                  <a:srgbClr val="9CA3AF"/>
                </a:solidFill>
                <a:latin typeface="Noto Sans SC"/>
                <a:ea typeface="Noto Sans SC"/>
                <a:cs typeface="Noto Sans SC"/>
                <a:sym typeface="Noto Sans SC"/>
              </a:rPr>
              <a:t>• 智能解析清洗</a:t>
            </a:r>
            <a:r>
              <a:rPr lang="en-US" b="false" i="false" strike="noStrike" u="none" sz="1100">
                <a:solidFill>
                  <a:srgbClr val="9CA3AF"/>
                </a:solidFill>
                <a:latin typeface="Noto Sans SC"/>
                <a:ea typeface="Noto Sans SC"/>
                <a:cs typeface="Noto Sans SC"/>
                <a:sym typeface="Noto Sans SC"/>
              </a:rPr>
              <a:t/>
            </a:r>
            <a:endParaRPr lang="en-US" sz="1100"/>
          </a:p>
          <a:p>
            <a:pPr algn="l" indent="0">
              <a:lnSpc>
                <a:spcPct val="125000"/>
              </a:lnSpc>
            </a:pPr>
            <a:r>
              <a:rPr lang="en-US" b="false" i="false" strike="noStrike" u="none" sz="1100">
                <a:solidFill>
                  <a:srgbClr val="9CA3AF"/>
                </a:solidFill>
                <a:latin typeface="Noto Sans SC"/>
                <a:ea typeface="Noto Sans SC"/>
                <a:cs typeface="Noto Sans SC"/>
                <a:sym typeface="Noto Sans SC"/>
              </a:rPr>
              <a:t>• 语义分块处理</a:t>
            </a:r>
            <a:r>
              <a:rPr lang="en-US" b="false" i="false" strike="noStrike" u="none" sz="1100">
                <a:solidFill>
                  <a:srgbClr val="9CA3AF"/>
                </a:solidFill>
                <a:latin typeface="Noto Sans SC"/>
                <a:ea typeface="Noto Sans SC"/>
                <a:cs typeface="Noto Sans SC"/>
                <a:sym typeface="Noto Sans SC"/>
              </a:rPr>
              <a:t/>
            </a:r>
          </a:p>
          <a:p>
            <a:pPr algn="l" indent="0">
              <a:lnSpc>
                <a:spcPct val="125000"/>
              </a:lnSpc>
            </a:pPr>
            <a:r>
              <a:rPr lang="en-US" b="false" i="false" strike="noStrike" u="none" sz="1100">
                <a:solidFill>
                  <a:srgbClr val="9CA3AF"/>
                </a:solidFill>
                <a:latin typeface="Noto Sans SC"/>
                <a:ea typeface="Noto Sans SC"/>
                <a:cs typeface="Noto Sans SC"/>
                <a:sym typeface="Noto Sans SC"/>
              </a:rPr>
              <a:t>• 向量化编码</a:t>
            </a:r>
            <a:r>
              <a:rPr lang="en-US" b="false" i="false" strike="noStrike" u="none" sz="1100">
                <a:solidFill>
                  <a:srgbClr val="9CA3AF"/>
                </a:solidFill>
                <a:latin typeface="Noto Sans SC"/>
                <a:ea typeface="Noto Sans SC"/>
                <a:cs typeface="Noto Sans SC"/>
                <a:sym typeface="Noto Sans SC"/>
              </a:rPr>
              <a:t/>
            </a:r>
          </a:p>
          <a:p>
            <a:pPr algn="l" indent="0">
              <a:lnSpc>
                <a:spcPct val="125000"/>
              </a:lnSpc>
            </a:pPr>
            <a:r>
              <a:rPr lang="en-US" b="false" i="false" strike="noStrike" u="none" sz="1100">
                <a:solidFill>
                  <a:srgbClr val="9CA3AF"/>
                </a:solidFill>
                <a:latin typeface="Noto Sans SC"/>
                <a:ea typeface="Noto Sans SC"/>
                <a:cs typeface="Noto Sans SC"/>
                <a:sym typeface="Noto Sans SC"/>
              </a:rPr>
              <a:t>• 知识图谱构建</a:t>
            </a:r>
          </a:p>
        </p:txBody>
      </p:sp>
      <p:pic>
        <p:nvPicPr>
          <p:cNvPr name="Picture 19" id="19"/>
          <p:cNvPicPr>
            <a:picLocks noChangeAspect="true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 rot="0" flipH="false" flipV="false">
            <a:off x="4508500" y="4445000"/>
            <a:ext cx="254000" cy="254000"/>
          </a:xfrm>
          <a:prstGeom prst="rect">
            <a:avLst/>
          </a:prstGeom>
        </p:spPr>
      </p:pic>
      <p:sp>
        <p:nvSpPr>
          <p:cNvPr name="AutoShape 20" id="20"/>
          <p:cNvSpPr/>
          <p:nvPr/>
        </p:nvSpPr>
        <p:spPr>
          <a:xfrm rot="0" flipH="false" flipV="false">
            <a:off x="4826000" y="3429000"/>
            <a:ext cx="1651000" cy="2286000"/>
          </a:xfrm>
          <a:prstGeom prst="roundRect">
            <a:avLst>
              <a:gd name="adj" fmla="val 4615"/>
            </a:avLst>
          </a:prstGeom>
          <a:solidFill>
            <a:srgbClr val="1F2937">
              <a:alpha val="60000"/>
            </a:srgbClr>
          </a:solidFill>
          <a:ln w="12700" cmpd="sng" cap="flat">
            <a:solidFill>
              <a:srgbClr val="4B5563">
                <a:alpha val="100000"/>
              </a:srgbClr>
            </a:solidFill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pic>
        <p:nvPicPr>
          <p:cNvPr name="Picture 21" id="21"/>
          <p:cNvPicPr>
            <a:picLocks noChangeAspect="true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 rot="0" flipH="false" flipV="false">
            <a:off x="5016500" y="3619500"/>
            <a:ext cx="304800" cy="304800"/>
          </a:xfrm>
          <a:prstGeom prst="rect">
            <a:avLst/>
          </a:prstGeom>
        </p:spPr>
      </p:pic>
      <p:sp>
        <p:nvSpPr>
          <p:cNvPr name="AutoShape 22" id="22"/>
          <p:cNvSpPr/>
          <p:nvPr/>
        </p:nvSpPr>
        <p:spPr>
          <a:xfrm rot="0" flipH="false" flipV="false">
            <a:off x="5397500" y="3619500"/>
            <a:ext cx="1270000" cy="3048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indent="0">
              <a:lnSpc>
                <a:spcPct val="125000"/>
              </a:lnSpc>
              <a:defRPr/>
            </a:pPr>
            <a:r>
              <a:rPr lang="en-US" b="true" i="false" strike="noStrike" u="none" sz="1300">
                <a:solidFill>
                  <a:srgbClr val="F3F4F6"/>
                </a:solidFill>
                <a:latin typeface="Noto Sans SC"/>
                <a:ea typeface="Noto Sans SC"/>
                <a:cs typeface="Noto Sans SC"/>
                <a:sym typeface="Noto Sans SC"/>
              </a:rPr>
              <a:t>知识存储层</a:t>
            </a:r>
            <a:endParaRPr lang="en-US" sz="1100"/>
          </a:p>
        </p:txBody>
      </p:sp>
      <p:sp>
        <p:nvSpPr>
          <p:cNvPr name="AutoShape 23" id="23"/>
          <p:cNvSpPr/>
          <p:nvPr/>
        </p:nvSpPr>
        <p:spPr>
          <a:xfrm rot="0" flipH="false" flipV="false">
            <a:off x="4953000" y="4064000"/>
            <a:ext cx="1397000" cy="1524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t" rtlCol="false" anchorCtr="false" vert="horz" wrap="square" lIns="0" rIns="0" tIns="0" bIns="0"/>
          <a:lstStyle/>
          <a:p>
            <a:pPr algn="l" indent="0">
              <a:lnSpc>
                <a:spcPct val="125000"/>
              </a:lnSpc>
              <a:defRPr/>
            </a:pPr>
            <a:r>
              <a:rPr lang="en-US" b="false" i="false" strike="noStrike" u="none" sz="1100">
                <a:solidFill>
                  <a:srgbClr val="9CA3AF"/>
                </a:solidFill>
                <a:latin typeface="Noto Sans SC"/>
                <a:ea typeface="Noto Sans SC"/>
                <a:cs typeface="Noto Sans SC"/>
                <a:sym typeface="Noto Sans SC"/>
              </a:rPr>
              <a:t>• 高维向量数据库</a:t>
            </a:r>
            <a:r>
              <a:rPr lang="en-US" b="false" i="false" strike="noStrike" u="none" sz="1100">
                <a:solidFill>
                  <a:srgbClr val="9CA3AF"/>
                </a:solidFill>
                <a:latin typeface="Noto Sans SC"/>
                <a:ea typeface="Noto Sans SC"/>
                <a:cs typeface="Noto Sans SC"/>
                <a:sym typeface="Noto Sans SC"/>
              </a:rPr>
              <a:t/>
            </a:r>
            <a:endParaRPr lang="en-US" sz="1100"/>
          </a:p>
          <a:p>
            <a:pPr algn="l" indent="0">
              <a:lnSpc>
                <a:spcPct val="125000"/>
              </a:lnSpc>
            </a:pPr>
            <a:r>
              <a:rPr lang="en-US" b="false" i="false" strike="noStrike" u="none" sz="1100">
                <a:solidFill>
                  <a:srgbClr val="9CA3AF"/>
                </a:solidFill>
                <a:latin typeface="Noto Sans SC"/>
                <a:ea typeface="Noto Sans SC"/>
                <a:cs typeface="Noto Sans SC"/>
                <a:sym typeface="Noto Sans SC"/>
              </a:rPr>
              <a:t>• 全文检索引擎</a:t>
            </a:r>
            <a:r>
              <a:rPr lang="en-US" b="false" i="false" strike="noStrike" u="none" sz="1100">
                <a:solidFill>
                  <a:srgbClr val="9CA3AF"/>
                </a:solidFill>
                <a:latin typeface="Noto Sans SC"/>
                <a:ea typeface="Noto Sans SC"/>
                <a:cs typeface="Noto Sans SC"/>
                <a:sym typeface="Noto Sans SC"/>
              </a:rPr>
              <a:t/>
            </a:r>
          </a:p>
          <a:p>
            <a:pPr algn="l" indent="0">
              <a:lnSpc>
                <a:spcPct val="125000"/>
              </a:lnSpc>
            </a:pPr>
            <a:r>
              <a:rPr lang="en-US" b="false" i="false" strike="noStrike" u="none" sz="1100">
                <a:solidFill>
                  <a:srgbClr val="9CA3AF"/>
                </a:solidFill>
                <a:latin typeface="Noto Sans SC"/>
                <a:ea typeface="Noto Sans SC"/>
                <a:cs typeface="Noto Sans SC"/>
                <a:sym typeface="Noto Sans SC"/>
              </a:rPr>
              <a:t>• 图数据库 (Graph)</a:t>
            </a:r>
            <a:r>
              <a:rPr lang="en-US" b="false" i="false" strike="noStrike" u="none" sz="1100">
                <a:solidFill>
                  <a:srgbClr val="9CA3AF"/>
                </a:solidFill>
                <a:latin typeface="Noto Sans SC"/>
                <a:ea typeface="Noto Sans SC"/>
                <a:cs typeface="Noto Sans SC"/>
                <a:sym typeface="Noto Sans SC"/>
              </a:rPr>
              <a:t/>
            </a:r>
          </a:p>
          <a:p>
            <a:pPr algn="l" indent="0">
              <a:lnSpc>
                <a:spcPct val="125000"/>
              </a:lnSpc>
            </a:pPr>
            <a:r>
              <a:rPr lang="en-US" b="false" i="false" strike="noStrike" u="none" sz="1100">
                <a:solidFill>
                  <a:srgbClr val="9CA3AF"/>
                </a:solidFill>
                <a:latin typeface="Noto Sans SC"/>
                <a:ea typeface="Noto Sans SC"/>
                <a:cs typeface="Noto Sans SC"/>
                <a:sym typeface="Noto Sans SC"/>
              </a:rPr>
              <a:t>• 元数据管理索引</a:t>
            </a:r>
          </a:p>
        </p:txBody>
      </p:sp>
      <p:pic>
        <p:nvPicPr>
          <p:cNvPr name="Picture 24" id="24"/>
          <p:cNvPicPr>
            <a:picLocks noChangeAspect="true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 rot="0" flipH="false" flipV="false">
            <a:off x="6540500" y="4445000"/>
            <a:ext cx="254000" cy="254000"/>
          </a:xfrm>
          <a:prstGeom prst="rect">
            <a:avLst/>
          </a:prstGeom>
        </p:spPr>
      </p:pic>
      <p:sp>
        <p:nvSpPr>
          <p:cNvPr name="AutoShape 25" id="25"/>
          <p:cNvSpPr/>
          <p:nvPr/>
        </p:nvSpPr>
        <p:spPr>
          <a:xfrm rot="0" flipH="false" flipV="false">
            <a:off x="6858000" y="3429000"/>
            <a:ext cx="1651000" cy="2286000"/>
          </a:xfrm>
          <a:prstGeom prst="roundRect">
            <a:avLst>
              <a:gd name="adj" fmla="val 4615"/>
            </a:avLst>
          </a:prstGeom>
          <a:solidFill>
            <a:srgbClr val="1F2937">
              <a:alpha val="60000"/>
            </a:srgbClr>
          </a:solidFill>
          <a:ln w="12700" cmpd="sng" cap="flat">
            <a:solidFill>
              <a:srgbClr val="4B5563">
                <a:alpha val="100000"/>
              </a:srgbClr>
            </a:solidFill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pic>
        <p:nvPicPr>
          <p:cNvPr name="Picture 26" id="26"/>
          <p:cNvPicPr>
            <a:picLocks noChangeAspect="true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 rot="0" flipH="false" flipV="false">
            <a:off x="7048500" y="3619500"/>
            <a:ext cx="304800" cy="304800"/>
          </a:xfrm>
          <a:prstGeom prst="rect">
            <a:avLst/>
          </a:prstGeom>
        </p:spPr>
      </p:pic>
      <p:sp>
        <p:nvSpPr>
          <p:cNvPr name="AutoShape 27" id="27"/>
          <p:cNvSpPr/>
          <p:nvPr/>
        </p:nvSpPr>
        <p:spPr>
          <a:xfrm rot="0" flipH="false" flipV="false">
            <a:off x="7429500" y="3619500"/>
            <a:ext cx="1270000" cy="3048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indent="0">
              <a:lnSpc>
                <a:spcPct val="125000"/>
              </a:lnSpc>
              <a:defRPr/>
            </a:pPr>
            <a:r>
              <a:rPr lang="en-US" b="true" i="false" strike="noStrike" u="none" sz="1300">
                <a:solidFill>
                  <a:srgbClr val="F3F4F6"/>
                </a:solidFill>
                <a:latin typeface="Noto Sans SC"/>
                <a:ea typeface="Noto Sans SC"/>
                <a:cs typeface="Noto Sans SC"/>
                <a:sym typeface="Noto Sans SC"/>
              </a:rPr>
              <a:t>检索与生成层</a:t>
            </a:r>
            <a:endParaRPr lang="en-US" sz="1100"/>
          </a:p>
        </p:txBody>
      </p:sp>
      <p:sp>
        <p:nvSpPr>
          <p:cNvPr name="AutoShape 28" id="28"/>
          <p:cNvSpPr/>
          <p:nvPr/>
        </p:nvSpPr>
        <p:spPr>
          <a:xfrm rot="0" flipH="false" flipV="false">
            <a:off x="6985000" y="4064000"/>
            <a:ext cx="1397000" cy="1524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t" rtlCol="false" anchorCtr="false" vert="horz" wrap="square" lIns="0" rIns="0" tIns="0" bIns="0"/>
          <a:lstStyle/>
          <a:p>
            <a:pPr algn="l" indent="0">
              <a:lnSpc>
                <a:spcPct val="125000"/>
              </a:lnSpc>
              <a:defRPr/>
            </a:pPr>
            <a:r>
              <a:rPr lang="en-US" b="false" i="false" strike="noStrike" u="none" sz="1100">
                <a:solidFill>
                  <a:srgbClr val="9CA3AF"/>
                </a:solidFill>
                <a:latin typeface="Noto Sans SC"/>
                <a:ea typeface="Noto Sans SC"/>
                <a:cs typeface="Noto Sans SC"/>
                <a:sym typeface="Noto Sans SC"/>
              </a:rPr>
              <a:t>• 混合检索引擎</a:t>
            </a:r>
            <a:r>
              <a:rPr lang="en-US" b="false" i="false" strike="noStrike" u="none" sz="1100">
                <a:solidFill>
                  <a:srgbClr val="9CA3AF"/>
                </a:solidFill>
                <a:latin typeface="Noto Sans SC"/>
                <a:ea typeface="Noto Sans SC"/>
                <a:cs typeface="Noto Sans SC"/>
                <a:sym typeface="Noto Sans SC"/>
              </a:rPr>
              <a:t/>
            </a:r>
            <a:endParaRPr lang="en-US" sz="1100"/>
          </a:p>
          <a:p>
            <a:pPr algn="l" indent="0">
              <a:lnSpc>
                <a:spcPct val="125000"/>
              </a:lnSpc>
            </a:pPr>
            <a:r>
              <a:rPr lang="en-US" b="false" i="false" strike="noStrike" u="none" sz="1100">
                <a:solidFill>
                  <a:srgbClr val="9CA3AF"/>
                </a:solidFill>
                <a:latin typeface="Noto Sans SC"/>
                <a:ea typeface="Noto Sans SC"/>
                <a:cs typeface="Noto Sans SC"/>
                <a:sym typeface="Noto Sans SC"/>
              </a:rPr>
              <a:t>• 动态上下文组装</a:t>
            </a:r>
            <a:r>
              <a:rPr lang="en-US" b="false" i="false" strike="noStrike" u="none" sz="1100">
                <a:solidFill>
                  <a:srgbClr val="9CA3AF"/>
                </a:solidFill>
                <a:latin typeface="Noto Sans SC"/>
                <a:ea typeface="Noto Sans SC"/>
                <a:cs typeface="Noto Sans SC"/>
                <a:sym typeface="Noto Sans SC"/>
              </a:rPr>
              <a:t/>
            </a:r>
          </a:p>
          <a:p>
            <a:pPr algn="l" indent="0">
              <a:lnSpc>
                <a:spcPct val="125000"/>
              </a:lnSpc>
            </a:pPr>
            <a:r>
              <a:rPr lang="en-US" b="false" i="false" strike="noStrike" u="none" sz="1100">
                <a:solidFill>
                  <a:srgbClr val="9CA3AF"/>
                </a:solidFill>
                <a:latin typeface="Noto Sans SC"/>
                <a:ea typeface="Noto Sans SC"/>
                <a:cs typeface="Noto Sans SC"/>
                <a:sym typeface="Noto Sans SC"/>
              </a:rPr>
              <a:t>• LLM 代码生成</a:t>
            </a:r>
            <a:r>
              <a:rPr lang="en-US" b="false" i="false" strike="noStrike" u="none" sz="1100">
                <a:solidFill>
                  <a:srgbClr val="9CA3AF"/>
                </a:solidFill>
                <a:latin typeface="Noto Sans SC"/>
                <a:ea typeface="Noto Sans SC"/>
                <a:cs typeface="Noto Sans SC"/>
                <a:sym typeface="Noto Sans SC"/>
              </a:rPr>
              <a:t/>
            </a:r>
          </a:p>
          <a:p>
            <a:pPr algn="l" indent="0">
              <a:lnSpc>
                <a:spcPct val="125000"/>
              </a:lnSpc>
            </a:pPr>
            <a:r>
              <a:rPr lang="en-US" b="false" i="false" strike="noStrike" u="none" sz="1100">
                <a:solidFill>
                  <a:srgbClr val="9CA3AF"/>
                </a:solidFill>
                <a:latin typeface="Noto Sans SC"/>
                <a:ea typeface="Noto Sans SC"/>
                <a:cs typeface="Noto Sans SC"/>
                <a:sym typeface="Noto Sans SC"/>
              </a:rPr>
              <a:t>• 结果合规性校验</a:t>
            </a:r>
          </a:p>
        </p:txBody>
      </p:sp>
      <p:pic>
        <p:nvPicPr>
          <p:cNvPr name="Picture 29" id="29"/>
          <p:cNvPicPr>
            <a:picLocks noChangeAspect="true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 rot="0" flipH="false" flipV="false">
            <a:off x="8572500" y="4445000"/>
            <a:ext cx="254000" cy="254000"/>
          </a:xfrm>
          <a:prstGeom prst="rect">
            <a:avLst/>
          </a:prstGeom>
        </p:spPr>
      </p:pic>
      <p:sp>
        <p:nvSpPr>
          <p:cNvPr name="AutoShape 30" id="30"/>
          <p:cNvSpPr/>
          <p:nvPr/>
        </p:nvSpPr>
        <p:spPr>
          <a:xfrm rot="0" flipH="false" flipV="false">
            <a:off x="8890000" y="3429000"/>
            <a:ext cx="1651000" cy="2286000"/>
          </a:xfrm>
          <a:prstGeom prst="roundRect">
            <a:avLst>
              <a:gd name="adj" fmla="val 4615"/>
            </a:avLst>
          </a:prstGeom>
          <a:solidFill>
            <a:srgbClr val="0F766E">
              <a:alpha val="30000"/>
            </a:srgbClr>
          </a:solidFill>
          <a:ln w="25400" cmpd="sng" cap="flat">
            <a:solidFill>
              <a:srgbClr val="2DD4BF">
                <a:alpha val="80000"/>
              </a:srgbClr>
            </a:solidFill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pic>
        <p:nvPicPr>
          <p:cNvPr name="Picture 31" id="31"/>
          <p:cNvPicPr>
            <a:picLocks noChangeAspect="true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 rot="0" flipH="false" flipV="false">
            <a:off x="9080500" y="3619500"/>
            <a:ext cx="304800" cy="304800"/>
          </a:xfrm>
          <a:prstGeom prst="rect">
            <a:avLst/>
          </a:prstGeom>
        </p:spPr>
      </p:pic>
      <p:sp>
        <p:nvSpPr>
          <p:cNvPr name="AutoShape 32" id="32"/>
          <p:cNvSpPr/>
          <p:nvPr/>
        </p:nvSpPr>
        <p:spPr>
          <a:xfrm rot="0" flipH="false" flipV="false">
            <a:off x="9461500" y="3619500"/>
            <a:ext cx="1270000" cy="3048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indent="0">
              <a:lnSpc>
                <a:spcPct val="125000"/>
              </a:lnSpc>
              <a:defRPr/>
            </a:pPr>
            <a:r>
              <a:rPr lang="en-US" b="true" i="false" strike="noStrike" u="none" sz="1300">
                <a:solidFill>
                  <a:srgbClr val="F3F4F6"/>
                </a:solidFill>
                <a:latin typeface="Noto Sans SC"/>
                <a:ea typeface="Noto Sans SC"/>
                <a:cs typeface="Noto Sans SC"/>
                <a:sym typeface="Noto Sans SC"/>
              </a:rPr>
              <a:t>AI Coding 工具</a:t>
            </a:r>
            <a:endParaRPr lang="en-US" sz="1100"/>
          </a:p>
        </p:txBody>
      </p:sp>
      <p:sp>
        <p:nvSpPr>
          <p:cNvPr name="AutoShape 33" id="33"/>
          <p:cNvSpPr/>
          <p:nvPr/>
        </p:nvSpPr>
        <p:spPr>
          <a:xfrm rot="0" flipH="false" flipV="false">
            <a:off x="9017000" y="4064000"/>
            <a:ext cx="1397000" cy="1524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t" rtlCol="false" anchorCtr="false" vert="horz" wrap="square" lIns="0" rIns="0" tIns="0" bIns="0"/>
          <a:lstStyle/>
          <a:p>
            <a:pPr algn="l" indent="0">
              <a:lnSpc>
                <a:spcPct val="125000"/>
              </a:lnSpc>
              <a:defRPr/>
            </a:pPr>
            <a:r>
              <a:rPr lang="en-US" b="false" i="false" strike="noStrike" u="none" sz="1100">
                <a:solidFill>
                  <a:srgbClr val="D1D5DB"/>
                </a:solidFill>
                <a:latin typeface="Noto Sans SC"/>
                <a:ea typeface="Noto Sans SC"/>
                <a:cs typeface="Noto Sans SC"/>
                <a:sym typeface="Noto Sans SC"/>
              </a:rPr>
              <a:t>• 智能IDE插件集成</a:t>
            </a:r>
            <a:r>
              <a:rPr lang="en-US" b="false" i="false" strike="noStrike" u="none" sz="1100">
                <a:solidFill>
                  <a:srgbClr val="D1D5DB"/>
                </a:solidFill>
                <a:latin typeface="Noto Sans SC"/>
                <a:ea typeface="Noto Sans SC"/>
                <a:cs typeface="Noto Sans SC"/>
                <a:sym typeface="Noto Sans SC"/>
              </a:rPr>
              <a:t/>
            </a:r>
            <a:endParaRPr lang="en-US" sz="1100"/>
          </a:p>
          <a:p>
            <a:pPr algn="l" indent="0">
              <a:lnSpc>
                <a:spcPct val="125000"/>
              </a:lnSpc>
            </a:pPr>
            <a:r>
              <a:rPr lang="en-US" b="false" i="false" strike="noStrike" u="none" sz="1100">
                <a:solidFill>
                  <a:srgbClr val="D1D5DB"/>
                </a:solidFill>
                <a:latin typeface="Noto Sans SC"/>
                <a:ea typeface="Noto Sans SC"/>
                <a:cs typeface="Noto Sans SC"/>
                <a:sym typeface="Noto Sans SC"/>
              </a:rPr>
              <a:t>• 需求开发场景覆盖</a:t>
            </a:r>
            <a:r>
              <a:rPr lang="en-US" b="false" i="false" strike="noStrike" u="none" sz="1100">
                <a:solidFill>
                  <a:srgbClr val="D1D5DB"/>
                </a:solidFill>
                <a:latin typeface="Noto Sans SC"/>
                <a:ea typeface="Noto Sans SC"/>
                <a:cs typeface="Noto Sans SC"/>
                <a:sym typeface="Noto Sans SC"/>
              </a:rPr>
              <a:t/>
            </a:r>
          </a:p>
          <a:p>
            <a:pPr algn="l" indent="0">
              <a:lnSpc>
                <a:spcPct val="125000"/>
              </a:lnSpc>
            </a:pPr>
            <a:r>
              <a:rPr lang="en-US" b="false" i="false" strike="noStrike" u="none" sz="1100">
                <a:solidFill>
                  <a:srgbClr val="D1D5DB"/>
                </a:solidFill>
                <a:latin typeface="Noto Sans SC"/>
                <a:ea typeface="Noto Sans SC"/>
                <a:cs typeface="Noto Sans SC"/>
                <a:sym typeface="Noto Sans SC"/>
              </a:rPr>
              <a:t>• 自动问题定位诊断</a:t>
            </a:r>
            <a:r>
              <a:rPr lang="en-US" b="false" i="false" strike="noStrike" u="none" sz="1100">
                <a:solidFill>
                  <a:srgbClr val="D1D5DB"/>
                </a:solidFill>
                <a:latin typeface="Noto Sans SC"/>
                <a:ea typeface="Noto Sans SC"/>
                <a:cs typeface="Noto Sans SC"/>
                <a:sym typeface="Noto Sans SC"/>
              </a:rPr>
              <a:t/>
            </a:r>
          </a:p>
          <a:p>
            <a:pPr algn="l" indent="0">
              <a:lnSpc>
                <a:spcPct val="125000"/>
              </a:lnSpc>
            </a:pPr>
            <a:r>
              <a:rPr lang="en-US" b="false" i="false" strike="noStrike" u="none" sz="1100">
                <a:solidFill>
                  <a:srgbClr val="D1D5DB"/>
                </a:solidFill>
                <a:latin typeface="Noto Sans SC"/>
                <a:ea typeface="Noto Sans SC"/>
                <a:cs typeface="Noto Sans SC"/>
                <a:sym typeface="Noto Sans SC"/>
              </a:rPr>
              <a:t>• 智能代码检视评审</a:t>
            </a:r>
          </a:p>
        </p:txBody>
      </p:sp>
      <p:cxnSp>
        <p:nvCxnSpPr>
          <p:cNvPr name="Connector 34" id="34"/>
          <p:cNvCxnSpPr/>
          <p:nvPr/>
        </p:nvCxnSpPr>
        <p:spPr>
          <a:xfrm rot="5262563" flipH="false" flipV="false">
            <a:off x="9556750" y="5994527"/>
            <a:ext cx="3175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mpd="sng" cap="flat">
            <a:solidFill>
              <a:srgbClr val="2DD4BF">
                <a:alpha val="60000"/>
              </a:srgbClr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name="Connector 35" id="35"/>
          <p:cNvCxnSpPr/>
          <p:nvPr/>
        </p:nvCxnSpPr>
        <p:spPr>
          <a:xfrm rot="10792838" flipH="false" flipV="false">
            <a:off x="3619493" y="6153150"/>
            <a:ext cx="6096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mpd="sng" cap="flat">
            <a:solidFill>
              <a:srgbClr val="2DD4BF">
                <a:alpha val="60000"/>
              </a:srgbClr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name="Connector 36" id="36"/>
          <p:cNvCxnSpPr/>
          <p:nvPr/>
        </p:nvCxnSpPr>
        <p:spPr>
          <a:xfrm rot="-5537436" flipH="false" flipV="false">
            <a:off x="3460750" y="5994273"/>
            <a:ext cx="3175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mpd="sng" cap="flat">
            <a:solidFill>
              <a:srgbClr val="2DD4BF">
                <a:alpha val="60000"/>
              </a:srgbClr>
            </a:solidFill>
            <a:prstDash val="dash"/>
            <a:round/>
            <a:headEnd type="none" w="med" len="med"/>
            <a:tailEnd type="arrow" w="sm" len="sm"/>
          </a:ln>
        </p:spPr>
      </p:cxnSp>
      <p:sp>
        <p:nvSpPr>
          <p:cNvPr name="AutoShape 37" id="37"/>
          <p:cNvSpPr/>
          <p:nvPr/>
        </p:nvSpPr>
        <p:spPr>
          <a:xfrm rot="0" flipH="false" flipV="false">
            <a:off x="5080000" y="6007100"/>
            <a:ext cx="2032000" cy="304800"/>
          </a:xfrm>
          <a:prstGeom prst="roundRect">
            <a:avLst>
              <a:gd name="adj" fmla="val 50000"/>
            </a:avLst>
          </a:prstGeom>
          <a:solidFill>
            <a:srgbClr val="111827">
              <a:alpha val="100000"/>
            </a:srgbClr>
          </a:solidFill>
          <a:ln w="12700" cmpd="sng" cap="flat">
            <a:solidFill>
              <a:srgbClr val="2DD4BF">
                <a:alpha val="40000"/>
              </a:srgbClr>
            </a:solidFill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sp>
        <p:nvSpPr>
          <p:cNvPr name="AutoShape 38" id="38"/>
          <p:cNvSpPr/>
          <p:nvPr/>
        </p:nvSpPr>
        <p:spPr>
          <a:xfrm rot="0" flipH="false" flipV="false">
            <a:off x="5080000" y="6032500"/>
            <a:ext cx="2032000" cy="3048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 indent="0">
              <a:lnSpc>
                <a:spcPct val="125000"/>
              </a:lnSpc>
              <a:defRPr/>
            </a:pPr>
            <a:r>
              <a:rPr lang="en-US" b="false" i="false" strike="noStrike" u="none" sz="1000">
                <a:solidFill>
                  <a:srgbClr val="2DD4BF"/>
                </a:solidFill>
                <a:latin typeface="Noto Sans SC"/>
                <a:ea typeface="Noto Sans SC"/>
                <a:cs typeface="Noto Sans SC"/>
                <a:sym typeface="Noto Sans SC"/>
              </a:rPr>
              <a:t>运营反馈闭环：数据反哺与模型迭代</a:t>
            </a:r>
            <a:endParaRPr lang="en-US" sz="1100"/>
          </a:p>
        </p:txBody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blipFill dpi="0" rotWithShape="true">
          <a:blip r:embed="rId2">
            <a:lum/>
          </a:blip>
          <a:srcRect/>
          <a:stretch>
            <a:fillRect l="0" t="0" r="0" b="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 rot="0" flipH="false" flipV="false">
            <a:off x="0" y="0"/>
            <a:ext cx="12192000" cy="6858000"/>
          </a:xfrm>
          <a:prstGeom prst="roundRect">
            <a:avLst>
              <a:gd name="adj" fmla="val 0"/>
            </a:avLst>
          </a:prstGeom>
          <a:solidFill>
            <a:srgbClr val="111827">
              <a:alpha val="85000"/>
            </a:srgbClr>
          </a:solidFill>
          <a:ln w="25400" cmpd="sng" cap="flat">
            <a:noFill/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sp>
        <p:nvSpPr>
          <p:cNvPr name="AutoShape 3" id="3"/>
          <p:cNvSpPr/>
          <p:nvPr/>
        </p:nvSpPr>
        <p:spPr>
          <a:xfrm rot="0" flipH="false" flipV="false">
            <a:off x="762000" y="635000"/>
            <a:ext cx="7620000" cy="508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indent="0">
              <a:lnSpc>
                <a:spcPct val="125000"/>
              </a:lnSpc>
              <a:defRPr/>
            </a:pPr>
            <a:r>
              <a:rPr lang="en-US" b="true" i="false" strike="noStrike" u="none" sz="3200">
                <a:solidFill>
                  <a:srgbClr val="2DD4BF"/>
                </a:solidFill>
                <a:latin typeface="Noto Sans SC"/>
                <a:ea typeface="Noto Sans SC"/>
                <a:cs typeface="Noto Sans SC"/>
                <a:sym typeface="Noto Sans SC"/>
              </a:rPr>
              <a:t>04. 核心数据流转</a:t>
            </a:r>
            <a:endParaRPr lang="en-US" sz="1100"/>
          </a:p>
        </p:txBody>
      </p:sp>
      <p:sp>
        <p:nvSpPr>
          <p:cNvPr name="AutoShape 4" id="4"/>
          <p:cNvSpPr/>
          <p:nvPr/>
        </p:nvSpPr>
        <p:spPr>
          <a:xfrm rot="0" flipH="false" flipV="false">
            <a:off x="762000" y="1168400"/>
            <a:ext cx="7620000" cy="3048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indent="0">
              <a:lnSpc>
                <a:spcPct val="125000"/>
              </a:lnSpc>
              <a:defRPr/>
            </a:pPr>
            <a:r>
              <a:rPr lang="en-US" b="false" i="false" strike="noStrike" u="none" sz="1600">
                <a:solidFill>
                  <a:srgbClr val="D1D5DB"/>
                </a:solidFill>
                <a:latin typeface="Noto Sans SC"/>
                <a:ea typeface="Noto Sans SC"/>
                <a:cs typeface="Noto Sans SC"/>
                <a:sym typeface="Noto Sans SC"/>
              </a:rPr>
              <a:t>全链路数据生命周期管理与知识闭环生态</a:t>
            </a:r>
            <a:endParaRPr lang="en-US" sz="1100"/>
          </a:p>
        </p:txBody>
      </p:sp>
      <p:sp>
        <p:nvSpPr>
          <p:cNvPr name="AutoShape 5" id="5"/>
          <p:cNvSpPr/>
          <p:nvPr/>
        </p:nvSpPr>
        <p:spPr>
          <a:xfrm rot="0" flipH="false" flipV="false">
            <a:off x="762000" y="1905000"/>
            <a:ext cx="1981200" cy="4318000"/>
          </a:xfrm>
          <a:prstGeom prst="roundRect">
            <a:avLst>
              <a:gd name="adj" fmla="val 6410"/>
            </a:avLst>
          </a:prstGeom>
          <a:solidFill>
            <a:srgbClr val="1E293B">
              <a:alpha val="60000"/>
            </a:srgbClr>
          </a:solidFill>
          <a:ln w="12700" cmpd="sng" cap="flat">
            <a:solidFill>
              <a:srgbClr val="2DD4BF">
                <a:alpha val="30000"/>
              </a:srgbClr>
            </a:solidFill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pic>
        <p:nvPicPr>
          <p:cNvPr name="Picture 6" id="6"/>
          <p:cNvPicPr>
            <a:picLocks noChangeAspect="true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 rot="0" flipH="false" flipV="false">
            <a:off x="1549400" y="2159000"/>
            <a:ext cx="406400" cy="406400"/>
          </a:xfrm>
          <a:prstGeom prst="rect">
            <a:avLst/>
          </a:prstGeom>
        </p:spPr>
      </p:pic>
      <p:sp>
        <p:nvSpPr>
          <p:cNvPr name="AutoShape 7" id="7"/>
          <p:cNvSpPr/>
          <p:nvPr/>
        </p:nvSpPr>
        <p:spPr>
          <a:xfrm rot="0" flipH="false" flipV="false">
            <a:off x="889000" y="2667000"/>
            <a:ext cx="1727200" cy="3048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 indent="0">
              <a:lnSpc>
                <a:spcPct val="125000"/>
              </a:lnSpc>
              <a:defRPr/>
            </a:pPr>
            <a:r>
              <a:rPr lang="en-US" b="true" i="false" strike="noStrike" u="none" sz="1600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数据采集</a:t>
            </a:r>
            <a:endParaRPr lang="en-US" sz="1100"/>
          </a:p>
        </p:txBody>
      </p:sp>
      <p:sp>
        <p:nvSpPr>
          <p:cNvPr name="AutoShape 8" id="8"/>
          <p:cNvSpPr/>
          <p:nvPr/>
        </p:nvSpPr>
        <p:spPr>
          <a:xfrm rot="0" flipH="false" flipV="false">
            <a:off x="889000" y="3022600"/>
            <a:ext cx="1727200" cy="2286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t" rtlCol="false" anchorCtr="false" vert="horz" wrap="square" lIns="0" rIns="0" tIns="0" bIns="0"/>
          <a:lstStyle/>
          <a:p>
            <a:pPr algn="ctr" indent="0">
              <a:lnSpc>
                <a:spcPct val="125000"/>
              </a:lnSpc>
              <a:defRPr/>
            </a:pPr>
            <a:r>
              <a:rPr lang="en-US" b="false" i="false" strike="noStrike" u="none" sz="1000">
                <a:solidFill>
                  <a:srgbClr val="94A3B8"/>
                </a:solidFill>
                <a:latin typeface="Noto Sans SC"/>
                <a:ea typeface="Noto Sans SC"/>
                <a:cs typeface="Noto Sans SC"/>
                <a:sym typeface="Noto Sans SC"/>
              </a:rPr>
              <a:t>Source Layer</a:t>
            </a:r>
            <a:endParaRPr lang="en-US" sz="1100"/>
          </a:p>
        </p:txBody>
      </p:sp>
      <p:cxnSp>
        <p:nvCxnSpPr>
          <p:cNvPr name="Connector 9" id="9"/>
          <p:cNvCxnSpPr/>
          <p:nvPr/>
        </p:nvCxnSpPr>
        <p:spPr>
          <a:xfrm rot="-29635" flipH="false" flipV="false">
            <a:off x="1016027" y="3346450"/>
            <a:ext cx="14732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mpd="sng" cap="flat">
            <a:solidFill>
              <a:srgbClr val="FFFFFF">
                <a:alpha val="1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name="AutoShape 10" id="10"/>
          <p:cNvSpPr/>
          <p:nvPr/>
        </p:nvSpPr>
        <p:spPr>
          <a:xfrm rot="0" flipH="false" flipV="false">
            <a:off x="889000" y="3479800"/>
            <a:ext cx="1727200" cy="2540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t" rtlCol="false" anchorCtr="false" vert="horz" wrap="square" lIns="0" rIns="0" tIns="0" bIns="0"/>
          <a:lstStyle/>
          <a:p>
            <a:pPr algn="l" indent="0">
              <a:lnSpc>
                <a:spcPct val="116666"/>
              </a:lnSpc>
              <a:defRPr/>
            </a:pPr>
            <a:r>
              <a:rPr lang="en-US" b="false" i="false" strike="noStrike" u="none" sz="1100">
                <a:solidFill>
                  <a:srgbClr val="D1D5DB"/>
                </a:solidFill>
                <a:latin typeface="Noto Sans SC"/>
                <a:ea typeface="Noto Sans SC"/>
                <a:cs typeface="Noto Sans SC"/>
                <a:sym typeface="Noto Sans SC"/>
              </a:rPr>
              <a:t>• 业务需求文档解析</a:t>
            </a:r>
            <a:r>
              <a:rPr lang="en-US" b="false" i="false" strike="noStrike" u="none" sz="1100">
                <a:solidFill>
                  <a:srgbClr val="D1D5DB"/>
                </a:solidFill>
                <a:latin typeface="Noto Sans SC"/>
                <a:ea typeface="Noto Sans SC"/>
                <a:cs typeface="Noto Sans SC"/>
                <a:sym typeface="Noto Sans SC"/>
              </a:rPr>
              <a:t/>
            </a:r>
            <a:endParaRPr lang="en-US" sz="1100"/>
          </a:p>
          <a:p>
            <a:pPr algn="l" indent="0">
              <a:lnSpc>
                <a:spcPct val="116666"/>
              </a:lnSpc>
            </a:pPr>
            <a:r>
              <a:rPr lang="en-US" b="false" i="false" strike="noStrike" u="none" sz="1100">
                <a:solidFill>
                  <a:srgbClr val="D1D5DB"/>
                </a:solidFill>
                <a:latin typeface="Noto Sans SC"/>
                <a:ea typeface="Noto Sans SC"/>
                <a:cs typeface="Noto Sans SC"/>
                <a:sym typeface="Noto Sans SC"/>
              </a:rPr>
              <a:t>• API/SDK 接口文档获取</a:t>
            </a:r>
            <a:r>
              <a:rPr lang="en-US" b="false" i="false" strike="noStrike" u="none" sz="1100">
                <a:solidFill>
                  <a:srgbClr val="D1D5DB"/>
                </a:solidFill>
                <a:latin typeface="Noto Sans SC"/>
                <a:ea typeface="Noto Sans SC"/>
                <a:cs typeface="Noto Sans SC"/>
                <a:sym typeface="Noto Sans SC"/>
              </a:rPr>
              <a:t/>
            </a:r>
          </a:p>
          <a:p>
            <a:pPr algn="l" indent="0">
              <a:lnSpc>
                <a:spcPct val="116666"/>
              </a:lnSpc>
            </a:pPr>
            <a:r>
              <a:rPr lang="en-US" b="false" i="false" strike="noStrike" u="none" sz="1100">
                <a:solidFill>
                  <a:srgbClr val="D1D5DB"/>
                </a:solidFill>
                <a:latin typeface="Noto Sans SC"/>
                <a:ea typeface="Noto Sans SC"/>
                <a:cs typeface="Noto Sans SC"/>
                <a:sym typeface="Noto Sans SC"/>
              </a:rPr>
              <a:t>• 代码仓库历史快照拉取</a:t>
            </a:r>
            <a:r>
              <a:rPr lang="en-US" b="false" i="false" strike="noStrike" u="none" sz="1100">
                <a:solidFill>
                  <a:srgbClr val="D1D5DB"/>
                </a:solidFill>
                <a:latin typeface="Noto Sans SC"/>
                <a:ea typeface="Noto Sans SC"/>
                <a:cs typeface="Noto Sans SC"/>
                <a:sym typeface="Noto Sans SC"/>
              </a:rPr>
              <a:t/>
            </a:r>
          </a:p>
          <a:p>
            <a:pPr algn="l" indent="0">
              <a:lnSpc>
                <a:spcPct val="116666"/>
              </a:lnSpc>
            </a:pPr>
            <a:r>
              <a:rPr lang="en-US" b="false" i="false" strike="noStrike" u="none" sz="1100">
                <a:solidFill>
                  <a:srgbClr val="D1D5DB"/>
                </a:solidFill>
                <a:latin typeface="Noto Sans SC"/>
                <a:ea typeface="Noto Sans SC"/>
                <a:cs typeface="Noto Sans SC"/>
                <a:sym typeface="Noto Sans SC"/>
              </a:rPr>
              <a:t>• 历史工单与问答对清洗</a:t>
            </a:r>
          </a:p>
        </p:txBody>
      </p:sp>
      <p:pic>
        <p:nvPicPr>
          <p:cNvPr name="Picture 11" id="11"/>
          <p:cNvPicPr>
            <a:picLocks noChangeAspect="true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 rot="0" flipH="false" flipV="false">
            <a:off x="2832100" y="3937000"/>
            <a:ext cx="254000" cy="254000"/>
          </a:xfrm>
          <a:prstGeom prst="rect">
            <a:avLst/>
          </a:prstGeom>
        </p:spPr>
      </p:pic>
      <p:sp>
        <p:nvSpPr>
          <p:cNvPr name="AutoShape 12" id="12"/>
          <p:cNvSpPr/>
          <p:nvPr/>
        </p:nvSpPr>
        <p:spPr>
          <a:xfrm rot="0" flipH="false" flipV="false">
            <a:off x="3124200" y="1905000"/>
            <a:ext cx="1981200" cy="4318000"/>
          </a:xfrm>
          <a:prstGeom prst="roundRect">
            <a:avLst>
              <a:gd name="adj" fmla="val 6410"/>
            </a:avLst>
          </a:prstGeom>
          <a:solidFill>
            <a:srgbClr val="1E293B">
              <a:alpha val="60000"/>
            </a:srgbClr>
          </a:solidFill>
          <a:ln w="12700" cmpd="sng" cap="flat">
            <a:solidFill>
              <a:srgbClr val="2DD4BF">
                <a:alpha val="30000"/>
              </a:srgbClr>
            </a:solidFill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pic>
        <p:nvPicPr>
          <p:cNvPr name="Picture 13" id="13"/>
          <p:cNvPicPr>
            <a:picLocks noChangeAspect="true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 rot="0" flipH="false" flipV="false">
            <a:off x="3911600" y="2159000"/>
            <a:ext cx="406400" cy="406400"/>
          </a:xfrm>
          <a:prstGeom prst="rect">
            <a:avLst/>
          </a:prstGeom>
        </p:spPr>
      </p:pic>
      <p:sp>
        <p:nvSpPr>
          <p:cNvPr name="AutoShape 14" id="14"/>
          <p:cNvSpPr/>
          <p:nvPr/>
        </p:nvSpPr>
        <p:spPr>
          <a:xfrm rot="0" flipH="false" flipV="false">
            <a:off x="3251200" y="2667000"/>
            <a:ext cx="1727200" cy="3048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 indent="0">
              <a:lnSpc>
                <a:spcPct val="125000"/>
              </a:lnSpc>
              <a:defRPr/>
            </a:pPr>
            <a:r>
              <a:rPr lang="en-US" b="true" i="false" strike="noStrike" u="none" sz="1600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知识加工</a:t>
            </a:r>
            <a:endParaRPr lang="en-US" sz="1100"/>
          </a:p>
        </p:txBody>
      </p:sp>
      <p:sp>
        <p:nvSpPr>
          <p:cNvPr name="AutoShape 15" id="15"/>
          <p:cNvSpPr/>
          <p:nvPr/>
        </p:nvSpPr>
        <p:spPr>
          <a:xfrm rot="0" flipH="false" flipV="false">
            <a:off x="3251200" y="3022600"/>
            <a:ext cx="1727200" cy="2286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t" rtlCol="false" anchorCtr="false" vert="horz" wrap="square" lIns="0" rIns="0" tIns="0" bIns="0"/>
          <a:lstStyle/>
          <a:p>
            <a:pPr algn="ctr" indent="0">
              <a:lnSpc>
                <a:spcPct val="125000"/>
              </a:lnSpc>
              <a:defRPr/>
            </a:pPr>
            <a:r>
              <a:rPr lang="en-US" b="false" i="false" strike="noStrike" u="none" sz="1000">
                <a:solidFill>
                  <a:srgbClr val="94A3B8"/>
                </a:solidFill>
                <a:latin typeface="Noto Sans SC"/>
                <a:ea typeface="Noto Sans SC"/>
                <a:cs typeface="Noto Sans SC"/>
                <a:sym typeface="Noto Sans SC"/>
              </a:rPr>
              <a:t>Ingest &amp; Process</a:t>
            </a:r>
            <a:endParaRPr lang="en-US" sz="1100"/>
          </a:p>
        </p:txBody>
      </p:sp>
      <p:cxnSp>
        <p:nvCxnSpPr>
          <p:cNvPr name="Connector 16" id="16"/>
          <p:cNvCxnSpPr/>
          <p:nvPr/>
        </p:nvCxnSpPr>
        <p:spPr>
          <a:xfrm rot="-29635" flipH="false" flipV="false">
            <a:off x="3378227" y="3346450"/>
            <a:ext cx="14732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mpd="sng" cap="flat">
            <a:solidFill>
              <a:srgbClr val="FFFFFF">
                <a:alpha val="1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name="AutoShape 17" id="17"/>
          <p:cNvSpPr/>
          <p:nvPr/>
        </p:nvSpPr>
        <p:spPr>
          <a:xfrm rot="0" flipH="false" flipV="false">
            <a:off x="3251200" y="3479800"/>
            <a:ext cx="1727200" cy="2540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t" rtlCol="false" anchorCtr="false" vert="horz" wrap="square" lIns="0" rIns="0" tIns="0" bIns="0"/>
          <a:lstStyle/>
          <a:p>
            <a:pPr algn="l" indent="0">
              <a:lnSpc>
                <a:spcPct val="116666"/>
              </a:lnSpc>
              <a:defRPr/>
            </a:pPr>
            <a:r>
              <a:rPr lang="en-US" b="false" i="false" strike="noStrike" u="none" sz="1100">
                <a:solidFill>
                  <a:srgbClr val="D1D5DB"/>
                </a:solidFill>
                <a:latin typeface="Noto Sans SC"/>
                <a:ea typeface="Noto Sans SC"/>
                <a:cs typeface="Noto Sans SC"/>
                <a:sym typeface="Noto Sans SC"/>
              </a:rPr>
              <a:t>• 智能文档解析与分块</a:t>
            </a:r>
            <a:r>
              <a:rPr lang="en-US" b="false" i="false" strike="noStrike" u="none" sz="1100">
                <a:solidFill>
                  <a:srgbClr val="D1D5DB"/>
                </a:solidFill>
                <a:latin typeface="Noto Sans SC"/>
                <a:ea typeface="Noto Sans SC"/>
                <a:cs typeface="Noto Sans SC"/>
                <a:sym typeface="Noto Sans SC"/>
              </a:rPr>
              <a:t/>
            </a:r>
            <a:endParaRPr lang="en-US" sz="1100"/>
          </a:p>
          <a:p>
            <a:pPr algn="l" indent="0">
              <a:lnSpc>
                <a:spcPct val="116666"/>
              </a:lnSpc>
            </a:pPr>
            <a:r>
              <a:rPr lang="en-US" b="false" i="false" strike="noStrike" u="none" sz="1100">
                <a:solidFill>
                  <a:srgbClr val="D1D5DB"/>
                </a:solidFill>
                <a:latin typeface="Noto Sans SC"/>
                <a:ea typeface="Noto Sans SC"/>
                <a:cs typeface="Noto Sans SC"/>
                <a:sym typeface="Noto Sans SC"/>
              </a:rPr>
              <a:t>• 代码结构深度分析(AST)</a:t>
            </a:r>
            <a:r>
              <a:rPr lang="en-US" b="false" i="false" strike="noStrike" u="none" sz="1100">
                <a:solidFill>
                  <a:srgbClr val="D1D5DB"/>
                </a:solidFill>
                <a:latin typeface="Noto Sans SC"/>
                <a:ea typeface="Noto Sans SC"/>
                <a:cs typeface="Noto Sans SC"/>
                <a:sym typeface="Noto Sans SC"/>
              </a:rPr>
              <a:t/>
            </a:r>
          </a:p>
          <a:p>
            <a:pPr algn="l" indent="0">
              <a:lnSpc>
                <a:spcPct val="116666"/>
              </a:lnSpc>
            </a:pPr>
            <a:r>
              <a:rPr lang="en-US" b="false" i="false" strike="noStrike" u="none" sz="1100">
                <a:solidFill>
                  <a:srgbClr val="D1D5DB"/>
                </a:solidFill>
                <a:latin typeface="Noto Sans SC"/>
                <a:ea typeface="Noto Sans SC"/>
                <a:cs typeface="Noto Sans SC"/>
                <a:sym typeface="Noto Sans SC"/>
              </a:rPr>
              <a:t>• 语义向量化 Embedding</a:t>
            </a:r>
            <a:r>
              <a:rPr lang="en-US" b="false" i="false" strike="noStrike" u="none" sz="1100">
                <a:solidFill>
                  <a:srgbClr val="D1D5DB"/>
                </a:solidFill>
                <a:latin typeface="Noto Sans SC"/>
                <a:ea typeface="Noto Sans SC"/>
                <a:cs typeface="Noto Sans SC"/>
                <a:sym typeface="Noto Sans SC"/>
              </a:rPr>
              <a:t/>
            </a:r>
          </a:p>
          <a:p>
            <a:pPr algn="l" indent="0">
              <a:lnSpc>
                <a:spcPct val="116666"/>
              </a:lnSpc>
            </a:pPr>
            <a:r>
              <a:rPr lang="en-US" b="false" i="false" strike="noStrike" u="none" sz="1100">
                <a:solidFill>
                  <a:srgbClr val="D1D5DB"/>
                </a:solidFill>
                <a:latin typeface="Noto Sans SC"/>
                <a:ea typeface="Noto Sans SC"/>
                <a:cs typeface="Noto Sans SC"/>
                <a:sym typeface="Noto Sans SC"/>
              </a:rPr>
              <a:t>• 知识图谱实体与关系构建</a:t>
            </a:r>
          </a:p>
        </p:txBody>
      </p:sp>
      <p:pic>
        <p:nvPicPr>
          <p:cNvPr name="Picture 18" id="18"/>
          <p:cNvPicPr>
            <a:picLocks noChangeAspect="true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 rot="0" flipH="false" flipV="false">
            <a:off x="5194300" y="3937000"/>
            <a:ext cx="254000" cy="254000"/>
          </a:xfrm>
          <a:prstGeom prst="rect">
            <a:avLst/>
          </a:prstGeom>
        </p:spPr>
      </p:pic>
      <p:sp>
        <p:nvSpPr>
          <p:cNvPr name="AutoShape 19" id="19"/>
          <p:cNvSpPr/>
          <p:nvPr/>
        </p:nvSpPr>
        <p:spPr>
          <a:xfrm rot="0" flipH="false" flipV="false">
            <a:off x="5486400" y="1905000"/>
            <a:ext cx="1981200" cy="4318000"/>
          </a:xfrm>
          <a:prstGeom prst="roundRect">
            <a:avLst>
              <a:gd name="adj" fmla="val 6410"/>
            </a:avLst>
          </a:prstGeom>
          <a:solidFill>
            <a:srgbClr val="1E293B">
              <a:alpha val="60000"/>
            </a:srgbClr>
          </a:solidFill>
          <a:ln w="12700" cmpd="sng" cap="flat">
            <a:solidFill>
              <a:srgbClr val="2DD4BF">
                <a:alpha val="30000"/>
              </a:srgbClr>
            </a:solidFill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pic>
        <p:nvPicPr>
          <p:cNvPr name="Picture 20" id="20"/>
          <p:cNvPicPr>
            <a:picLocks noChangeAspect="true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 rot="0" flipH="false" flipV="false">
            <a:off x="6273800" y="2159000"/>
            <a:ext cx="406400" cy="406400"/>
          </a:xfrm>
          <a:prstGeom prst="rect">
            <a:avLst/>
          </a:prstGeom>
        </p:spPr>
      </p:pic>
      <p:sp>
        <p:nvSpPr>
          <p:cNvPr name="AutoShape 21" id="21"/>
          <p:cNvSpPr/>
          <p:nvPr/>
        </p:nvSpPr>
        <p:spPr>
          <a:xfrm rot="0" flipH="false" flipV="false">
            <a:off x="5613400" y="2667000"/>
            <a:ext cx="1727200" cy="3048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 indent="0">
              <a:lnSpc>
                <a:spcPct val="125000"/>
              </a:lnSpc>
              <a:defRPr/>
            </a:pPr>
            <a:r>
              <a:rPr lang="en-US" b="true" i="false" strike="noStrike" u="none" sz="1600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知识存储</a:t>
            </a:r>
            <a:endParaRPr lang="en-US" sz="1100"/>
          </a:p>
        </p:txBody>
      </p:sp>
      <p:sp>
        <p:nvSpPr>
          <p:cNvPr name="AutoShape 22" id="22"/>
          <p:cNvSpPr/>
          <p:nvPr/>
        </p:nvSpPr>
        <p:spPr>
          <a:xfrm rot="0" flipH="false" flipV="false">
            <a:off x="5613400" y="3022600"/>
            <a:ext cx="1727200" cy="2286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t" rtlCol="false" anchorCtr="false" vert="horz" wrap="square" lIns="0" rIns="0" tIns="0" bIns="0"/>
          <a:lstStyle/>
          <a:p>
            <a:pPr algn="ctr" indent="0">
              <a:lnSpc>
                <a:spcPct val="125000"/>
              </a:lnSpc>
              <a:defRPr/>
            </a:pPr>
            <a:r>
              <a:rPr lang="en-US" b="false" i="false" strike="noStrike" u="none" sz="1000">
                <a:solidFill>
                  <a:srgbClr val="94A3B8"/>
                </a:solidFill>
                <a:latin typeface="Noto Sans SC"/>
                <a:ea typeface="Noto Sans SC"/>
                <a:cs typeface="Noto Sans SC"/>
                <a:sym typeface="Noto Sans SC"/>
              </a:rPr>
              <a:t>Knowledge Store</a:t>
            </a:r>
            <a:endParaRPr lang="en-US" sz="1100"/>
          </a:p>
        </p:txBody>
      </p:sp>
      <p:cxnSp>
        <p:nvCxnSpPr>
          <p:cNvPr name="Connector 23" id="23"/>
          <p:cNvCxnSpPr/>
          <p:nvPr/>
        </p:nvCxnSpPr>
        <p:spPr>
          <a:xfrm rot="-29635" flipH="false" flipV="false">
            <a:off x="5740427" y="3346450"/>
            <a:ext cx="14732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mpd="sng" cap="flat">
            <a:solidFill>
              <a:srgbClr val="FFFFFF">
                <a:alpha val="1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name="AutoShape 24" id="24"/>
          <p:cNvSpPr/>
          <p:nvPr/>
        </p:nvSpPr>
        <p:spPr>
          <a:xfrm rot="0" flipH="false" flipV="false">
            <a:off x="5613400" y="3479800"/>
            <a:ext cx="1727200" cy="2540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t" rtlCol="false" anchorCtr="false" vert="horz" wrap="square" lIns="0" rIns="0" tIns="0" bIns="0"/>
          <a:lstStyle/>
          <a:p>
            <a:pPr algn="l" indent="0">
              <a:lnSpc>
                <a:spcPct val="116666"/>
              </a:lnSpc>
              <a:defRPr/>
            </a:pPr>
            <a:r>
              <a:rPr lang="en-US" b="false" i="false" strike="noStrike" u="none" sz="1100">
                <a:solidFill>
                  <a:srgbClr val="D1D5DB"/>
                </a:solidFill>
                <a:latin typeface="Noto Sans SC"/>
                <a:ea typeface="Noto Sans SC"/>
                <a:cs typeface="Noto Sans SC"/>
                <a:sym typeface="Noto Sans SC"/>
              </a:rPr>
              <a:t>• 向量数据库 (Milvus/ES)</a:t>
            </a:r>
            <a:r>
              <a:rPr lang="en-US" b="false" i="false" strike="noStrike" u="none" sz="1100">
                <a:solidFill>
                  <a:srgbClr val="D1D5DB"/>
                </a:solidFill>
                <a:latin typeface="Noto Sans SC"/>
                <a:ea typeface="Noto Sans SC"/>
                <a:cs typeface="Noto Sans SC"/>
                <a:sym typeface="Noto Sans SC"/>
              </a:rPr>
              <a:t/>
            </a:r>
            <a:endParaRPr lang="en-US" sz="1100"/>
          </a:p>
          <a:p>
            <a:pPr algn="l" indent="0">
              <a:lnSpc>
                <a:spcPct val="116666"/>
              </a:lnSpc>
            </a:pPr>
            <a:r>
              <a:rPr lang="en-US" b="false" i="false" strike="noStrike" u="none" sz="1100">
                <a:solidFill>
                  <a:srgbClr val="D1D5DB"/>
                </a:solidFill>
                <a:latin typeface="Noto Sans SC"/>
                <a:ea typeface="Noto Sans SC"/>
                <a:cs typeface="Noto Sans SC"/>
                <a:sym typeface="Noto Sans SC"/>
              </a:rPr>
              <a:t>• 全文检索引擎 (Elasticsearch)</a:t>
            </a:r>
            <a:r>
              <a:rPr lang="en-US" b="false" i="false" strike="noStrike" u="none" sz="1100">
                <a:solidFill>
                  <a:srgbClr val="D1D5DB"/>
                </a:solidFill>
                <a:latin typeface="Noto Sans SC"/>
                <a:ea typeface="Noto Sans SC"/>
                <a:cs typeface="Noto Sans SC"/>
                <a:sym typeface="Noto Sans SC"/>
              </a:rPr>
              <a:t/>
            </a:r>
          </a:p>
          <a:p>
            <a:pPr algn="l" indent="0">
              <a:lnSpc>
                <a:spcPct val="116666"/>
              </a:lnSpc>
            </a:pPr>
            <a:r>
              <a:rPr lang="en-US" b="false" i="false" strike="noStrike" u="none" sz="1100">
                <a:solidFill>
                  <a:srgbClr val="D1D5DB"/>
                </a:solidFill>
                <a:latin typeface="Noto Sans SC"/>
                <a:ea typeface="Noto Sans SC"/>
                <a:cs typeface="Noto Sans SC"/>
                <a:sym typeface="Noto Sans SC"/>
              </a:rPr>
              <a:t>• 图数据库 (Neo4j) 关联存储</a:t>
            </a:r>
            <a:r>
              <a:rPr lang="en-US" b="false" i="false" strike="noStrike" u="none" sz="1100">
                <a:solidFill>
                  <a:srgbClr val="D1D5DB"/>
                </a:solidFill>
                <a:latin typeface="Noto Sans SC"/>
                <a:ea typeface="Noto Sans SC"/>
                <a:cs typeface="Noto Sans SC"/>
                <a:sym typeface="Noto Sans SC"/>
              </a:rPr>
              <a:t/>
            </a:r>
          </a:p>
          <a:p>
            <a:pPr algn="l" indent="0">
              <a:lnSpc>
                <a:spcPct val="116666"/>
              </a:lnSpc>
            </a:pPr>
            <a:r>
              <a:rPr lang="en-US" b="false" i="false" strike="noStrike" u="none" sz="1100">
                <a:solidFill>
                  <a:srgbClr val="D1D5DB"/>
                </a:solidFill>
                <a:latin typeface="Noto Sans SC"/>
                <a:ea typeface="Noto Sans SC"/>
                <a:cs typeface="Noto Sans SC"/>
                <a:sym typeface="Noto Sans SC"/>
              </a:rPr>
              <a:t>• 结构化索引与元数据管理</a:t>
            </a:r>
          </a:p>
        </p:txBody>
      </p:sp>
      <p:pic>
        <p:nvPicPr>
          <p:cNvPr name="Picture 25" id="25"/>
          <p:cNvPicPr>
            <a:picLocks noChangeAspect="true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 rot="0" flipH="false" flipV="false">
            <a:off x="7556500" y="3937000"/>
            <a:ext cx="254000" cy="254000"/>
          </a:xfrm>
          <a:prstGeom prst="rect">
            <a:avLst/>
          </a:prstGeom>
        </p:spPr>
      </p:pic>
      <p:sp>
        <p:nvSpPr>
          <p:cNvPr name="AutoShape 26" id="26"/>
          <p:cNvSpPr/>
          <p:nvPr/>
        </p:nvSpPr>
        <p:spPr>
          <a:xfrm rot="0" flipH="false" flipV="false">
            <a:off x="7848600" y="1905000"/>
            <a:ext cx="1981200" cy="4318000"/>
          </a:xfrm>
          <a:prstGeom prst="roundRect">
            <a:avLst>
              <a:gd name="adj" fmla="val 6410"/>
            </a:avLst>
          </a:prstGeom>
          <a:solidFill>
            <a:srgbClr val="1E293B">
              <a:alpha val="60000"/>
            </a:srgbClr>
          </a:solidFill>
          <a:ln w="12700" cmpd="sng" cap="flat">
            <a:solidFill>
              <a:srgbClr val="2DD4BF">
                <a:alpha val="30000"/>
              </a:srgbClr>
            </a:solidFill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pic>
        <p:nvPicPr>
          <p:cNvPr name="Picture 27" id="27"/>
          <p:cNvPicPr>
            <a:picLocks noChangeAspect="true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 rot="0" flipH="false" flipV="false">
            <a:off x="8636000" y="2159000"/>
            <a:ext cx="406400" cy="406400"/>
          </a:xfrm>
          <a:prstGeom prst="rect">
            <a:avLst/>
          </a:prstGeom>
        </p:spPr>
      </p:pic>
      <p:sp>
        <p:nvSpPr>
          <p:cNvPr name="AutoShape 28" id="28"/>
          <p:cNvSpPr/>
          <p:nvPr/>
        </p:nvSpPr>
        <p:spPr>
          <a:xfrm rot="0" flipH="false" flipV="false">
            <a:off x="7975600" y="2667000"/>
            <a:ext cx="1727200" cy="3048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 indent="0">
              <a:lnSpc>
                <a:spcPct val="125000"/>
              </a:lnSpc>
              <a:defRPr/>
            </a:pPr>
            <a:r>
              <a:rPr lang="en-US" b="true" i="false" strike="noStrike" u="none" sz="1600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检索与生成</a:t>
            </a:r>
            <a:endParaRPr lang="en-US" sz="1100"/>
          </a:p>
        </p:txBody>
      </p:sp>
      <p:sp>
        <p:nvSpPr>
          <p:cNvPr name="AutoShape 29" id="29"/>
          <p:cNvSpPr/>
          <p:nvPr/>
        </p:nvSpPr>
        <p:spPr>
          <a:xfrm rot="0" flipH="false" flipV="false">
            <a:off x="7975600" y="3022600"/>
            <a:ext cx="1727200" cy="2286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t" rtlCol="false" anchorCtr="false" vert="horz" wrap="square" lIns="0" rIns="0" tIns="0" bIns="0"/>
          <a:lstStyle/>
          <a:p>
            <a:pPr algn="ctr" indent="0">
              <a:lnSpc>
                <a:spcPct val="125000"/>
              </a:lnSpc>
              <a:defRPr/>
            </a:pPr>
            <a:r>
              <a:rPr lang="en-US" b="false" i="false" strike="noStrike" u="none" sz="1000">
                <a:solidFill>
                  <a:srgbClr val="94A3B8"/>
                </a:solidFill>
                <a:latin typeface="Noto Sans SC"/>
                <a:ea typeface="Noto Sans SC"/>
                <a:cs typeface="Noto Sans SC"/>
                <a:sym typeface="Noto Sans SC"/>
              </a:rPr>
              <a:t>Retrieve &amp; Generate</a:t>
            </a:r>
            <a:endParaRPr lang="en-US" sz="1100"/>
          </a:p>
        </p:txBody>
      </p:sp>
      <p:cxnSp>
        <p:nvCxnSpPr>
          <p:cNvPr name="Connector 30" id="30"/>
          <p:cNvCxnSpPr/>
          <p:nvPr/>
        </p:nvCxnSpPr>
        <p:spPr>
          <a:xfrm rot="-29635" flipH="false" flipV="false">
            <a:off x="8102627" y="3346450"/>
            <a:ext cx="14732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mpd="sng" cap="flat">
            <a:solidFill>
              <a:srgbClr val="FFFFFF">
                <a:alpha val="1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name="AutoShape 31" id="31"/>
          <p:cNvSpPr/>
          <p:nvPr/>
        </p:nvSpPr>
        <p:spPr>
          <a:xfrm rot="0" flipH="false" flipV="false">
            <a:off x="7975600" y="3479800"/>
            <a:ext cx="1727200" cy="2540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t" rtlCol="false" anchorCtr="false" vert="horz" wrap="square" lIns="0" rIns="0" tIns="0" bIns="0"/>
          <a:lstStyle/>
          <a:p>
            <a:pPr algn="l" indent="0">
              <a:lnSpc>
                <a:spcPct val="116666"/>
              </a:lnSpc>
              <a:defRPr/>
            </a:pPr>
            <a:r>
              <a:rPr lang="en-US" b="false" i="false" strike="noStrike" u="none" sz="1100">
                <a:solidFill>
                  <a:srgbClr val="D1D5DB"/>
                </a:solidFill>
                <a:latin typeface="Noto Sans SC"/>
                <a:ea typeface="Noto Sans SC"/>
                <a:cs typeface="Noto Sans SC"/>
                <a:sym typeface="Noto Sans SC"/>
              </a:rPr>
              <a:t>• 多路混合检索引擎召回</a:t>
            </a:r>
            <a:r>
              <a:rPr lang="en-US" b="false" i="false" strike="noStrike" u="none" sz="1100">
                <a:solidFill>
                  <a:srgbClr val="D1D5DB"/>
                </a:solidFill>
                <a:latin typeface="Noto Sans SC"/>
                <a:ea typeface="Noto Sans SC"/>
                <a:cs typeface="Noto Sans SC"/>
                <a:sym typeface="Noto Sans SC"/>
              </a:rPr>
              <a:t/>
            </a:r>
            <a:endParaRPr lang="en-US" sz="1100"/>
          </a:p>
          <a:p>
            <a:pPr algn="l" indent="0">
              <a:lnSpc>
                <a:spcPct val="116666"/>
              </a:lnSpc>
            </a:pPr>
            <a:r>
              <a:rPr lang="en-US" b="false" i="false" strike="noStrike" u="none" sz="1100">
                <a:solidFill>
                  <a:srgbClr val="D1D5DB"/>
                </a:solidFill>
                <a:latin typeface="Noto Sans SC"/>
                <a:ea typeface="Noto Sans SC"/>
                <a:cs typeface="Noto Sans SC"/>
                <a:sym typeface="Noto Sans SC"/>
              </a:rPr>
              <a:t>• MCP Server 上下文协议交互</a:t>
            </a:r>
            <a:r>
              <a:rPr lang="en-US" b="false" i="false" strike="noStrike" u="none" sz="1100">
                <a:solidFill>
                  <a:srgbClr val="D1D5DB"/>
                </a:solidFill>
                <a:latin typeface="Noto Sans SC"/>
                <a:ea typeface="Noto Sans SC"/>
                <a:cs typeface="Noto Sans SC"/>
                <a:sym typeface="Noto Sans SC"/>
              </a:rPr>
              <a:t/>
            </a:r>
          </a:p>
          <a:p>
            <a:pPr algn="l" indent="0">
              <a:lnSpc>
                <a:spcPct val="116666"/>
              </a:lnSpc>
            </a:pPr>
            <a:r>
              <a:rPr lang="en-US" b="false" i="false" strike="noStrike" u="none" sz="1100">
                <a:solidFill>
                  <a:srgbClr val="D1D5DB"/>
                </a:solidFill>
                <a:latin typeface="Noto Sans SC"/>
                <a:ea typeface="Noto Sans SC"/>
                <a:cs typeface="Noto Sans SC"/>
                <a:sym typeface="Noto Sans SC"/>
              </a:rPr>
              <a:t>• 上下文相关性重排序(Rerank)</a:t>
            </a:r>
            <a:r>
              <a:rPr lang="en-US" b="false" i="false" strike="noStrike" u="none" sz="1100">
                <a:solidFill>
                  <a:srgbClr val="D1D5DB"/>
                </a:solidFill>
                <a:latin typeface="Noto Sans SC"/>
                <a:ea typeface="Noto Sans SC"/>
                <a:cs typeface="Noto Sans SC"/>
                <a:sym typeface="Noto Sans SC"/>
              </a:rPr>
              <a:t/>
            </a:r>
          </a:p>
          <a:p>
            <a:pPr algn="l" indent="0">
              <a:lnSpc>
                <a:spcPct val="116666"/>
              </a:lnSpc>
            </a:pPr>
            <a:r>
              <a:rPr lang="en-US" b="false" i="false" strike="noStrike" u="none" sz="1100">
                <a:solidFill>
                  <a:srgbClr val="D1D5DB"/>
                </a:solidFill>
                <a:latin typeface="Noto Sans SC"/>
                <a:ea typeface="Noto Sans SC"/>
                <a:cs typeface="Noto Sans SC"/>
                <a:sym typeface="Noto Sans SC"/>
              </a:rPr>
              <a:t>• 多阶段 Prompt 工程组装</a:t>
            </a:r>
          </a:p>
        </p:txBody>
      </p:sp>
      <p:pic>
        <p:nvPicPr>
          <p:cNvPr name="Picture 32" id="32"/>
          <p:cNvPicPr>
            <a:picLocks noChangeAspect="true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 rot="0" flipH="false" flipV="false">
            <a:off x="9918700" y="3937000"/>
            <a:ext cx="254000" cy="254000"/>
          </a:xfrm>
          <a:prstGeom prst="rect">
            <a:avLst/>
          </a:prstGeom>
        </p:spPr>
      </p:pic>
      <p:sp>
        <p:nvSpPr>
          <p:cNvPr name="AutoShape 33" id="33"/>
          <p:cNvSpPr/>
          <p:nvPr/>
        </p:nvSpPr>
        <p:spPr>
          <a:xfrm rot="0" flipH="false" flipV="false">
            <a:off x="10210800" y="1905000"/>
            <a:ext cx="1981200" cy="4318000"/>
          </a:xfrm>
          <a:prstGeom prst="roundRect">
            <a:avLst>
              <a:gd name="adj" fmla="val 6410"/>
            </a:avLst>
          </a:prstGeom>
          <a:solidFill>
            <a:srgbClr val="1E293B">
              <a:alpha val="60000"/>
            </a:srgbClr>
          </a:solidFill>
          <a:ln w="12700" cmpd="sng" cap="flat">
            <a:solidFill>
              <a:srgbClr val="2DD4BF">
                <a:alpha val="30000"/>
              </a:srgbClr>
            </a:solidFill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pic>
        <p:nvPicPr>
          <p:cNvPr name="Picture 34" id="34"/>
          <p:cNvPicPr>
            <a:picLocks noChangeAspect="true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 rot="0" flipH="false" flipV="false">
            <a:off x="10998200" y="2159000"/>
            <a:ext cx="406400" cy="406400"/>
          </a:xfrm>
          <a:prstGeom prst="rect">
            <a:avLst/>
          </a:prstGeom>
        </p:spPr>
      </p:pic>
      <p:sp>
        <p:nvSpPr>
          <p:cNvPr name="AutoShape 35" id="35"/>
          <p:cNvSpPr/>
          <p:nvPr/>
        </p:nvSpPr>
        <p:spPr>
          <a:xfrm rot="0" flipH="false" flipV="false">
            <a:off x="10337800" y="2667000"/>
            <a:ext cx="1727200" cy="3048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 indent="0">
              <a:lnSpc>
                <a:spcPct val="125000"/>
              </a:lnSpc>
              <a:defRPr/>
            </a:pPr>
            <a:r>
              <a:rPr lang="en-US" b="true" i="false" strike="noStrike" u="none" sz="1600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应用与反馈</a:t>
            </a:r>
            <a:endParaRPr lang="en-US" sz="1100"/>
          </a:p>
        </p:txBody>
      </p:sp>
      <p:sp>
        <p:nvSpPr>
          <p:cNvPr name="AutoShape 36" id="36"/>
          <p:cNvSpPr/>
          <p:nvPr/>
        </p:nvSpPr>
        <p:spPr>
          <a:xfrm rot="0" flipH="false" flipV="false">
            <a:off x="10337800" y="3022600"/>
            <a:ext cx="1727200" cy="2286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t" rtlCol="false" anchorCtr="false" vert="horz" wrap="square" lIns="0" rIns="0" tIns="0" bIns="0"/>
          <a:lstStyle/>
          <a:p>
            <a:pPr algn="ctr" indent="0">
              <a:lnSpc>
                <a:spcPct val="125000"/>
              </a:lnSpc>
              <a:defRPr/>
            </a:pPr>
            <a:r>
              <a:rPr lang="en-US" b="false" i="false" strike="noStrike" u="none" sz="1000">
                <a:solidFill>
                  <a:srgbClr val="94A3B8"/>
                </a:solidFill>
                <a:latin typeface="Noto Sans SC"/>
                <a:ea typeface="Noto Sans SC"/>
                <a:cs typeface="Noto Sans SC"/>
                <a:sym typeface="Noto Sans SC"/>
              </a:rPr>
              <a:t>App &amp; Feedback Loop</a:t>
            </a:r>
            <a:endParaRPr lang="en-US" sz="1100"/>
          </a:p>
        </p:txBody>
      </p:sp>
      <p:cxnSp>
        <p:nvCxnSpPr>
          <p:cNvPr name="Connector 37" id="37"/>
          <p:cNvCxnSpPr/>
          <p:nvPr/>
        </p:nvCxnSpPr>
        <p:spPr>
          <a:xfrm rot="-29635" flipH="false" flipV="false">
            <a:off x="10464827" y="3346450"/>
            <a:ext cx="14732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mpd="sng" cap="flat">
            <a:solidFill>
              <a:srgbClr val="FFFFFF">
                <a:alpha val="1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name="AutoShape 38" id="38"/>
          <p:cNvSpPr/>
          <p:nvPr/>
        </p:nvSpPr>
        <p:spPr>
          <a:xfrm rot="0" flipH="false" flipV="false">
            <a:off x="10337800" y="3479800"/>
            <a:ext cx="1727200" cy="2540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t" rtlCol="false" anchorCtr="false" vert="horz" wrap="square" lIns="0" rIns="0" tIns="0" bIns="0"/>
          <a:lstStyle/>
          <a:p>
            <a:pPr algn="l" indent="0">
              <a:lnSpc>
                <a:spcPct val="116666"/>
              </a:lnSpc>
              <a:defRPr/>
            </a:pPr>
            <a:r>
              <a:rPr lang="en-US" b="false" i="false" strike="noStrike" u="none" sz="1100">
                <a:solidFill>
                  <a:srgbClr val="D1D5DB"/>
                </a:solidFill>
                <a:latin typeface="Noto Sans SC"/>
                <a:ea typeface="Noto Sans SC"/>
                <a:cs typeface="Noto Sans SC"/>
                <a:sym typeface="Noto Sans SC"/>
              </a:rPr>
              <a:t>• IDE 插件实时代码生成</a:t>
            </a:r>
            <a:r>
              <a:rPr lang="en-US" b="false" i="false" strike="noStrike" u="none" sz="1100">
                <a:solidFill>
                  <a:srgbClr val="D1D5DB"/>
                </a:solidFill>
                <a:latin typeface="Noto Sans SC"/>
                <a:ea typeface="Noto Sans SC"/>
                <a:cs typeface="Noto Sans SC"/>
                <a:sym typeface="Noto Sans SC"/>
              </a:rPr>
              <a:t/>
            </a:r>
            <a:endParaRPr lang="en-US" sz="1100"/>
          </a:p>
          <a:p>
            <a:pPr algn="l" indent="0">
              <a:lnSpc>
                <a:spcPct val="116666"/>
              </a:lnSpc>
            </a:pPr>
            <a:r>
              <a:rPr lang="en-US" b="false" i="false" strike="noStrike" u="none" sz="1100">
                <a:solidFill>
                  <a:srgbClr val="D1D5DB"/>
                </a:solidFill>
                <a:latin typeface="Noto Sans SC"/>
                <a:ea typeface="Noto Sans SC"/>
                <a:cs typeface="Noto Sans SC"/>
                <a:sym typeface="Noto Sans SC"/>
              </a:rPr>
              <a:t>• 会话记录与交互日志采集</a:t>
            </a:r>
            <a:r>
              <a:rPr lang="en-US" b="false" i="false" strike="noStrike" u="none" sz="1100">
                <a:solidFill>
                  <a:srgbClr val="D1D5DB"/>
                </a:solidFill>
                <a:latin typeface="Noto Sans SC"/>
                <a:ea typeface="Noto Sans SC"/>
                <a:cs typeface="Noto Sans SC"/>
                <a:sym typeface="Noto Sans SC"/>
              </a:rPr>
              <a:t/>
            </a:r>
          </a:p>
          <a:p>
            <a:pPr algn="l" indent="0">
              <a:lnSpc>
                <a:spcPct val="116666"/>
              </a:lnSpc>
            </a:pPr>
            <a:r>
              <a:rPr lang="en-US" b="false" i="false" strike="noStrike" u="none" sz="1100">
                <a:solidFill>
                  <a:srgbClr val="D1D5DB"/>
                </a:solidFill>
                <a:latin typeface="Noto Sans SC"/>
                <a:ea typeface="Noto Sans SC"/>
                <a:cs typeface="Noto Sans SC"/>
                <a:sym typeface="Noto Sans SC"/>
              </a:rPr>
              <a:t>• 人工审核与质量标注反馈</a:t>
            </a:r>
            <a:r>
              <a:rPr lang="en-US" b="false" i="false" strike="noStrike" u="none" sz="1100">
                <a:solidFill>
                  <a:srgbClr val="D1D5DB"/>
                </a:solidFill>
                <a:latin typeface="Noto Sans SC"/>
                <a:ea typeface="Noto Sans SC"/>
                <a:cs typeface="Noto Sans SC"/>
                <a:sym typeface="Noto Sans SC"/>
              </a:rPr>
              <a:t/>
            </a:r>
          </a:p>
          <a:p>
            <a:pPr algn="l" indent="0">
              <a:lnSpc>
                <a:spcPct val="116666"/>
              </a:lnSpc>
            </a:pPr>
            <a:r>
              <a:rPr lang="en-US" b="false" i="false" strike="noStrike" u="none" sz="1100">
                <a:solidFill>
                  <a:srgbClr val="D1D5DB"/>
                </a:solidFill>
                <a:latin typeface="Noto Sans SC"/>
                <a:ea typeface="Noto Sans SC"/>
                <a:cs typeface="Noto Sans SC"/>
                <a:sym typeface="Noto Sans SC"/>
              </a:rPr>
              <a:t>• 知识库增量更新与闭环迭代</a:t>
            </a:r>
          </a:p>
        </p:txBody>
      </p: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blipFill dpi="0" rotWithShape="true">
          <a:blip r:embed="rId2">
            <a:lum/>
          </a:blip>
          <a:srcRect/>
          <a:stretch>
            <a:fillRect l="0" t="0" r="0" b="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 rot="0" flipH="false" flipV="false">
            <a:off x="0" y="0"/>
            <a:ext cx="12192000" cy="6858000"/>
          </a:xfrm>
          <a:prstGeom prst="roundRect">
            <a:avLst>
              <a:gd name="adj" fmla="val 0"/>
            </a:avLst>
          </a:prstGeom>
          <a:solidFill>
            <a:srgbClr val="111827">
              <a:alpha val="85000"/>
            </a:srgbClr>
          </a:solidFill>
          <a:ln w="25400" cmpd="sng" cap="flat">
            <a:noFill/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sp>
        <p:nvSpPr>
          <p:cNvPr name="AutoShape 3" id="3"/>
          <p:cNvSpPr/>
          <p:nvPr/>
        </p:nvSpPr>
        <p:spPr>
          <a:xfrm rot="0" flipH="false" flipV="false">
            <a:off x="762000" y="635000"/>
            <a:ext cx="7620000" cy="508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indent="0">
              <a:lnSpc>
                <a:spcPct val="125000"/>
              </a:lnSpc>
              <a:defRPr/>
            </a:pPr>
            <a:r>
              <a:rPr lang="en-US" b="true" i="false" strike="noStrike" u="none" sz="3200">
                <a:solidFill>
                  <a:srgbClr val="2DD4BF"/>
                </a:solidFill>
                <a:latin typeface="Noto Sans SC"/>
                <a:ea typeface="Noto Sans SC"/>
                <a:cs typeface="Noto Sans SC"/>
                <a:sym typeface="Noto Sans SC"/>
              </a:rPr>
              <a:t>05. 私域知识库构建方案</a:t>
            </a:r>
            <a:endParaRPr lang="en-US" sz="1100"/>
          </a:p>
        </p:txBody>
      </p:sp>
      <p:sp>
        <p:nvSpPr>
          <p:cNvPr name="AutoShape 4" id="4"/>
          <p:cNvSpPr/>
          <p:nvPr/>
        </p:nvSpPr>
        <p:spPr>
          <a:xfrm rot="0" flipH="false" flipV="false">
            <a:off x="762000" y="1397000"/>
            <a:ext cx="5207000" cy="4953000"/>
          </a:xfrm>
          <a:prstGeom prst="roundRect">
            <a:avLst>
              <a:gd name="adj" fmla="val 3076"/>
            </a:avLst>
          </a:prstGeom>
          <a:solidFill>
            <a:srgbClr val="1F2937">
              <a:alpha val="60000"/>
            </a:srgbClr>
          </a:solidFill>
          <a:ln w="12700" cmpd="sng" cap="flat">
            <a:solidFill>
              <a:srgbClr val="2DD4BF">
                <a:alpha val="30000"/>
              </a:srgbClr>
            </a:solidFill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sp>
        <p:nvSpPr>
          <p:cNvPr name="AutoShape 5" id="5"/>
          <p:cNvSpPr/>
          <p:nvPr/>
        </p:nvSpPr>
        <p:spPr>
          <a:xfrm rot="0" flipH="false" flipV="false">
            <a:off x="1016000" y="1651000"/>
            <a:ext cx="4699000" cy="381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indent="0">
              <a:lnSpc>
                <a:spcPct val="125000"/>
              </a:lnSpc>
              <a:defRPr/>
            </a:pPr>
            <a:r>
              <a:rPr lang="en-US" b="true" i="false" strike="noStrike" u="none" sz="1800">
                <a:solidFill>
                  <a:srgbClr val="F3F4F6"/>
                </a:solidFill>
                <a:latin typeface="Noto Sans SC"/>
                <a:ea typeface="Noto Sans SC"/>
                <a:cs typeface="Noto Sans SC"/>
                <a:sym typeface="Noto Sans SC"/>
              </a:rPr>
              <a:t>知识分类与结构化体系</a:t>
            </a:r>
            <a:endParaRPr lang="en-US" sz="1100"/>
          </a:p>
        </p:txBody>
      </p:sp>
      <p:cxnSp>
        <p:nvCxnSpPr>
          <p:cNvPr name="Connector 6" id="6"/>
          <p:cNvCxnSpPr/>
          <p:nvPr/>
        </p:nvCxnSpPr>
        <p:spPr>
          <a:xfrm rot="-9291" flipH="false" flipV="false">
            <a:off x="1016009" y="2089150"/>
            <a:ext cx="4699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mpd="sng" cap="flat">
            <a:solidFill>
              <a:srgbClr val="4B556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pic>
        <p:nvPicPr>
          <p:cNvPr name="Picture 7" id="7"/>
          <p:cNvPicPr>
            <a:picLocks noChangeAspect="true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 rot="0" flipH="false" flipV="false">
            <a:off x="1016000" y="2349500"/>
            <a:ext cx="304800" cy="304800"/>
          </a:xfrm>
          <a:prstGeom prst="rect">
            <a:avLst/>
          </a:prstGeom>
        </p:spPr>
      </p:pic>
      <p:sp>
        <p:nvSpPr>
          <p:cNvPr name="AutoShape 8" id="8"/>
          <p:cNvSpPr/>
          <p:nvPr/>
        </p:nvSpPr>
        <p:spPr>
          <a:xfrm rot="0" flipH="false" flipV="false">
            <a:off x="1447800" y="2349500"/>
            <a:ext cx="4318000" cy="3048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indent="0">
              <a:lnSpc>
                <a:spcPct val="125000"/>
              </a:lnSpc>
              <a:defRPr/>
            </a:pPr>
            <a:r>
              <a:rPr lang="en-US" b="true" i="false" strike="noStrike" u="none" sz="1400">
                <a:solidFill>
                  <a:srgbClr val="E5E7EB"/>
                </a:solidFill>
                <a:latin typeface="Noto Sans SC"/>
                <a:ea typeface="Noto Sans SC"/>
                <a:cs typeface="Noto Sans SC"/>
                <a:sym typeface="Noto Sans SC"/>
              </a:rPr>
              <a:t>术语/业务词汇库</a:t>
            </a:r>
            <a:endParaRPr lang="en-US" sz="1100"/>
          </a:p>
        </p:txBody>
      </p:sp>
      <p:sp>
        <p:nvSpPr>
          <p:cNvPr name="AutoShape 9" id="9"/>
          <p:cNvSpPr/>
          <p:nvPr/>
        </p:nvSpPr>
        <p:spPr>
          <a:xfrm rot="0" flipH="false" flipV="false">
            <a:off x="1447800" y="2692400"/>
            <a:ext cx="4318000" cy="508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t" rtlCol="false" anchorCtr="false" vert="horz" wrap="square" lIns="0" rIns="0" tIns="0" bIns="0"/>
          <a:lstStyle/>
          <a:p>
            <a:pPr algn="l" indent="0">
              <a:lnSpc>
                <a:spcPct val="108333"/>
              </a:lnSpc>
              <a:defRPr/>
            </a:pPr>
            <a:r>
              <a:rPr lang="en-US" b="false" i="false" strike="noStrike" u="none" sz="1100">
                <a:solidFill>
                  <a:srgbClr val="9CA3AF"/>
                </a:solidFill>
                <a:latin typeface="Noto Sans SC"/>
                <a:ea typeface="Noto Sans SC"/>
                <a:cs typeface="Noto Sans SC"/>
                <a:sym typeface="Noto Sans SC"/>
              </a:rPr>
              <a:t>涵盖核心术语定义、适用场景边界、同义词映射及跨业务关联术语网络构建。</a:t>
            </a:r>
            <a:endParaRPr lang="en-US" sz="1100"/>
          </a:p>
        </p:txBody>
      </p:sp>
      <p:pic>
        <p:nvPicPr>
          <p:cNvPr name="Picture 10" id="10"/>
          <p:cNvPicPr>
            <a:picLocks noChangeAspect="true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 rot="0" flipH="false" flipV="false">
            <a:off x="1016000" y="3429000"/>
            <a:ext cx="304800" cy="304800"/>
          </a:xfrm>
          <a:prstGeom prst="rect">
            <a:avLst/>
          </a:prstGeom>
        </p:spPr>
      </p:pic>
      <p:sp>
        <p:nvSpPr>
          <p:cNvPr name="AutoShape 11" id="11"/>
          <p:cNvSpPr/>
          <p:nvPr/>
        </p:nvSpPr>
        <p:spPr>
          <a:xfrm rot="0" flipH="false" flipV="false">
            <a:off x="1447800" y="3429000"/>
            <a:ext cx="4318000" cy="3048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indent="0">
              <a:lnSpc>
                <a:spcPct val="125000"/>
              </a:lnSpc>
              <a:defRPr/>
            </a:pPr>
            <a:r>
              <a:rPr lang="en-US" b="true" i="false" strike="noStrike" u="none" sz="1400">
                <a:solidFill>
                  <a:srgbClr val="E5E7EB"/>
                </a:solidFill>
                <a:latin typeface="Noto Sans SC"/>
                <a:ea typeface="Noto Sans SC"/>
                <a:cs typeface="Noto Sans SC"/>
                <a:sym typeface="Noto Sans SC"/>
              </a:rPr>
              <a:t>SDK/API 接口文档库</a:t>
            </a:r>
            <a:endParaRPr lang="en-US" sz="1100"/>
          </a:p>
        </p:txBody>
      </p:sp>
      <p:sp>
        <p:nvSpPr>
          <p:cNvPr name="AutoShape 12" id="12"/>
          <p:cNvSpPr/>
          <p:nvPr/>
        </p:nvSpPr>
        <p:spPr>
          <a:xfrm rot="0" flipH="false" flipV="false">
            <a:off x="1447800" y="3771900"/>
            <a:ext cx="4318000" cy="508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t" rtlCol="false" anchorCtr="false" vert="horz" wrap="square" lIns="0" rIns="0" tIns="0" bIns="0"/>
          <a:lstStyle/>
          <a:p>
            <a:pPr algn="l" indent="0">
              <a:lnSpc>
                <a:spcPct val="108333"/>
              </a:lnSpc>
              <a:defRPr/>
            </a:pPr>
            <a:r>
              <a:rPr lang="en-US" b="false" i="false" strike="noStrike" u="none" sz="1100">
                <a:solidFill>
                  <a:srgbClr val="9CA3AF"/>
                </a:solidFill>
                <a:latin typeface="Noto Sans SC"/>
                <a:ea typeface="Noto Sans SC"/>
                <a:cs typeface="Noto Sans SC"/>
                <a:sym typeface="Noto Sans SC"/>
              </a:rPr>
              <a:t>标准化接口签名、详细参数说明、返回值枚举、示例代码片段及版本变更追溯记录。</a:t>
            </a:r>
            <a:endParaRPr lang="en-US" sz="1100"/>
          </a:p>
        </p:txBody>
      </p:sp>
      <p:pic>
        <p:nvPicPr>
          <p:cNvPr name="Picture 13" id="13"/>
          <p:cNvPicPr>
            <a:picLocks noChangeAspect="true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 rot="0" flipH="false" flipV="false">
            <a:off x="1016000" y="4508500"/>
            <a:ext cx="304800" cy="304800"/>
          </a:xfrm>
          <a:prstGeom prst="rect">
            <a:avLst/>
          </a:prstGeom>
        </p:spPr>
      </p:pic>
      <p:sp>
        <p:nvSpPr>
          <p:cNvPr name="AutoShape 14" id="14"/>
          <p:cNvSpPr/>
          <p:nvPr/>
        </p:nvSpPr>
        <p:spPr>
          <a:xfrm rot="0" flipH="false" flipV="false">
            <a:off x="1447800" y="4508500"/>
            <a:ext cx="4318000" cy="3048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indent="0">
              <a:lnSpc>
                <a:spcPct val="125000"/>
              </a:lnSpc>
              <a:defRPr/>
            </a:pPr>
            <a:r>
              <a:rPr lang="en-US" b="true" i="false" strike="noStrike" u="none" sz="1400">
                <a:solidFill>
                  <a:srgbClr val="E5E7EB"/>
                </a:solidFill>
                <a:latin typeface="Noto Sans SC"/>
                <a:ea typeface="Noto Sans SC"/>
                <a:cs typeface="Noto Sans SC"/>
                <a:sym typeface="Noto Sans SC"/>
              </a:rPr>
              <a:t>代码规范与最佳实践</a:t>
            </a:r>
            <a:endParaRPr lang="en-US" sz="1100"/>
          </a:p>
        </p:txBody>
      </p:sp>
      <p:sp>
        <p:nvSpPr>
          <p:cNvPr name="AutoShape 15" id="15"/>
          <p:cNvSpPr/>
          <p:nvPr/>
        </p:nvSpPr>
        <p:spPr>
          <a:xfrm rot="0" flipH="false" flipV="false">
            <a:off x="1447800" y="4851400"/>
            <a:ext cx="4318000" cy="508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t" rtlCol="false" anchorCtr="false" vert="horz" wrap="square" lIns="0" rIns="0" tIns="0" bIns="0"/>
          <a:lstStyle/>
          <a:p>
            <a:pPr algn="l" indent="0">
              <a:lnSpc>
                <a:spcPct val="108333"/>
              </a:lnSpc>
              <a:defRPr/>
            </a:pPr>
            <a:r>
              <a:rPr lang="en-US" b="false" i="false" strike="noStrike" u="none" sz="1100">
                <a:solidFill>
                  <a:srgbClr val="9CA3AF"/>
                </a:solidFill>
                <a:latin typeface="Noto Sans SC"/>
                <a:ea typeface="Noto Sans SC"/>
                <a:cs typeface="Noto Sans SC"/>
                <a:sym typeface="Noto Sans SC"/>
              </a:rPr>
              <a:t>统一命名规则、标准化异常处理模式、通用性能优化手段及常见缺陷修复模板库。</a:t>
            </a:r>
            <a:endParaRPr lang="en-US" sz="1100"/>
          </a:p>
        </p:txBody>
      </p:sp>
      <p:pic>
        <p:nvPicPr>
          <p:cNvPr name="Picture 16" id="16"/>
          <p:cNvPicPr>
            <a:picLocks noChangeAspect="true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 rot="0" flipH="false" flipV="false">
            <a:off x="1016000" y="5588000"/>
            <a:ext cx="304800" cy="304800"/>
          </a:xfrm>
          <a:prstGeom prst="rect">
            <a:avLst/>
          </a:prstGeom>
        </p:spPr>
      </p:pic>
      <p:sp>
        <p:nvSpPr>
          <p:cNvPr name="AutoShape 17" id="17"/>
          <p:cNvSpPr/>
          <p:nvPr/>
        </p:nvSpPr>
        <p:spPr>
          <a:xfrm rot="0" flipH="false" flipV="false">
            <a:off x="1447800" y="5588000"/>
            <a:ext cx="4318000" cy="3048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indent="0">
              <a:lnSpc>
                <a:spcPct val="125000"/>
              </a:lnSpc>
              <a:defRPr/>
            </a:pPr>
            <a:r>
              <a:rPr lang="en-US" b="true" i="false" strike="noStrike" u="none" sz="1400">
                <a:solidFill>
                  <a:srgbClr val="E5E7EB"/>
                </a:solidFill>
                <a:latin typeface="Noto Sans SC"/>
                <a:ea typeface="Noto Sans SC"/>
                <a:cs typeface="Noto Sans SC"/>
                <a:sym typeface="Noto Sans SC"/>
              </a:rPr>
              <a:t>技术决策历史上下文库</a:t>
            </a:r>
            <a:endParaRPr lang="en-US" sz="1100"/>
          </a:p>
        </p:txBody>
      </p:sp>
      <p:sp>
        <p:nvSpPr>
          <p:cNvPr name="AutoShape 18" id="18"/>
          <p:cNvSpPr/>
          <p:nvPr/>
        </p:nvSpPr>
        <p:spPr>
          <a:xfrm rot="0" flipH="false" flipV="false">
            <a:off x="6223000" y="1397000"/>
            <a:ext cx="5207000" cy="4953000"/>
          </a:xfrm>
          <a:prstGeom prst="roundRect">
            <a:avLst>
              <a:gd name="adj" fmla="val 3076"/>
            </a:avLst>
          </a:prstGeom>
          <a:solidFill>
            <a:srgbClr val="1F2937">
              <a:alpha val="60000"/>
            </a:srgbClr>
          </a:solidFill>
          <a:ln w="12700" cmpd="sng" cap="flat">
            <a:solidFill>
              <a:srgbClr val="2DD4BF">
                <a:alpha val="30000"/>
              </a:srgbClr>
            </a:solidFill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sp>
        <p:nvSpPr>
          <p:cNvPr name="AutoShape 19" id="19"/>
          <p:cNvSpPr/>
          <p:nvPr/>
        </p:nvSpPr>
        <p:spPr>
          <a:xfrm rot="0" flipH="false" flipV="false">
            <a:off x="6477000" y="1651000"/>
            <a:ext cx="4699000" cy="381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indent="0">
              <a:lnSpc>
                <a:spcPct val="125000"/>
              </a:lnSpc>
              <a:defRPr/>
            </a:pPr>
            <a:r>
              <a:rPr lang="en-US" b="true" i="false" strike="noStrike" u="none" sz="1800">
                <a:solidFill>
                  <a:srgbClr val="F3F4F6"/>
                </a:solidFill>
                <a:latin typeface="Noto Sans SC"/>
                <a:ea typeface="Noto Sans SC"/>
                <a:cs typeface="Noto Sans SC"/>
                <a:sym typeface="Noto Sans SC"/>
              </a:rPr>
              <a:t>数据预处理与索引建设流程</a:t>
            </a:r>
            <a:endParaRPr lang="en-US" sz="1100"/>
          </a:p>
        </p:txBody>
      </p:sp>
      <p:cxnSp>
        <p:nvCxnSpPr>
          <p:cNvPr name="Connector 20" id="20"/>
          <p:cNvCxnSpPr/>
          <p:nvPr/>
        </p:nvCxnSpPr>
        <p:spPr>
          <a:xfrm rot="-9291" flipH="false" flipV="false">
            <a:off x="6477009" y="2089150"/>
            <a:ext cx="4699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mpd="sng" cap="flat">
            <a:solidFill>
              <a:srgbClr val="4B556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name="AutoShape 21" id="21"/>
          <p:cNvSpPr/>
          <p:nvPr/>
        </p:nvSpPr>
        <p:spPr>
          <a:xfrm rot="0" flipH="false" flipV="false">
            <a:off x="6477000" y="2286000"/>
            <a:ext cx="4699000" cy="889000"/>
          </a:xfrm>
          <a:prstGeom prst="roundRect">
            <a:avLst>
              <a:gd name="adj" fmla="val 11428"/>
            </a:avLst>
          </a:prstGeom>
          <a:solidFill>
            <a:srgbClr val="374151">
              <a:alpha val="40000"/>
            </a:srgbClr>
          </a:solidFill>
          <a:ln w="25400" cmpd="sng" cap="flat">
            <a:noFill/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sp>
        <p:nvSpPr>
          <p:cNvPr name="AutoShape 22" id="22"/>
          <p:cNvSpPr/>
          <p:nvPr/>
        </p:nvSpPr>
        <p:spPr>
          <a:xfrm rot="0" flipH="false" flipV="false">
            <a:off x="6604000" y="2387600"/>
            <a:ext cx="4445000" cy="2794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indent="0">
              <a:lnSpc>
                <a:spcPct val="125000"/>
              </a:lnSpc>
              <a:defRPr/>
            </a:pPr>
            <a:r>
              <a:rPr lang="en-US" b="true" i="false" strike="noStrike" u="none" sz="1300">
                <a:solidFill>
                  <a:srgbClr val="E5E7EB"/>
                </a:solidFill>
                <a:latin typeface="Noto Sans SC"/>
                <a:ea typeface="Noto Sans SC"/>
                <a:cs typeface="Noto Sans SC"/>
                <a:sym typeface="Noto Sans SC"/>
              </a:rPr>
              <a:t>01. 文档分块与向量化处理</a:t>
            </a:r>
            <a:r>
              <a:rPr lang="en-US" b="true" i="false" strike="noStrike" u="none" sz="1100">
                <a:solidFill>
                  <a:srgbClr val="F59E0B"/>
                </a:solidFill>
                <a:latin typeface="Noto Sans SC"/>
                <a:ea typeface="Noto Sans SC"/>
                <a:cs typeface="Noto Sans SC"/>
                <a:sym typeface="Noto Sans SC"/>
              </a:rPr>
              <a:t>[待验证]</a:t>
            </a:r>
            <a:endParaRPr lang="en-US" sz="1100"/>
          </a:p>
        </p:txBody>
      </p:sp>
      <p:sp>
        <p:nvSpPr>
          <p:cNvPr name="AutoShape 23" id="23"/>
          <p:cNvSpPr/>
          <p:nvPr/>
        </p:nvSpPr>
        <p:spPr>
          <a:xfrm rot="0" flipH="false" flipV="false">
            <a:off x="6604000" y="2717800"/>
            <a:ext cx="4445000" cy="4318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t" rtlCol="false" anchorCtr="false" vert="horz" wrap="square" lIns="0" rIns="0" tIns="0" bIns="0"/>
          <a:lstStyle/>
          <a:p>
            <a:pPr algn="l" indent="0">
              <a:lnSpc>
                <a:spcPct val="100000"/>
              </a:lnSpc>
              <a:defRPr/>
            </a:pPr>
            <a:r>
              <a:rPr lang="en-US" b="false" i="false" strike="noStrike" u="none" sz="1000">
                <a:solidFill>
                  <a:srgbClr val="9CA3AF"/>
                </a:solidFill>
                <a:latin typeface="Noto Sans SC"/>
                <a:ea typeface="Noto Sans SC"/>
                <a:cs typeface="Noto Sans SC"/>
                <a:sym typeface="Noto Sans SC"/>
              </a:rPr>
              <a:t>采用语义边界识别+重叠窗口策略，基于 bge-large-zh 模型向量化；目前Word/PDF等复杂格式解析效果待验证。</a:t>
            </a:r>
            <a:endParaRPr lang="en-US" sz="1100"/>
          </a:p>
        </p:txBody>
      </p:sp>
      <p:sp>
        <p:nvSpPr>
          <p:cNvPr name="AutoShape 24" id="24"/>
          <p:cNvSpPr/>
          <p:nvPr/>
        </p:nvSpPr>
        <p:spPr>
          <a:xfrm rot="0" flipH="false" flipV="false">
            <a:off x="6477000" y="3302000"/>
            <a:ext cx="4699000" cy="889000"/>
          </a:xfrm>
          <a:prstGeom prst="roundRect">
            <a:avLst>
              <a:gd name="adj" fmla="val 11428"/>
            </a:avLst>
          </a:prstGeom>
          <a:solidFill>
            <a:srgbClr val="374151">
              <a:alpha val="40000"/>
            </a:srgbClr>
          </a:solidFill>
          <a:ln w="25400" cmpd="sng" cap="flat">
            <a:noFill/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sp>
        <p:nvSpPr>
          <p:cNvPr name="AutoShape 25" id="25"/>
          <p:cNvSpPr/>
          <p:nvPr/>
        </p:nvSpPr>
        <p:spPr>
          <a:xfrm rot="0" flipH="false" flipV="false">
            <a:off x="6604000" y="3403600"/>
            <a:ext cx="4445000" cy="2794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indent="0">
              <a:lnSpc>
                <a:spcPct val="125000"/>
              </a:lnSpc>
              <a:defRPr/>
            </a:pPr>
            <a:r>
              <a:rPr lang="en-US" b="true" i="false" strike="noStrike" u="none" sz="1300">
                <a:solidFill>
                  <a:srgbClr val="E5E7EB"/>
                </a:solidFill>
                <a:latin typeface="Noto Sans SC"/>
                <a:ea typeface="Noto Sans SC"/>
                <a:cs typeface="Noto Sans SC"/>
                <a:sym typeface="Noto Sans SC"/>
              </a:rPr>
              <a:t>02. 代码知识图谱深度构建</a:t>
            </a:r>
            <a:r>
              <a:rPr lang="en-US" b="true" i="false" strike="noStrike" u="none" sz="1100">
                <a:solidFill>
                  <a:srgbClr val="EF4444"/>
                </a:solidFill>
                <a:latin typeface="Noto Sans SC"/>
                <a:ea typeface="Noto Sans SC"/>
                <a:cs typeface="Noto Sans SC"/>
                <a:sym typeface="Noto Sans SC"/>
              </a:rPr>
              <a:t>[待实现]</a:t>
            </a:r>
            <a:endParaRPr lang="en-US" sz="1100"/>
          </a:p>
        </p:txBody>
      </p:sp>
      <p:sp>
        <p:nvSpPr>
          <p:cNvPr name="AutoShape 26" id="26"/>
          <p:cNvSpPr/>
          <p:nvPr/>
        </p:nvSpPr>
        <p:spPr>
          <a:xfrm rot="0" flipH="false" flipV="false">
            <a:off x="6604000" y="3733800"/>
            <a:ext cx="4445000" cy="4318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t" rtlCol="false" anchorCtr="false" vert="horz" wrap="square" lIns="0" rIns="0" tIns="0" bIns="0"/>
          <a:lstStyle/>
          <a:p>
            <a:pPr algn="l" indent="0">
              <a:lnSpc>
                <a:spcPct val="100000"/>
              </a:lnSpc>
              <a:defRPr/>
            </a:pPr>
            <a:r>
              <a:rPr lang="en-US" b="false" i="false" strike="noStrike" u="none" sz="1000">
                <a:solidFill>
                  <a:srgbClr val="9CA3AF"/>
                </a:solidFill>
                <a:latin typeface="Noto Sans SC"/>
                <a:ea typeface="Noto Sans SC"/>
                <a:cs typeface="Noto Sans SC"/>
                <a:sym typeface="Noto Sans SC"/>
              </a:rPr>
              <a:t>通过AST抽象语法树解析提取静态依赖关系，当前仅支持单文件分析，跨文件变量级依赖分析模块尚未开发。</a:t>
            </a:r>
            <a:endParaRPr lang="en-US" sz="1100"/>
          </a:p>
        </p:txBody>
      </p:sp>
      <p:sp>
        <p:nvSpPr>
          <p:cNvPr name="AutoShape 27" id="27"/>
          <p:cNvSpPr/>
          <p:nvPr/>
        </p:nvSpPr>
        <p:spPr>
          <a:xfrm rot="0" flipH="false" flipV="false">
            <a:off x="6477000" y="4318000"/>
            <a:ext cx="4699000" cy="889000"/>
          </a:xfrm>
          <a:prstGeom prst="roundRect">
            <a:avLst>
              <a:gd name="adj" fmla="val 11428"/>
            </a:avLst>
          </a:prstGeom>
          <a:solidFill>
            <a:srgbClr val="374151">
              <a:alpha val="40000"/>
            </a:srgbClr>
          </a:solidFill>
          <a:ln w="25400" cmpd="sng" cap="flat">
            <a:noFill/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sp>
        <p:nvSpPr>
          <p:cNvPr name="AutoShape 28" id="28"/>
          <p:cNvSpPr/>
          <p:nvPr/>
        </p:nvSpPr>
        <p:spPr>
          <a:xfrm rot="0" flipH="false" flipV="false">
            <a:off x="6604000" y="4419600"/>
            <a:ext cx="4445000" cy="2794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indent="0">
              <a:lnSpc>
                <a:spcPct val="125000"/>
              </a:lnSpc>
              <a:defRPr/>
            </a:pPr>
            <a:r>
              <a:rPr lang="en-US" b="true" i="false" strike="noStrike" u="none" sz="1300">
                <a:solidFill>
                  <a:srgbClr val="E5E7EB"/>
                </a:solidFill>
                <a:latin typeface="Noto Sans SC"/>
                <a:ea typeface="Noto Sans SC"/>
                <a:cs typeface="Noto Sans SC"/>
                <a:sym typeface="Noto Sans SC"/>
              </a:rPr>
              <a:t>03. 混合索引机制分层建设</a:t>
            </a:r>
            <a:endParaRPr lang="en-US" sz="1100"/>
          </a:p>
        </p:txBody>
      </p:sp>
      <p:sp>
        <p:nvSpPr>
          <p:cNvPr name="AutoShape 29" id="29"/>
          <p:cNvSpPr/>
          <p:nvPr/>
        </p:nvSpPr>
        <p:spPr>
          <a:xfrm rot="0" flipH="false" flipV="false">
            <a:off x="6604000" y="4749800"/>
            <a:ext cx="4445000" cy="4318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t" rtlCol="false" anchorCtr="false" vert="horz" wrap="square" lIns="0" rIns="0" tIns="0" bIns="0"/>
          <a:lstStyle/>
          <a:p>
            <a:pPr algn="l" indent="0">
              <a:lnSpc>
                <a:spcPct val="100000"/>
              </a:lnSpc>
              <a:defRPr/>
            </a:pPr>
            <a:r>
              <a:rPr lang="en-US" b="true" i="false" strike="noStrike" u="none" sz="1000">
                <a:solidFill>
                  <a:srgbClr val="10B981"/>
                </a:solidFill>
                <a:latin typeface="Noto Sans SC"/>
                <a:ea typeface="Noto Sans SC"/>
                <a:cs typeface="Noto Sans SC"/>
                <a:sym typeface="Noto Sans SC"/>
              </a:rPr>
              <a:t>[轻量模式已验证]</a:t>
            </a:r>
            <a:r>
              <a:rPr lang="en-US" b="false" i="false" strike="noStrike" u="none" sz="1000">
                <a:solidFill>
                  <a:srgbClr val="9CA3AF"/>
                </a:solidFill>
                <a:latin typeface="Noto Sans SC"/>
                <a:ea typeface="Noto Sans SC"/>
                <a:cs typeface="Noto Sans SC"/>
                <a:sym typeface="Noto Sans SC"/>
              </a:rPr>
              <a:t>基于FAISS+SQLite+NetworkX实现。</a:t>
            </a:r>
            <a:r>
              <a:rPr lang="en-US" b="false" i="false" strike="noStrike" u="none" sz="1000">
                <a:solidFill>
                  <a:srgbClr val="1F2329"/>
                </a:solidFill>
                <a:latin typeface="Noto Sans SC"/>
                <a:ea typeface="Noto Sans SC"/>
                <a:cs typeface="Noto Sans SC"/>
                <a:sym typeface="Noto Sans SC"/>
              </a:rPr>
              <a:t/>
            </a:r>
            <a:endParaRPr lang="en-US" sz="1100"/>
          </a:p>
          <a:p>
            <a:pPr algn="l" indent="0">
              <a:lnSpc>
                <a:spcPct val="100000"/>
              </a:lnSpc>
            </a:pPr>
            <a:r>
              <a:rPr lang="en-US" b="true" i="false" strike="noStrike" u="none" sz="1000">
                <a:solidFill>
                  <a:srgbClr val="EF4444"/>
                </a:solidFill>
                <a:latin typeface="Noto Sans SC"/>
                <a:ea typeface="Noto Sans SC"/>
                <a:cs typeface="Noto Sans SC"/>
                <a:sym typeface="Noto Sans SC"/>
              </a:rPr>
              <a:t>[生产模式待实现]</a:t>
            </a:r>
            <a:r>
              <a:rPr lang="en-US" b="false" i="false" strike="noStrike" u="none" sz="1000">
                <a:solidFill>
                  <a:srgbClr val="9CA3AF"/>
                </a:solidFill>
                <a:latin typeface="Noto Sans SC"/>
                <a:ea typeface="Noto Sans SC"/>
                <a:cs typeface="Noto Sans SC"/>
                <a:sym typeface="Noto Sans SC"/>
              </a:rPr>
              <a:t>计划集成Milvus+Elasticsearch+Neo4j集群。</a:t>
            </a:r>
          </a:p>
        </p:txBody>
      </p:sp>
      <p:sp>
        <p:nvSpPr>
          <p:cNvPr name="AutoShape 30" id="30"/>
          <p:cNvSpPr/>
          <p:nvPr/>
        </p:nvSpPr>
        <p:spPr>
          <a:xfrm rot="0" flipH="false" flipV="false">
            <a:off x="6477000" y="5334000"/>
            <a:ext cx="4699000" cy="889000"/>
          </a:xfrm>
          <a:prstGeom prst="roundRect">
            <a:avLst>
              <a:gd name="adj" fmla="val 11428"/>
            </a:avLst>
          </a:prstGeom>
          <a:solidFill>
            <a:srgbClr val="374151">
              <a:alpha val="40000"/>
            </a:srgbClr>
          </a:solidFill>
          <a:ln w="25400" cmpd="sng" cap="flat">
            <a:noFill/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sp>
        <p:nvSpPr>
          <p:cNvPr name="AutoShape 31" id="31"/>
          <p:cNvSpPr/>
          <p:nvPr/>
        </p:nvSpPr>
        <p:spPr>
          <a:xfrm rot="0" flipH="false" flipV="false">
            <a:off x="6604000" y="5435600"/>
            <a:ext cx="4445000" cy="2794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indent="0">
              <a:lnSpc>
                <a:spcPct val="125000"/>
              </a:lnSpc>
              <a:defRPr/>
            </a:pPr>
            <a:r>
              <a:rPr lang="en-US" b="true" i="false" strike="noStrike" u="none" sz="1300">
                <a:solidFill>
                  <a:srgbClr val="E5E7EB"/>
                </a:solidFill>
                <a:latin typeface="Noto Sans SC"/>
                <a:ea typeface="Noto Sans SC"/>
                <a:cs typeface="Noto Sans SC"/>
                <a:sym typeface="Noto Sans SC"/>
              </a:rPr>
              <a:t>04. 全生命周期知识库管理工具</a:t>
            </a:r>
            <a:r>
              <a:rPr lang="en-US" b="true" i="false" strike="noStrike" u="none" sz="1100">
                <a:solidFill>
                  <a:srgbClr val="EF4444"/>
                </a:solidFill>
                <a:latin typeface="Noto Sans SC"/>
                <a:ea typeface="Noto Sans SC"/>
                <a:cs typeface="Noto Sans SC"/>
                <a:sym typeface="Noto Sans SC"/>
              </a:rPr>
              <a:t>[待实现]</a:t>
            </a:r>
            <a:endParaRPr lang="en-US" sz="1100"/>
          </a:p>
        </p:txBody>
      </p:sp>
      <p:sp>
        <p:nvSpPr>
          <p:cNvPr name="AutoShape 32" id="32"/>
          <p:cNvSpPr/>
          <p:nvPr/>
        </p:nvSpPr>
        <p:spPr>
          <a:xfrm rot="0" flipH="false" flipV="false">
            <a:off x="6604000" y="5765800"/>
            <a:ext cx="4445000" cy="4318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t" rtlCol="false" anchorCtr="false" vert="horz" wrap="square" lIns="0" rIns="0" tIns="0" bIns="0"/>
          <a:lstStyle/>
          <a:p>
            <a:pPr algn="l" indent="0">
              <a:lnSpc>
                <a:spcPct val="100000"/>
              </a:lnSpc>
              <a:defRPr/>
            </a:pPr>
            <a:r>
              <a:rPr lang="en-US" b="false" i="false" strike="noStrike" u="none" sz="1000">
                <a:solidFill>
                  <a:srgbClr val="9CA3AF"/>
                </a:solidFill>
                <a:latin typeface="Noto Sans SC"/>
                <a:ea typeface="Noto Sans SC"/>
                <a:cs typeface="Noto Sans SC"/>
                <a:sym typeface="Noto Sans SC"/>
              </a:rPr>
              <a:t>涵盖知识自动采集、质量评估、版本回滚及权限审计功能的统一管理中台，目前处于架构设计阶段。</a:t>
            </a:r>
            <a:endParaRPr lang="en-US" sz="1100"/>
          </a:p>
        </p:txBody>
      </p: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blipFill dpi="0" rotWithShape="true">
          <a:blip r:embed="rId2">
            <a:lum/>
          </a:blip>
          <a:srcRect/>
          <a:stretch>
            <a:fillRect l="0" t="0" r="0" b="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 rot="0" flipH="false" flipV="false">
            <a:off x="0" y="0"/>
            <a:ext cx="12192000" cy="6858000"/>
          </a:xfrm>
          <a:prstGeom prst="roundRect">
            <a:avLst>
              <a:gd name="adj" fmla="val 0"/>
            </a:avLst>
          </a:prstGeom>
          <a:solidFill>
            <a:srgbClr val="111827">
              <a:alpha val="85000"/>
            </a:srgbClr>
          </a:solidFill>
          <a:ln w="25400" cmpd="sng" cap="flat">
            <a:noFill/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sp>
        <p:nvSpPr>
          <p:cNvPr name="AutoShape 3" id="3"/>
          <p:cNvSpPr/>
          <p:nvPr/>
        </p:nvSpPr>
        <p:spPr>
          <a:xfrm rot="0" flipH="false" flipV="false">
            <a:off x="762000" y="635000"/>
            <a:ext cx="7620000" cy="508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indent="0">
              <a:lnSpc>
                <a:spcPct val="125000"/>
              </a:lnSpc>
              <a:defRPr/>
            </a:pPr>
            <a:r>
              <a:rPr lang="en-US" b="true" i="false" strike="noStrike" u="none" sz="3200">
                <a:solidFill>
                  <a:srgbClr val="2DD4BF"/>
                </a:solidFill>
                <a:latin typeface="Noto Sans SC"/>
                <a:ea typeface="Noto Sans SC"/>
                <a:cs typeface="Noto Sans SC"/>
                <a:sym typeface="Noto Sans SC"/>
              </a:rPr>
              <a:t>06. 智能检索与生成机制</a:t>
            </a:r>
            <a:endParaRPr lang="en-US" sz="1100"/>
          </a:p>
        </p:txBody>
      </p:sp>
      <p:sp>
        <p:nvSpPr>
          <p:cNvPr name="AutoShape 4" id="4"/>
          <p:cNvSpPr/>
          <p:nvPr/>
        </p:nvSpPr>
        <p:spPr>
          <a:xfrm rot="0" flipH="false" flipV="false">
            <a:off x="762000" y="1524000"/>
            <a:ext cx="3429000" cy="4826000"/>
          </a:xfrm>
          <a:prstGeom prst="roundRect">
            <a:avLst>
              <a:gd name="adj" fmla="val 4444"/>
            </a:avLst>
          </a:prstGeom>
          <a:solidFill>
            <a:srgbClr val="1F2937">
              <a:alpha val="60000"/>
            </a:srgbClr>
          </a:solidFill>
          <a:ln w="12700" cmpd="sng" cap="flat">
            <a:solidFill>
              <a:srgbClr val="2DD4BF">
                <a:alpha val="30000"/>
              </a:srgbClr>
            </a:solidFill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pic>
        <p:nvPicPr>
          <p:cNvPr name="Picture 5" id="5"/>
          <p:cNvPicPr>
            <a:picLocks noChangeAspect="true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 rot="0" flipH="false" flipV="false">
            <a:off x="1016000" y="1778000"/>
            <a:ext cx="304800" cy="304800"/>
          </a:xfrm>
          <a:prstGeom prst="rect">
            <a:avLst/>
          </a:prstGeom>
        </p:spPr>
      </p:pic>
      <p:sp>
        <p:nvSpPr>
          <p:cNvPr name="AutoShape 6" id="6"/>
          <p:cNvSpPr/>
          <p:nvPr/>
        </p:nvSpPr>
        <p:spPr>
          <a:xfrm rot="0" flipH="false" flipV="false">
            <a:off x="1422400" y="1752600"/>
            <a:ext cx="2540000" cy="3556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indent="0">
              <a:lnSpc>
                <a:spcPct val="125000"/>
              </a:lnSpc>
              <a:defRPr/>
            </a:pPr>
            <a:r>
              <a:rPr lang="en-US" b="true" i="false" strike="noStrike" u="none" sz="1800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三大触发机制</a:t>
            </a:r>
            <a:endParaRPr lang="en-US" sz="1100"/>
          </a:p>
        </p:txBody>
      </p:sp>
      <p:cxnSp>
        <p:nvCxnSpPr>
          <p:cNvPr name="Connector 7" id="7"/>
          <p:cNvCxnSpPr/>
          <p:nvPr/>
        </p:nvCxnSpPr>
        <p:spPr>
          <a:xfrm rot="-14946" flipH="false" flipV="false">
            <a:off x="1016014" y="2228850"/>
            <a:ext cx="2921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mpd="sng" cap="flat">
            <a:solidFill>
              <a:srgbClr val="FFFFFF">
                <a:alpha val="1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name="AutoShape 8" id="8"/>
          <p:cNvSpPr/>
          <p:nvPr/>
        </p:nvSpPr>
        <p:spPr>
          <a:xfrm rot="0" flipH="false" flipV="false">
            <a:off x="1016000" y="2413000"/>
            <a:ext cx="2921000" cy="3810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t" rtlCol="false" anchorCtr="false" vert="horz" wrap="square" lIns="0" rIns="0" tIns="0" bIns="0"/>
          <a:lstStyle/>
          <a:p>
            <a:pPr algn="l" indent="0">
              <a:lnSpc>
                <a:spcPct val="108333"/>
              </a:lnSpc>
              <a:spcAft>
                <a:spcPts val="1000"/>
              </a:spcAft>
              <a:defRPr/>
            </a:pPr>
            <a:r>
              <a:rPr lang="en-US" b="true" i="false" strike="noStrike" u="none" sz="1400">
                <a:solidFill>
                  <a:srgbClr val="2DD4BF"/>
                </a:solidFill>
                <a:latin typeface="Noto Sans SC"/>
                <a:ea typeface="Noto Sans SC"/>
                <a:cs typeface="Noto Sans SC"/>
                <a:sym typeface="Noto Sans SC"/>
              </a:rPr>
              <a:t>对话上下文自动触发</a:t>
            </a:r>
            <a:r>
              <a:rPr lang="en-US" b="false" i="false" strike="noStrike" u="none" sz="1600">
                <a:solidFill>
                  <a:srgbClr val="1F2329"/>
                </a:solidFill>
                <a:latin typeface="Noto Sans SC"/>
                <a:ea typeface="Noto Sans SC"/>
                <a:cs typeface="Noto Sans SC"/>
                <a:sym typeface="Noto Sans SC"/>
              </a:rPr>
              <a:t/>
            </a:r>
            <a:br>
              <a:rPr lang="en-US" b="false" i="false" strike="noStrike" u="none" sz="1600">
                <a:solidFill>
                  <a:srgbClr val="1F2329"/>
                </a:solidFill>
                <a:latin typeface="Noto Sans SC"/>
                <a:ea typeface="Noto Sans SC"/>
                <a:cs typeface="Noto Sans SC"/>
                <a:sym typeface="Noto Sans SC"/>
              </a:rPr>
            </a:br>
            <a:r>
              <a:rPr lang="en-US" b="false" i="false" strike="noStrike" u="none" sz="1200">
                <a:solidFill>
                  <a:srgbClr val="D1D5DB"/>
                </a:solidFill>
                <a:latin typeface="Noto Sans SC"/>
                <a:ea typeface="Noto Sans SC"/>
                <a:cs typeface="Noto Sans SC"/>
                <a:sym typeface="Noto Sans SC"/>
              </a:rPr>
              <a:t>识别业务术语与API名，结合语义向量相似度与IDE上下文感知。</a:t>
            </a:r>
            <a:r>
              <a:rPr lang="en-US" b="false" i="false" strike="noStrike" u="none" sz="1600">
                <a:solidFill>
                  <a:srgbClr val="1F2329"/>
                </a:solidFill>
                <a:latin typeface="Noto Sans SC"/>
                <a:ea typeface="Noto Sans SC"/>
                <a:cs typeface="Noto Sans SC"/>
                <a:sym typeface="Noto Sans SC"/>
              </a:rPr>
              <a:t/>
            </a:r>
            <a:endParaRPr lang="en-US" sz="1100"/>
          </a:p>
          <a:p>
            <a:pPr algn="l" indent="0">
              <a:lnSpc>
                <a:spcPct val="108333"/>
              </a:lnSpc>
              <a:spcAft>
                <a:spcPts val="1000"/>
              </a:spcAft>
            </a:pPr>
            <a:r>
              <a:rPr lang="en-US" b="true" i="false" strike="noStrike" u="none" sz="1400">
                <a:solidFill>
                  <a:srgbClr val="2DD4BF"/>
                </a:solidFill>
                <a:latin typeface="Noto Sans SC"/>
                <a:ea typeface="Noto Sans SC"/>
                <a:cs typeface="Noto Sans SC"/>
                <a:sym typeface="Noto Sans SC"/>
              </a:rPr>
              <a:t>知识图谱关联触发</a:t>
            </a:r>
            <a:r>
              <a:rPr lang="en-US" b="false" i="false" strike="noStrike" u="none" sz="1600">
                <a:solidFill>
                  <a:srgbClr val="1F2329"/>
                </a:solidFill>
                <a:latin typeface="Noto Sans SC"/>
                <a:ea typeface="Noto Sans SC"/>
                <a:cs typeface="Noto Sans SC"/>
                <a:sym typeface="Noto Sans SC"/>
              </a:rPr>
              <a:t/>
            </a:r>
            <a:br>
              <a:rPr lang="en-US" b="false" i="false" strike="noStrike" u="none" sz="1600">
                <a:solidFill>
                  <a:srgbClr val="1F2329"/>
                </a:solidFill>
                <a:latin typeface="Noto Sans SC"/>
                <a:ea typeface="Noto Sans SC"/>
                <a:cs typeface="Noto Sans SC"/>
                <a:sym typeface="Noto Sans SC"/>
              </a:rPr>
            </a:br>
            <a:r>
              <a:rPr lang="en-US" b="false" i="false" strike="noStrike" u="none" sz="1200">
                <a:solidFill>
                  <a:srgbClr val="D1D5DB"/>
                </a:solidFill>
                <a:latin typeface="Noto Sans SC"/>
                <a:ea typeface="Noto Sans SC"/>
                <a:cs typeface="Noto Sans SC"/>
                <a:sym typeface="Noto Sans SC"/>
              </a:rPr>
              <a:t>检测到实体后，利用图遍历算法自动加载关联文档与历史方案。</a:t>
            </a:r>
            <a:r>
              <a:rPr lang="en-US" b="false" i="false" strike="noStrike" u="none" sz="1600">
                <a:solidFill>
                  <a:srgbClr val="1F2329"/>
                </a:solidFill>
                <a:latin typeface="Noto Sans SC"/>
                <a:ea typeface="Noto Sans SC"/>
                <a:cs typeface="Noto Sans SC"/>
                <a:sym typeface="Noto Sans SC"/>
              </a:rPr>
              <a:t/>
            </a:r>
          </a:p>
          <a:p>
            <a:pPr algn="l" indent="0">
              <a:lnSpc>
                <a:spcPct val="108333"/>
              </a:lnSpc>
            </a:pPr>
            <a:r>
              <a:rPr lang="en-US" b="true" i="false" strike="noStrike" u="none" sz="1400">
                <a:solidFill>
                  <a:srgbClr val="2DD4BF"/>
                </a:solidFill>
                <a:latin typeface="Noto Sans SC"/>
                <a:ea typeface="Noto Sans SC"/>
                <a:cs typeface="Noto Sans SC"/>
                <a:sym typeface="Noto Sans SC"/>
              </a:rPr>
              <a:t>项目上下文自适应触发</a:t>
            </a:r>
            <a:r>
              <a:rPr lang="en-US" b="false" i="false" strike="noStrike" u="none" sz="1600">
                <a:solidFill>
                  <a:srgbClr val="1F2329"/>
                </a:solidFill>
                <a:latin typeface="Noto Sans SC"/>
                <a:ea typeface="Noto Sans SC"/>
                <a:cs typeface="Noto Sans SC"/>
                <a:sym typeface="Noto Sans SC"/>
              </a:rPr>
              <a:t/>
            </a:r>
            <a:br>
              <a:rPr lang="en-US" b="false" i="false" strike="noStrike" u="none" sz="1600">
                <a:solidFill>
                  <a:srgbClr val="1F2329"/>
                </a:solidFill>
                <a:latin typeface="Noto Sans SC"/>
                <a:ea typeface="Noto Sans SC"/>
                <a:cs typeface="Noto Sans SC"/>
                <a:sym typeface="Noto Sans SC"/>
              </a:rPr>
            </a:br>
            <a:r>
              <a:rPr lang="en-US" b="false" i="false" strike="noStrike" u="none" sz="1200">
                <a:solidFill>
                  <a:srgbClr val="D1D5DB"/>
                </a:solidFill>
                <a:latin typeface="Noto Sans SC"/>
                <a:ea typeface="Noto Sans SC"/>
                <a:cs typeface="Noto Sans SC"/>
                <a:sym typeface="Noto Sans SC"/>
              </a:rPr>
              <a:t>主动预注入架构概览、模块编码规范等背景知识，实现深度适配。</a:t>
            </a:r>
          </a:p>
        </p:txBody>
      </p:sp>
      <p:sp>
        <p:nvSpPr>
          <p:cNvPr name="AutoShape 9" id="9"/>
          <p:cNvSpPr/>
          <p:nvPr/>
        </p:nvSpPr>
        <p:spPr>
          <a:xfrm rot="0" flipH="false" flipV="false">
            <a:off x="4381500" y="1524000"/>
            <a:ext cx="3429000" cy="4826000"/>
          </a:xfrm>
          <a:prstGeom prst="roundRect">
            <a:avLst>
              <a:gd name="adj" fmla="val 4444"/>
            </a:avLst>
          </a:prstGeom>
          <a:solidFill>
            <a:srgbClr val="1F2937">
              <a:alpha val="60000"/>
            </a:srgbClr>
          </a:solidFill>
          <a:ln w="12700" cmpd="sng" cap="flat">
            <a:solidFill>
              <a:srgbClr val="2DD4BF">
                <a:alpha val="30000"/>
              </a:srgbClr>
            </a:solidFill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pic>
        <p:nvPicPr>
          <p:cNvPr name="Picture 10" id="10"/>
          <p:cNvPicPr>
            <a:picLocks noChangeAspect="true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 rot="0" flipH="false" flipV="false">
            <a:off x="4635500" y="1778000"/>
            <a:ext cx="304800" cy="304800"/>
          </a:xfrm>
          <a:prstGeom prst="rect">
            <a:avLst/>
          </a:prstGeom>
        </p:spPr>
      </p:pic>
      <p:sp>
        <p:nvSpPr>
          <p:cNvPr name="AutoShape 11" id="11"/>
          <p:cNvSpPr/>
          <p:nvPr/>
        </p:nvSpPr>
        <p:spPr>
          <a:xfrm rot="0" flipH="false" flipV="false">
            <a:off x="5041900" y="1752600"/>
            <a:ext cx="2540000" cy="3556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indent="0">
              <a:lnSpc>
                <a:spcPct val="125000"/>
              </a:lnSpc>
              <a:defRPr/>
            </a:pPr>
            <a:r>
              <a:rPr lang="en-US" b="true" i="false" strike="noStrike" u="none" sz="1800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MCP协议集成方案</a:t>
            </a:r>
            <a:endParaRPr lang="en-US" sz="1100"/>
          </a:p>
        </p:txBody>
      </p:sp>
      <p:cxnSp>
        <p:nvCxnSpPr>
          <p:cNvPr name="Connector 12" id="12"/>
          <p:cNvCxnSpPr/>
          <p:nvPr/>
        </p:nvCxnSpPr>
        <p:spPr>
          <a:xfrm rot="-14946" flipH="false" flipV="false">
            <a:off x="4635514" y="2228850"/>
            <a:ext cx="2921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mpd="sng" cap="flat">
            <a:solidFill>
              <a:srgbClr val="FFFFFF">
                <a:alpha val="1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name="AutoShape 13" id="13"/>
          <p:cNvSpPr/>
          <p:nvPr/>
        </p:nvSpPr>
        <p:spPr>
          <a:xfrm rot="0" flipH="false" flipV="false">
            <a:off x="4635500" y="2413000"/>
            <a:ext cx="2921000" cy="3810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t" rtlCol="false" anchorCtr="false" vert="horz" wrap="square" lIns="0" rIns="0" tIns="0" bIns="0"/>
          <a:lstStyle/>
          <a:p>
            <a:pPr algn="l" indent="0">
              <a:lnSpc>
                <a:spcPct val="125000"/>
              </a:lnSpc>
              <a:defRPr/>
            </a:pPr>
            <a:r>
              <a:rPr lang="en-US" b="false" i="false" strike="noStrike" u="none" sz="1300">
                <a:solidFill>
                  <a:srgbClr val="E5E7EB"/>
                </a:solidFill>
                <a:latin typeface="Noto Sans SC"/>
                <a:ea typeface="Noto Sans SC"/>
                <a:cs typeface="Noto Sans SC"/>
                <a:sym typeface="Noto Sans SC"/>
              </a:rPr>
              <a:t>01. 开发者在IDE中发起提问。</a:t>
            </a:r>
            <a:r>
              <a:rPr lang="en-US" b="false" i="false" strike="noStrike" u="none" sz="1300">
                <a:solidFill>
                  <a:srgbClr val="E5E7EB"/>
                </a:solidFill>
                <a:latin typeface="Noto Sans SC"/>
                <a:ea typeface="Noto Sans SC"/>
                <a:cs typeface="Noto Sans SC"/>
                <a:sym typeface="Noto Sans SC"/>
              </a:rPr>
              <a:t/>
            </a:r>
            <a:endParaRPr lang="en-US" sz="1100"/>
          </a:p>
          <a:p>
            <a:pPr algn="l" indent="0">
              <a:lnSpc>
                <a:spcPct val="125000"/>
              </a:lnSpc>
            </a:pPr>
            <a:r>
              <a:rPr lang="en-US" b="false" i="false" strike="noStrike" u="none" sz="1300">
                <a:solidFill>
                  <a:srgbClr val="E5E7EB"/>
                </a:solidFill>
                <a:latin typeface="Noto Sans SC"/>
                <a:ea typeface="Noto Sans SC"/>
                <a:cs typeface="Noto Sans SC"/>
                <a:sym typeface="Noto Sans SC"/>
              </a:rPr>
              <a:t>02. 插件提取关键上下文，调用MCP Server接口。</a:t>
            </a:r>
            <a:r>
              <a:rPr lang="en-US" b="false" i="false" strike="noStrike" u="none" sz="1300">
                <a:solidFill>
                  <a:srgbClr val="E5E7EB"/>
                </a:solidFill>
                <a:latin typeface="Noto Sans SC"/>
                <a:ea typeface="Noto Sans SC"/>
                <a:cs typeface="Noto Sans SC"/>
                <a:sym typeface="Noto Sans SC"/>
              </a:rPr>
              <a:t/>
            </a:r>
          </a:p>
          <a:p>
            <a:pPr algn="l" indent="0">
              <a:lnSpc>
                <a:spcPct val="125000"/>
              </a:lnSpc>
            </a:pPr>
            <a:r>
              <a:rPr lang="en-US" b="false" i="false" strike="noStrike" u="none" sz="1300">
                <a:solidFill>
                  <a:srgbClr val="E5E7EB"/>
                </a:solidFill>
                <a:latin typeface="Noto Sans SC"/>
                <a:ea typeface="Noto Sans SC"/>
                <a:cs typeface="Noto Sans SC"/>
                <a:sym typeface="Noto Sans SC"/>
              </a:rPr>
              <a:t>03. 服务端执行混合检索，返回Top-K高相关性知识。</a:t>
            </a:r>
            <a:r>
              <a:rPr lang="en-US" b="false" i="false" strike="noStrike" u="none" sz="1300">
                <a:solidFill>
                  <a:srgbClr val="E5E7EB"/>
                </a:solidFill>
                <a:latin typeface="Noto Sans SC"/>
                <a:ea typeface="Noto Sans SC"/>
                <a:cs typeface="Noto Sans SC"/>
                <a:sym typeface="Noto Sans SC"/>
              </a:rPr>
              <a:t/>
            </a:r>
          </a:p>
          <a:p>
            <a:pPr algn="l" indent="0">
              <a:lnSpc>
                <a:spcPct val="125000"/>
              </a:lnSpc>
            </a:pPr>
            <a:r>
              <a:rPr lang="en-US" b="false" i="false" strike="noStrike" u="none" sz="1300">
                <a:solidFill>
                  <a:srgbClr val="E5E7EB"/>
                </a:solidFill>
                <a:latin typeface="Noto Sans SC"/>
                <a:ea typeface="Noto Sans SC"/>
                <a:cs typeface="Noto Sans SC"/>
                <a:sym typeface="Noto Sans SC"/>
              </a:rPr>
              <a:t>04. IDE插件将检索结果组装为标准化的多段式Prompt。</a:t>
            </a:r>
            <a:r>
              <a:rPr lang="en-US" b="false" i="false" strike="noStrike" u="none" sz="1300">
                <a:solidFill>
                  <a:srgbClr val="E5E7EB"/>
                </a:solidFill>
                <a:latin typeface="Noto Sans SC"/>
                <a:ea typeface="Noto Sans SC"/>
                <a:cs typeface="Noto Sans SC"/>
                <a:sym typeface="Noto Sans SC"/>
              </a:rPr>
              <a:t/>
            </a:r>
          </a:p>
          <a:p>
            <a:pPr algn="l" indent="0">
              <a:lnSpc>
                <a:spcPct val="125000"/>
              </a:lnSpc>
            </a:pPr>
            <a:r>
              <a:rPr lang="en-US" b="false" i="false" strike="noStrike" u="none" sz="1300">
                <a:solidFill>
                  <a:srgbClr val="E5E7EB"/>
                </a:solidFill>
                <a:latin typeface="Noto Sans SC"/>
                <a:ea typeface="Noto Sans SC"/>
                <a:cs typeface="Noto Sans SC"/>
                <a:sym typeface="Noto Sans SC"/>
              </a:rPr>
              <a:t>05. 发送至LLM，生成精准、合规的代码片段。</a:t>
            </a:r>
          </a:p>
        </p:txBody>
      </p:sp>
      <p:sp>
        <p:nvSpPr>
          <p:cNvPr name="AutoShape 14" id="14"/>
          <p:cNvSpPr/>
          <p:nvPr/>
        </p:nvSpPr>
        <p:spPr>
          <a:xfrm rot="0" flipH="false" flipV="false">
            <a:off x="8001000" y="1524000"/>
            <a:ext cx="3429000" cy="4826000"/>
          </a:xfrm>
          <a:prstGeom prst="roundRect">
            <a:avLst>
              <a:gd name="adj" fmla="val 4444"/>
            </a:avLst>
          </a:prstGeom>
          <a:solidFill>
            <a:srgbClr val="1F2937">
              <a:alpha val="60000"/>
            </a:srgbClr>
          </a:solidFill>
          <a:ln w="12700" cmpd="sng" cap="flat">
            <a:solidFill>
              <a:srgbClr val="2DD4BF">
                <a:alpha val="30000"/>
              </a:srgbClr>
            </a:solidFill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pic>
        <p:nvPicPr>
          <p:cNvPr name="Picture 15" id="15"/>
          <p:cNvPicPr>
            <a:picLocks noChangeAspect="true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 rot="0" flipH="false" flipV="false">
            <a:off x="8255000" y="1778000"/>
            <a:ext cx="304800" cy="304800"/>
          </a:xfrm>
          <a:prstGeom prst="rect">
            <a:avLst/>
          </a:prstGeom>
        </p:spPr>
      </p:pic>
      <p:sp>
        <p:nvSpPr>
          <p:cNvPr name="AutoShape 16" id="16"/>
          <p:cNvSpPr/>
          <p:nvPr/>
        </p:nvSpPr>
        <p:spPr>
          <a:xfrm rot="0" flipH="false" flipV="false">
            <a:off x="8661400" y="1752600"/>
            <a:ext cx="2540000" cy="3556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indent="0">
              <a:lnSpc>
                <a:spcPct val="125000"/>
              </a:lnSpc>
              <a:defRPr/>
            </a:pPr>
            <a:r>
              <a:rPr lang="en-US" b="true" i="false" strike="noStrike" u="none" sz="1800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检索效果保障体系</a:t>
            </a:r>
            <a:endParaRPr lang="en-US" sz="1100"/>
          </a:p>
        </p:txBody>
      </p:sp>
      <p:cxnSp>
        <p:nvCxnSpPr>
          <p:cNvPr name="Connector 17" id="17"/>
          <p:cNvCxnSpPr/>
          <p:nvPr/>
        </p:nvCxnSpPr>
        <p:spPr>
          <a:xfrm rot="-14946" flipH="false" flipV="false">
            <a:off x="8255014" y="2228850"/>
            <a:ext cx="2921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mpd="sng" cap="flat">
            <a:solidFill>
              <a:srgbClr val="FFFFFF">
                <a:alpha val="1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name="AutoShape 18" id="18"/>
          <p:cNvSpPr/>
          <p:nvPr/>
        </p:nvSpPr>
        <p:spPr>
          <a:xfrm rot="0" flipH="false" flipV="false">
            <a:off x="8255000" y="2413000"/>
            <a:ext cx="2921000" cy="3810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t" rtlCol="false" anchorCtr="false" vert="horz" wrap="square" lIns="0" rIns="0" tIns="0" bIns="0"/>
          <a:lstStyle/>
          <a:p>
            <a:pPr algn="l" indent="0">
              <a:lnSpc>
                <a:spcPct val="108333"/>
              </a:lnSpc>
              <a:spcAft>
                <a:spcPts val="1200"/>
              </a:spcAft>
              <a:defRPr/>
            </a:pPr>
            <a:r>
              <a:rPr lang="en-US" b="true" i="false" strike="noStrike" u="none" sz="1400">
                <a:solidFill>
                  <a:srgbClr val="2DD4BF"/>
                </a:solidFill>
                <a:latin typeface="Noto Sans SC"/>
                <a:ea typeface="Noto Sans SC"/>
                <a:cs typeface="Noto Sans SC"/>
                <a:sym typeface="Noto Sans SC"/>
              </a:rPr>
              <a:t>混合检索与重排序</a:t>
            </a:r>
            <a:r>
              <a:rPr lang="en-US" b="false" i="false" strike="noStrike" u="none" sz="1600">
                <a:solidFill>
                  <a:srgbClr val="1F2329"/>
                </a:solidFill>
                <a:latin typeface="Noto Sans SC"/>
                <a:ea typeface="Noto Sans SC"/>
                <a:cs typeface="Noto Sans SC"/>
                <a:sym typeface="Noto Sans SC"/>
              </a:rPr>
              <a:t/>
            </a:r>
            <a:br>
              <a:rPr lang="en-US" b="false" i="false" strike="noStrike" u="none" sz="1600">
                <a:solidFill>
                  <a:srgbClr val="1F2329"/>
                </a:solidFill>
                <a:latin typeface="Noto Sans SC"/>
                <a:ea typeface="Noto Sans SC"/>
                <a:cs typeface="Noto Sans SC"/>
                <a:sym typeface="Noto Sans SC"/>
              </a:rPr>
            </a:br>
            <a:r>
              <a:rPr lang="en-US" b="false" i="false" strike="noStrike" u="none" sz="1200">
                <a:solidFill>
                  <a:srgbClr val="D1D5DB"/>
                </a:solidFill>
                <a:latin typeface="Noto Sans SC"/>
                <a:ea typeface="Noto Sans SC"/>
                <a:cs typeface="Noto Sans SC"/>
                <a:sym typeface="Noto Sans SC"/>
              </a:rPr>
              <a:t>融合BM25、向量相似度与图遍历算法初筛，引入Cross-BERT模型进行精准重排序。</a:t>
            </a:r>
            <a:r>
              <a:rPr lang="en-US" b="true" i="false" strike="noStrike" u="none" sz="1200">
                <a:solidFill>
                  <a:srgbClr val="EF4444"/>
                </a:solidFill>
                <a:latin typeface="Noto Sans SC"/>
                <a:ea typeface="Noto Sans SC"/>
                <a:cs typeface="Noto Sans SC"/>
                <a:sym typeface="Noto Sans SC"/>
              </a:rPr>
              <a:t>[Cross-BERT待实现]</a:t>
            </a:r>
            <a:r>
              <a:rPr lang="en-US" b="false" i="false" strike="noStrike" u="none" sz="1600">
                <a:solidFill>
                  <a:srgbClr val="1F2329"/>
                </a:solidFill>
                <a:latin typeface="Noto Sans SC"/>
                <a:ea typeface="Noto Sans SC"/>
                <a:cs typeface="Noto Sans SC"/>
                <a:sym typeface="Noto Sans SC"/>
              </a:rPr>
              <a:t/>
            </a:r>
            <a:endParaRPr lang="en-US" sz="1100"/>
          </a:p>
          <a:p>
            <a:pPr algn="l" indent="0">
              <a:lnSpc>
                <a:spcPct val="108333"/>
              </a:lnSpc>
              <a:spcAft>
                <a:spcPts val="1200"/>
              </a:spcAft>
            </a:pPr>
            <a:r>
              <a:rPr lang="en-US" b="true" i="false" strike="noStrike" u="none" sz="1400">
                <a:solidFill>
                  <a:srgbClr val="2DD4BF"/>
                </a:solidFill>
                <a:latin typeface="Noto Sans SC"/>
                <a:ea typeface="Noto Sans SC"/>
                <a:cs typeface="Noto Sans SC"/>
                <a:sym typeface="Noto Sans SC"/>
              </a:rPr>
              <a:t>智能上下文剪枝策略</a:t>
            </a:r>
            <a:r>
              <a:rPr lang="en-US" b="false" i="false" strike="noStrike" u="none" sz="1600">
                <a:solidFill>
                  <a:srgbClr val="1F2329"/>
                </a:solidFill>
                <a:latin typeface="Noto Sans SC"/>
                <a:ea typeface="Noto Sans SC"/>
                <a:cs typeface="Noto Sans SC"/>
                <a:sym typeface="Noto Sans SC"/>
              </a:rPr>
              <a:t/>
            </a:r>
            <a:br>
              <a:rPr lang="en-US" b="false" i="false" strike="noStrike" u="none" sz="1600">
                <a:solidFill>
                  <a:srgbClr val="1F2329"/>
                </a:solidFill>
                <a:latin typeface="Noto Sans SC"/>
                <a:ea typeface="Noto Sans SC"/>
                <a:cs typeface="Noto Sans SC"/>
                <a:sym typeface="Noto Sans SC"/>
              </a:rPr>
            </a:br>
            <a:r>
              <a:rPr lang="en-US" b="false" i="false" strike="noStrike" u="none" sz="1200">
                <a:solidFill>
                  <a:srgbClr val="D1D5DB"/>
                </a:solidFill>
                <a:latin typeface="Noto Sans SC"/>
                <a:ea typeface="Noto Sans SC"/>
                <a:cs typeface="Noto Sans SC"/>
                <a:sym typeface="Noto Sans SC"/>
              </a:rPr>
              <a:t>对检索结果进行去重与截断处理，在有限的Token预算下最大化信息密度，避免资源浪费。</a:t>
            </a:r>
            <a:r>
              <a:rPr lang="en-US" b="false" i="false" strike="noStrike" u="none" sz="1600">
                <a:solidFill>
                  <a:srgbClr val="1F2329"/>
                </a:solidFill>
                <a:latin typeface="Noto Sans SC"/>
                <a:ea typeface="Noto Sans SC"/>
                <a:cs typeface="Noto Sans SC"/>
                <a:sym typeface="Noto Sans SC"/>
              </a:rPr>
              <a:t/>
            </a:r>
          </a:p>
          <a:p>
            <a:pPr algn="l" indent="0">
              <a:lnSpc>
                <a:spcPct val="108333"/>
              </a:lnSpc>
            </a:pPr>
            <a:r>
              <a:rPr lang="en-US" b="true" i="false" strike="noStrike" u="none" sz="1400">
                <a:solidFill>
                  <a:srgbClr val="2DD4BF"/>
                </a:solidFill>
                <a:latin typeface="Noto Sans SC"/>
                <a:ea typeface="Noto Sans SC"/>
                <a:cs typeface="Noto Sans SC"/>
                <a:sym typeface="Noto Sans SC"/>
              </a:rPr>
              <a:t>标准化Prompt工程</a:t>
            </a:r>
            <a:r>
              <a:rPr lang="en-US" b="false" i="false" strike="noStrike" u="none" sz="1600">
                <a:solidFill>
                  <a:srgbClr val="1F2329"/>
                </a:solidFill>
                <a:latin typeface="Noto Sans SC"/>
                <a:ea typeface="Noto Sans SC"/>
                <a:cs typeface="Noto Sans SC"/>
                <a:sym typeface="Noto Sans SC"/>
              </a:rPr>
              <a:t/>
            </a:r>
            <a:br>
              <a:rPr lang="en-US" b="false" i="false" strike="noStrike" u="none" sz="1600">
                <a:solidFill>
                  <a:srgbClr val="1F2329"/>
                </a:solidFill>
                <a:latin typeface="Noto Sans SC"/>
                <a:ea typeface="Noto Sans SC"/>
                <a:cs typeface="Noto Sans SC"/>
                <a:sym typeface="Noto Sans SC"/>
              </a:rPr>
            </a:br>
            <a:r>
              <a:rPr lang="en-US" b="false" i="false" strike="noStrike" u="none" sz="1200">
                <a:solidFill>
                  <a:srgbClr val="D1D5DB"/>
                </a:solidFill>
                <a:latin typeface="Noto Sans SC"/>
                <a:ea typeface="Noto Sans SC"/>
                <a:cs typeface="Noto Sans SC"/>
                <a:sym typeface="Noto Sans SC"/>
              </a:rPr>
              <a:t>采用多阶段模板结构，规范输入输出格式，确保大模型生成结果的一致性与可控性。</a:t>
            </a:r>
          </a:p>
        </p:txBody>
      </p:sp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blipFill dpi="0" rotWithShape="true">
          <a:blip r:embed="rId2">
            <a:lum/>
          </a:blip>
          <a:srcRect/>
          <a:stretch>
            <a:fillRect l="0" t="0" r="0" b="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 rot="0" flipH="false" flipV="false">
            <a:off x="0" y="0"/>
            <a:ext cx="12192000" cy="6858000"/>
          </a:xfrm>
          <a:prstGeom prst="roundRect">
            <a:avLst>
              <a:gd name="adj" fmla="val 0"/>
            </a:avLst>
          </a:prstGeom>
          <a:solidFill>
            <a:srgbClr val="111827">
              <a:alpha val="85000"/>
            </a:srgbClr>
          </a:solidFill>
          <a:ln w="25400" cmpd="sng" cap="flat">
            <a:noFill/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sp>
        <p:nvSpPr>
          <p:cNvPr name="AutoShape 3" id="3"/>
          <p:cNvSpPr/>
          <p:nvPr/>
        </p:nvSpPr>
        <p:spPr>
          <a:xfrm rot="0" flipH="false" flipV="false">
            <a:off x="762000" y="635000"/>
            <a:ext cx="7620000" cy="5715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indent="0">
              <a:lnSpc>
                <a:spcPct val="125000"/>
              </a:lnSpc>
              <a:defRPr/>
            </a:pPr>
            <a:r>
              <a:rPr lang="en-US" b="true" i="false" strike="noStrike" u="none" sz="3200">
                <a:solidFill>
                  <a:srgbClr val="2DD4BF"/>
                </a:solidFill>
                <a:latin typeface="Noto Sans SC"/>
                <a:ea typeface="Noto Sans SC"/>
                <a:cs typeface="Noto Sans SC"/>
                <a:sym typeface="Noto Sans SC"/>
              </a:rPr>
              <a:t>07. 三大核心应用场景</a:t>
            </a:r>
            <a:endParaRPr lang="en-US" sz="1100"/>
          </a:p>
        </p:txBody>
      </p:sp>
      <p:sp>
        <p:nvSpPr>
          <p:cNvPr name="AutoShape 4" id="4"/>
          <p:cNvSpPr/>
          <p:nvPr/>
        </p:nvSpPr>
        <p:spPr>
          <a:xfrm rot="0" flipH="false" flipV="false">
            <a:off x="762000" y="1651000"/>
            <a:ext cx="3302000" cy="4572000"/>
          </a:xfrm>
          <a:prstGeom prst="roundRect">
            <a:avLst>
              <a:gd name="adj" fmla="val 4615"/>
            </a:avLst>
          </a:prstGeom>
          <a:solidFill>
            <a:srgbClr val="1E293B">
              <a:alpha val="60000"/>
            </a:srgbClr>
          </a:solidFill>
          <a:ln w="12700" cmpd="sng" cap="flat">
            <a:solidFill>
              <a:srgbClr val="2DD4BF">
                <a:alpha val="30000"/>
              </a:srgbClr>
            </a:solidFill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sp>
        <p:nvSpPr>
          <p:cNvPr name="AutoShape 5" id="5"/>
          <p:cNvSpPr/>
          <p:nvPr/>
        </p:nvSpPr>
        <p:spPr>
          <a:xfrm rot="0" flipH="false" flipV="false">
            <a:off x="762000" y="1651000"/>
            <a:ext cx="3302000" cy="50800"/>
          </a:xfrm>
          <a:prstGeom prst="roundRect">
            <a:avLst>
              <a:gd name="adj" fmla="val 0"/>
            </a:avLst>
          </a:prstGeom>
          <a:solidFill>
            <a:srgbClr val="2DD4BF">
              <a:alpha val="100000"/>
            </a:srgbClr>
          </a:solidFill>
          <a:ln w="25400" cmpd="sng" cap="flat">
            <a:noFill/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sp>
        <p:nvSpPr>
          <p:cNvPr name="AutoShape 6" id="6"/>
          <p:cNvSpPr/>
          <p:nvPr/>
        </p:nvSpPr>
        <p:spPr>
          <a:xfrm rot="0" flipH="false" flipV="false">
            <a:off x="1066800" y="1955800"/>
            <a:ext cx="609600" cy="609600"/>
          </a:xfrm>
          <a:prstGeom prst="ellipse">
            <a:avLst/>
          </a:prstGeom>
          <a:solidFill>
            <a:srgbClr val="2DD4BF">
              <a:alpha val="15000"/>
            </a:srgbClr>
          </a:solidFill>
          <a:ln w="25400" cmpd="sng" cap="flat">
            <a:noFill/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pic>
        <p:nvPicPr>
          <p:cNvPr name="Picture 7" id="7"/>
          <p:cNvPicPr>
            <a:picLocks noChangeAspect="true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 rot="0" flipH="false" flipV="false">
            <a:off x="1219200" y="2108200"/>
            <a:ext cx="304800" cy="304800"/>
          </a:xfrm>
          <a:prstGeom prst="rect">
            <a:avLst/>
          </a:prstGeom>
        </p:spPr>
      </p:pic>
      <p:sp>
        <p:nvSpPr>
          <p:cNvPr name="AutoShape 8" id="8"/>
          <p:cNvSpPr/>
          <p:nvPr/>
        </p:nvSpPr>
        <p:spPr>
          <a:xfrm rot="0" flipH="false" flipV="false">
            <a:off x="1066800" y="2667000"/>
            <a:ext cx="2692400" cy="381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indent="0">
              <a:lnSpc>
                <a:spcPct val="125000"/>
              </a:lnSpc>
              <a:defRPr/>
            </a:pPr>
            <a:r>
              <a:rPr lang="en-US" b="true" i="false" strike="noStrike" u="none" sz="1800">
                <a:solidFill>
                  <a:srgbClr val="F8FAFC"/>
                </a:solidFill>
                <a:latin typeface="Noto Sans SC"/>
                <a:ea typeface="Noto Sans SC"/>
                <a:cs typeface="Noto Sans SC"/>
                <a:sym typeface="Noto Sans SC"/>
              </a:rPr>
              <a:t>需求开发 (Code Generation)</a:t>
            </a:r>
            <a:endParaRPr lang="en-US" sz="1100"/>
          </a:p>
        </p:txBody>
      </p:sp>
      <p:cxnSp>
        <p:nvCxnSpPr>
          <p:cNvPr name="Connector 9" id="9"/>
          <p:cNvCxnSpPr/>
          <p:nvPr/>
        </p:nvCxnSpPr>
        <p:spPr>
          <a:xfrm rot="-16215" flipH="false" flipV="false">
            <a:off x="1066815" y="3168650"/>
            <a:ext cx="26924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mpd="sng" cap="flat">
            <a:solidFill>
              <a:srgbClr val="94A3B8">
                <a:alpha val="2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name="AutoShape 10" id="10"/>
          <p:cNvSpPr/>
          <p:nvPr/>
        </p:nvSpPr>
        <p:spPr>
          <a:xfrm rot="0" flipH="false" flipV="false">
            <a:off x="1066800" y="3302000"/>
            <a:ext cx="2692400" cy="2794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t" rtlCol="false" anchorCtr="false" vert="horz" wrap="square" lIns="0" rIns="0" tIns="0" bIns="0"/>
          <a:lstStyle/>
          <a:p>
            <a:pPr algn="l" indent="0">
              <a:lnSpc>
                <a:spcPct val="116666"/>
              </a:lnSpc>
              <a:defRPr/>
            </a:pPr>
            <a:r>
              <a:rPr lang="en-US" b="true" i="false" strike="noStrike" u="none" sz="1200">
                <a:solidFill>
                  <a:srgbClr val="94A3B8"/>
                </a:solidFill>
                <a:latin typeface="Noto Sans SC"/>
                <a:ea typeface="Noto Sans SC"/>
                <a:cs typeface="Noto Sans SC"/>
                <a:sym typeface="Noto Sans SC"/>
              </a:rPr>
              <a:t>功能描述：</a:t>
            </a:r>
            <a:r>
              <a:rPr lang="en-US" b="false" i="false" strike="noStrike" u="none" sz="1200">
                <a:solidFill>
                  <a:srgbClr val="1F2329"/>
                </a:solidFill>
                <a:latin typeface="Noto Sans SC"/>
                <a:ea typeface="Noto Sans SC"/>
                <a:cs typeface="Noto Sans SC"/>
                <a:sym typeface="Noto Sans SC"/>
              </a:rPr>
              <a:t/>
            </a:r>
            <a:br>
              <a:rPr lang="en-US" b="false" i="false" strike="noStrike" u="none" sz="1200">
                <a:solidFill>
                  <a:srgbClr val="1F2329"/>
                </a:solidFill>
                <a:latin typeface="Noto Sans SC"/>
                <a:ea typeface="Noto Sans SC"/>
                <a:cs typeface="Noto Sans SC"/>
                <a:sym typeface="Noto Sans SC"/>
              </a:rPr>
            </a:br>
            <a:r>
              <a:rPr lang="en-US" b="false" i="false" strike="noStrike" u="none" sz="1200">
                <a:solidFill>
                  <a:srgbClr val="CBD5E1"/>
                </a:solidFill>
                <a:latin typeface="Noto Sans SC"/>
                <a:ea typeface="Noto Sans SC"/>
                <a:cs typeface="Noto Sans SC"/>
                <a:sym typeface="Noto Sans SC"/>
              </a:rPr>
              <a:t>根据自然语言需求，生成符合企业规范的代码，提升开发效率。</a:t>
            </a:r>
            <a:r>
              <a:rPr lang="en-US" b="false" i="false" strike="noStrike" u="none" sz="1200">
                <a:solidFill>
                  <a:srgbClr val="1F2329"/>
                </a:solidFill>
                <a:latin typeface="Noto Sans SC"/>
                <a:ea typeface="Noto Sans SC"/>
                <a:cs typeface="Noto Sans SC"/>
                <a:sym typeface="Noto Sans SC"/>
              </a:rPr>
              <a:t/>
            </a:r>
            <a:endParaRPr lang="en-US" sz="1100"/>
          </a:p>
          <a:p>
            <a:pPr algn="l" indent="0">
              <a:lnSpc>
                <a:spcPct val="116666"/>
              </a:lnSpc>
            </a:pPr>
            <a:r>
              <a:rPr lang="en-US" b="false" i="false" strike="noStrike" u="none" sz="1200">
                <a:solidFill>
                  <a:srgbClr val="1F2329"/>
                </a:solidFill>
                <a:latin typeface="Noto Sans SC"/>
                <a:ea typeface="Noto Sans SC"/>
                <a:cs typeface="Noto Sans SC"/>
                <a:sym typeface="Noto Sans SC"/>
              </a:rPr>
              <a:t/>
            </a:r>
            <a:br>
              <a:rPr lang="en-US" b="false" i="false" strike="noStrike" u="none" sz="1200">
                <a:solidFill>
                  <a:srgbClr val="1F2329"/>
                </a:solidFill>
                <a:latin typeface="Noto Sans SC"/>
                <a:ea typeface="Noto Sans SC"/>
                <a:cs typeface="Noto Sans SC"/>
                <a:sym typeface="Noto Sans SC"/>
              </a:rPr>
            </a:br>
            <a:r>
              <a:rPr lang="en-US" b="false" i="false" strike="noStrike" u="none" sz="1200">
                <a:solidFill>
                  <a:srgbClr val="1F2329"/>
                </a:solidFill>
                <a:latin typeface="Noto Sans SC"/>
                <a:ea typeface="Noto Sans SC"/>
                <a:cs typeface="Noto Sans SC"/>
                <a:sym typeface="Noto Sans SC"/>
              </a:rPr>
              <a:t/>
            </a:r>
          </a:p>
          <a:p>
            <a:pPr algn="l" indent="0">
              <a:lnSpc>
                <a:spcPct val="116666"/>
              </a:lnSpc>
            </a:pPr>
            <a:r>
              <a:rPr lang="en-US" b="true" i="false" strike="noStrike" u="none" sz="1200">
                <a:solidFill>
                  <a:srgbClr val="94A3B8"/>
                </a:solidFill>
                <a:latin typeface="Noto Sans SC"/>
                <a:ea typeface="Noto Sans SC"/>
                <a:cs typeface="Noto Sans SC"/>
                <a:sym typeface="Noto Sans SC"/>
              </a:rPr>
              <a:t>知识注入：</a:t>
            </a:r>
            <a:r>
              <a:rPr lang="en-US" b="false" i="false" strike="noStrike" u="none" sz="1200">
                <a:solidFill>
                  <a:srgbClr val="1F2329"/>
                </a:solidFill>
                <a:latin typeface="Noto Sans SC"/>
                <a:ea typeface="Noto Sans SC"/>
                <a:cs typeface="Noto Sans SC"/>
                <a:sym typeface="Noto Sans SC"/>
              </a:rPr>
              <a:t/>
            </a:r>
            <a:br>
              <a:rPr lang="en-US" b="false" i="false" strike="noStrike" u="none" sz="1200">
                <a:solidFill>
                  <a:srgbClr val="1F2329"/>
                </a:solidFill>
                <a:latin typeface="Noto Sans SC"/>
                <a:ea typeface="Noto Sans SC"/>
                <a:cs typeface="Noto Sans SC"/>
                <a:sym typeface="Noto Sans SC"/>
              </a:rPr>
            </a:br>
            <a:r>
              <a:rPr lang="en-US" b="false" i="false" strike="noStrike" u="none" sz="1200">
                <a:solidFill>
                  <a:srgbClr val="CBD5E1"/>
                </a:solidFill>
                <a:latin typeface="Noto Sans SC"/>
                <a:ea typeface="Noto Sans SC"/>
                <a:cs typeface="Noto Sans SC"/>
                <a:sym typeface="Noto Sans SC"/>
              </a:rPr>
              <a:t>业务术语映射API、历史优秀方案库、代码规范检查。</a:t>
            </a:r>
            <a:r>
              <a:rPr lang="en-US" b="false" i="false" strike="noStrike" u="none" sz="1200">
                <a:solidFill>
                  <a:srgbClr val="1F2329"/>
                </a:solidFill>
                <a:latin typeface="Noto Sans SC"/>
                <a:ea typeface="Noto Sans SC"/>
                <a:cs typeface="Noto Sans SC"/>
                <a:sym typeface="Noto Sans SC"/>
              </a:rPr>
              <a:t/>
            </a:r>
          </a:p>
          <a:p>
            <a:pPr algn="l" indent="0">
              <a:lnSpc>
                <a:spcPct val="116666"/>
              </a:lnSpc>
            </a:pPr>
            <a:r>
              <a:rPr lang="en-US" b="false" i="false" strike="noStrike" u="none" sz="1200">
                <a:solidFill>
                  <a:srgbClr val="1F2329"/>
                </a:solidFill>
                <a:latin typeface="Noto Sans SC"/>
                <a:ea typeface="Noto Sans SC"/>
                <a:cs typeface="Noto Sans SC"/>
                <a:sym typeface="Noto Sans SC"/>
              </a:rPr>
              <a:t/>
            </a:r>
            <a:br>
              <a:rPr lang="en-US" b="false" i="false" strike="noStrike" u="none" sz="1200">
                <a:solidFill>
                  <a:srgbClr val="1F2329"/>
                </a:solidFill>
                <a:latin typeface="Noto Sans SC"/>
                <a:ea typeface="Noto Sans SC"/>
                <a:cs typeface="Noto Sans SC"/>
                <a:sym typeface="Noto Sans SC"/>
              </a:rPr>
            </a:br>
            <a:r>
              <a:rPr lang="en-US" b="false" i="false" strike="noStrike" u="none" sz="1200">
                <a:solidFill>
                  <a:srgbClr val="1F2329"/>
                </a:solidFill>
                <a:latin typeface="Noto Sans SC"/>
                <a:ea typeface="Noto Sans SC"/>
                <a:cs typeface="Noto Sans SC"/>
                <a:sym typeface="Noto Sans SC"/>
              </a:rPr>
              <a:t/>
            </a:r>
          </a:p>
          <a:p>
            <a:pPr algn="l" indent="0">
              <a:lnSpc>
                <a:spcPct val="116666"/>
              </a:lnSpc>
            </a:pPr>
            <a:r>
              <a:rPr lang="en-US" b="true" i="false" strike="noStrike" u="none" sz="1200">
                <a:solidFill>
                  <a:srgbClr val="94A3B8"/>
                </a:solidFill>
                <a:latin typeface="Noto Sans SC"/>
                <a:ea typeface="Noto Sans SC"/>
                <a:cs typeface="Noto Sans SC"/>
                <a:sym typeface="Noto Sans SC"/>
              </a:rPr>
              <a:t>当前状态：</a:t>
            </a:r>
            <a:r>
              <a:rPr lang="en-US" b="false" i="false" strike="noStrike" u="none" sz="1200">
                <a:solidFill>
                  <a:srgbClr val="1F2329"/>
                </a:solidFill>
                <a:latin typeface="Noto Sans SC"/>
                <a:ea typeface="Noto Sans SC"/>
                <a:cs typeface="Noto Sans SC"/>
                <a:sym typeface="Noto Sans SC"/>
              </a:rPr>
              <a:t/>
            </a:r>
            <a:br>
              <a:rPr lang="en-US" b="false" i="false" strike="noStrike" u="none" sz="1200">
                <a:solidFill>
                  <a:srgbClr val="1F2329"/>
                </a:solidFill>
                <a:latin typeface="Noto Sans SC"/>
                <a:ea typeface="Noto Sans SC"/>
                <a:cs typeface="Noto Sans SC"/>
                <a:sym typeface="Noto Sans SC"/>
              </a:rPr>
            </a:br>
            <a:r>
              <a:rPr lang="en-US" b="true" i="false" strike="noStrike" u="none" sz="1200">
                <a:solidFill>
                  <a:srgbClr val="F59E0B"/>
                </a:solidFill>
                <a:latin typeface="Noto Sans SC"/>
                <a:ea typeface="Noto Sans SC"/>
                <a:cs typeface="Noto Sans SC"/>
                <a:sym typeface="Noto Sans SC"/>
              </a:rPr>
              <a:t>[部分验证]</a:t>
            </a:r>
            <a:r>
              <a:rPr lang="en-US" b="false" i="false" strike="noStrike" u="none" sz="1200">
                <a:solidFill>
                  <a:srgbClr val="CBD5E1"/>
                </a:solidFill>
                <a:latin typeface="Noto Sans SC"/>
                <a:ea typeface="Noto Sans SC"/>
                <a:cs typeface="Noto Sans SC"/>
                <a:sym typeface="Noto Sans SC"/>
              </a:rPr>
              <a:t>基础代码生成已验证，复杂场景规范约束待完善。</a:t>
            </a:r>
          </a:p>
        </p:txBody>
      </p:sp>
      <p:sp>
        <p:nvSpPr>
          <p:cNvPr name="AutoShape 11" id="11"/>
          <p:cNvSpPr/>
          <p:nvPr/>
        </p:nvSpPr>
        <p:spPr>
          <a:xfrm rot="0" flipH="false" flipV="false">
            <a:off x="4445000" y="1651000"/>
            <a:ext cx="3302000" cy="4572000"/>
          </a:xfrm>
          <a:prstGeom prst="roundRect">
            <a:avLst>
              <a:gd name="adj" fmla="val 4615"/>
            </a:avLst>
          </a:prstGeom>
          <a:solidFill>
            <a:srgbClr val="1E293B">
              <a:alpha val="60000"/>
            </a:srgbClr>
          </a:solidFill>
          <a:ln w="12700" cmpd="sng" cap="flat">
            <a:solidFill>
              <a:srgbClr val="2DD4BF">
                <a:alpha val="30000"/>
              </a:srgbClr>
            </a:solidFill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sp>
        <p:nvSpPr>
          <p:cNvPr name="AutoShape 12" id="12"/>
          <p:cNvSpPr/>
          <p:nvPr/>
        </p:nvSpPr>
        <p:spPr>
          <a:xfrm rot="0" flipH="false" flipV="false">
            <a:off x="4445000" y="1651000"/>
            <a:ext cx="3302000" cy="50800"/>
          </a:xfrm>
          <a:prstGeom prst="roundRect">
            <a:avLst>
              <a:gd name="adj" fmla="val 0"/>
            </a:avLst>
          </a:prstGeom>
          <a:solidFill>
            <a:srgbClr val="2DD4BF">
              <a:alpha val="60000"/>
            </a:srgbClr>
          </a:solidFill>
          <a:ln w="25400" cmpd="sng" cap="flat">
            <a:noFill/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sp>
        <p:nvSpPr>
          <p:cNvPr name="AutoShape 13" id="13"/>
          <p:cNvSpPr/>
          <p:nvPr/>
        </p:nvSpPr>
        <p:spPr>
          <a:xfrm rot="0" flipH="false" flipV="false">
            <a:off x="4749800" y="1955800"/>
            <a:ext cx="609600" cy="609600"/>
          </a:xfrm>
          <a:prstGeom prst="ellipse">
            <a:avLst/>
          </a:prstGeom>
          <a:solidFill>
            <a:srgbClr val="2DD4BF">
              <a:alpha val="15000"/>
            </a:srgbClr>
          </a:solidFill>
          <a:ln w="25400" cmpd="sng" cap="flat">
            <a:noFill/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pic>
        <p:nvPicPr>
          <p:cNvPr name="Picture 14" id="14"/>
          <p:cNvPicPr>
            <a:picLocks noChangeAspect="true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 rot="0" flipH="false" flipV="false">
            <a:off x="4902200" y="2108200"/>
            <a:ext cx="304800" cy="304800"/>
          </a:xfrm>
          <a:prstGeom prst="rect">
            <a:avLst/>
          </a:prstGeom>
        </p:spPr>
      </p:pic>
      <p:sp>
        <p:nvSpPr>
          <p:cNvPr name="AutoShape 15" id="15"/>
          <p:cNvSpPr/>
          <p:nvPr/>
        </p:nvSpPr>
        <p:spPr>
          <a:xfrm rot="0" flipH="false" flipV="false">
            <a:off x="4749800" y="2667000"/>
            <a:ext cx="2692400" cy="381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indent="0">
              <a:lnSpc>
                <a:spcPct val="125000"/>
              </a:lnSpc>
              <a:defRPr/>
            </a:pPr>
            <a:r>
              <a:rPr lang="en-US" b="true" i="false" strike="noStrike" u="none" sz="1800">
                <a:solidFill>
                  <a:srgbClr val="F8FAFC"/>
                </a:solidFill>
                <a:latin typeface="Noto Sans SC"/>
                <a:ea typeface="Noto Sans SC"/>
                <a:cs typeface="Noto Sans SC"/>
                <a:sym typeface="Noto Sans SC"/>
              </a:rPr>
              <a:t>问题定位 (Debugging)</a:t>
            </a:r>
            <a:endParaRPr lang="en-US" sz="1100"/>
          </a:p>
        </p:txBody>
      </p:sp>
      <p:cxnSp>
        <p:nvCxnSpPr>
          <p:cNvPr name="Connector 16" id="16"/>
          <p:cNvCxnSpPr/>
          <p:nvPr/>
        </p:nvCxnSpPr>
        <p:spPr>
          <a:xfrm rot="-16215" flipH="false" flipV="false">
            <a:off x="4749815" y="3168650"/>
            <a:ext cx="26924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mpd="sng" cap="flat">
            <a:solidFill>
              <a:srgbClr val="94A3B8">
                <a:alpha val="2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name="AutoShape 17" id="17"/>
          <p:cNvSpPr/>
          <p:nvPr/>
        </p:nvSpPr>
        <p:spPr>
          <a:xfrm rot="0" flipH="false" flipV="false">
            <a:off x="4749800" y="3302000"/>
            <a:ext cx="2692400" cy="2794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t" rtlCol="false" anchorCtr="false" vert="horz" wrap="square" lIns="0" rIns="0" tIns="0" bIns="0"/>
          <a:lstStyle/>
          <a:p>
            <a:pPr algn="l" indent="0">
              <a:lnSpc>
                <a:spcPct val="116666"/>
              </a:lnSpc>
              <a:defRPr/>
            </a:pPr>
            <a:r>
              <a:rPr lang="en-US" b="true" i="false" strike="noStrike" u="none" sz="1200">
                <a:solidFill>
                  <a:srgbClr val="94A3B8"/>
                </a:solidFill>
                <a:latin typeface="Noto Sans SC"/>
                <a:ea typeface="Noto Sans SC"/>
                <a:cs typeface="Noto Sans SC"/>
                <a:sym typeface="Noto Sans SC"/>
              </a:rPr>
              <a:t>功能描述：</a:t>
            </a:r>
            <a:r>
              <a:rPr lang="en-US" b="false" i="false" strike="noStrike" u="none" sz="1200">
                <a:solidFill>
                  <a:srgbClr val="1F2329"/>
                </a:solidFill>
                <a:latin typeface="Noto Sans SC"/>
                <a:ea typeface="Noto Sans SC"/>
                <a:cs typeface="Noto Sans SC"/>
                <a:sym typeface="Noto Sans SC"/>
              </a:rPr>
              <a:t/>
            </a:r>
            <a:br>
              <a:rPr lang="en-US" b="false" i="false" strike="noStrike" u="none" sz="1200">
                <a:solidFill>
                  <a:srgbClr val="1F2329"/>
                </a:solidFill>
                <a:latin typeface="Noto Sans SC"/>
                <a:ea typeface="Noto Sans SC"/>
                <a:cs typeface="Noto Sans SC"/>
                <a:sym typeface="Noto Sans SC"/>
              </a:rPr>
            </a:br>
            <a:r>
              <a:rPr lang="en-US" b="false" i="false" strike="noStrike" u="none" sz="1200">
                <a:solidFill>
                  <a:srgbClr val="CBD5E1"/>
                </a:solidFill>
                <a:latin typeface="Noto Sans SC"/>
                <a:ea typeface="Noto Sans SC"/>
                <a:cs typeface="Noto Sans SC"/>
                <a:sym typeface="Noto Sans SC"/>
              </a:rPr>
              <a:t>智能分析报错堆栈与日志，提供排查思路和代码修复建议，缩短故障恢复时间。</a:t>
            </a:r>
            <a:r>
              <a:rPr lang="en-US" b="false" i="false" strike="noStrike" u="none" sz="1200">
                <a:solidFill>
                  <a:srgbClr val="1F2329"/>
                </a:solidFill>
                <a:latin typeface="Noto Sans SC"/>
                <a:ea typeface="Noto Sans SC"/>
                <a:cs typeface="Noto Sans SC"/>
                <a:sym typeface="Noto Sans SC"/>
              </a:rPr>
              <a:t/>
            </a:r>
            <a:endParaRPr lang="en-US" sz="1100"/>
          </a:p>
          <a:p>
            <a:pPr algn="l" indent="0">
              <a:lnSpc>
                <a:spcPct val="116666"/>
              </a:lnSpc>
            </a:pPr>
            <a:r>
              <a:rPr lang="en-US" b="false" i="false" strike="noStrike" u="none" sz="1200">
                <a:solidFill>
                  <a:srgbClr val="1F2329"/>
                </a:solidFill>
                <a:latin typeface="Noto Sans SC"/>
                <a:ea typeface="Noto Sans SC"/>
                <a:cs typeface="Noto Sans SC"/>
                <a:sym typeface="Noto Sans SC"/>
              </a:rPr>
              <a:t/>
            </a:r>
            <a:br>
              <a:rPr lang="en-US" b="false" i="false" strike="noStrike" u="none" sz="1200">
                <a:solidFill>
                  <a:srgbClr val="1F2329"/>
                </a:solidFill>
                <a:latin typeface="Noto Sans SC"/>
                <a:ea typeface="Noto Sans SC"/>
                <a:cs typeface="Noto Sans SC"/>
                <a:sym typeface="Noto Sans SC"/>
              </a:rPr>
            </a:br>
            <a:r>
              <a:rPr lang="en-US" b="false" i="false" strike="noStrike" u="none" sz="1200">
                <a:solidFill>
                  <a:srgbClr val="1F2329"/>
                </a:solidFill>
                <a:latin typeface="Noto Sans SC"/>
                <a:ea typeface="Noto Sans SC"/>
                <a:cs typeface="Noto Sans SC"/>
                <a:sym typeface="Noto Sans SC"/>
              </a:rPr>
              <a:t/>
            </a:r>
          </a:p>
          <a:p>
            <a:pPr algn="l" indent="0">
              <a:lnSpc>
                <a:spcPct val="116666"/>
              </a:lnSpc>
            </a:pPr>
            <a:r>
              <a:rPr lang="en-US" b="true" i="false" strike="noStrike" u="none" sz="1200">
                <a:solidFill>
                  <a:srgbClr val="94A3B8"/>
                </a:solidFill>
                <a:latin typeface="Noto Sans SC"/>
                <a:ea typeface="Noto Sans SC"/>
                <a:cs typeface="Noto Sans SC"/>
                <a:sym typeface="Noto Sans SC"/>
              </a:rPr>
              <a:t>知识注入：</a:t>
            </a:r>
            <a:r>
              <a:rPr lang="en-US" b="false" i="false" strike="noStrike" u="none" sz="1200">
                <a:solidFill>
                  <a:srgbClr val="1F2329"/>
                </a:solidFill>
                <a:latin typeface="Noto Sans SC"/>
                <a:ea typeface="Noto Sans SC"/>
                <a:cs typeface="Noto Sans SC"/>
                <a:sym typeface="Noto Sans SC"/>
              </a:rPr>
              <a:t/>
            </a:r>
            <a:br>
              <a:rPr lang="en-US" b="false" i="false" strike="noStrike" u="none" sz="1200">
                <a:solidFill>
                  <a:srgbClr val="1F2329"/>
                </a:solidFill>
                <a:latin typeface="Noto Sans SC"/>
                <a:ea typeface="Noto Sans SC"/>
                <a:cs typeface="Noto Sans SC"/>
                <a:sym typeface="Noto Sans SC"/>
              </a:rPr>
            </a:br>
            <a:r>
              <a:rPr lang="en-US" b="false" i="false" strike="noStrike" u="none" sz="1200">
                <a:solidFill>
                  <a:srgbClr val="CBD5E1"/>
                </a:solidFill>
                <a:latin typeface="Noto Sans SC"/>
                <a:ea typeface="Noto Sans SC"/>
                <a:cs typeface="Noto Sans SC"/>
                <a:sym typeface="Noto Sans SC"/>
              </a:rPr>
              <a:t>历史缺陷库、关联模块维护文档、常见问题FAQ。</a:t>
            </a:r>
            <a:r>
              <a:rPr lang="en-US" b="false" i="false" strike="noStrike" u="none" sz="1200">
                <a:solidFill>
                  <a:srgbClr val="1F2329"/>
                </a:solidFill>
                <a:latin typeface="Noto Sans SC"/>
                <a:ea typeface="Noto Sans SC"/>
                <a:cs typeface="Noto Sans SC"/>
                <a:sym typeface="Noto Sans SC"/>
              </a:rPr>
              <a:t/>
            </a:r>
          </a:p>
          <a:p>
            <a:pPr algn="l" indent="0">
              <a:lnSpc>
                <a:spcPct val="116666"/>
              </a:lnSpc>
            </a:pPr>
            <a:r>
              <a:rPr lang="en-US" b="false" i="false" strike="noStrike" u="none" sz="1200">
                <a:solidFill>
                  <a:srgbClr val="1F2329"/>
                </a:solidFill>
                <a:latin typeface="Noto Sans SC"/>
                <a:ea typeface="Noto Sans SC"/>
                <a:cs typeface="Noto Sans SC"/>
                <a:sym typeface="Noto Sans SC"/>
              </a:rPr>
              <a:t/>
            </a:r>
            <a:br>
              <a:rPr lang="en-US" b="false" i="false" strike="noStrike" u="none" sz="1200">
                <a:solidFill>
                  <a:srgbClr val="1F2329"/>
                </a:solidFill>
                <a:latin typeface="Noto Sans SC"/>
                <a:ea typeface="Noto Sans SC"/>
                <a:cs typeface="Noto Sans SC"/>
                <a:sym typeface="Noto Sans SC"/>
              </a:rPr>
            </a:br>
            <a:r>
              <a:rPr lang="en-US" b="false" i="false" strike="noStrike" u="none" sz="1200">
                <a:solidFill>
                  <a:srgbClr val="1F2329"/>
                </a:solidFill>
                <a:latin typeface="Noto Sans SC"/>
                <a:ea typeface="Noto Sans SC"/>
                <a:cs typeface="Noto Sans SC"/>
                <a:sym typeface="Noto Sans SC"/>
              </a:rPr>
              <a:t/>
            </a:r>
          </a:p>
          <a:p>
            <a:pPr algn="l" indent="0">
              <a:lnSpc>
                <a:spcPct val="116666"/>
              </a:lnSpc>
            </a:pPr>
            <a:r>
              <a:rPr lang="en-US" b="true" i="false" strike="noStrike" u="none" sz="1200">
                <a:solidFill>
                  <a:srgbClr val="94A3B8"/>
                </a:solidFill>
                <a:latin typeface="Noto Sans SC"/>
                <a:ea typeface="Noto Sans SC"/>
                <a:cs typeface="Noto Sans SC"/>
                <a:sym typeface="Noto Sans SC"/>
              </a:rPr>
              <a:t>当前状态：</a:t>
            </a:r>
            <a:r>
              <a:rPr lang="en-US" b="false" i="false" strike="noStrike" u="none" sz="1200">
                <a:solidFill>
                  <a:srgbClr val="1F2329"/>
                </a:solidFill>
                <a:latin typeface="Noto Sans SC"/>
                <a:ea typeface="Noto Sans SC"/>
                <a:cs typeface="Noto Sans SC"/>
                <a:sym typeface="Noto Sans SC"/>
              </a:rPr>
              <a:t/>
            </a:r>
            <a:br>
              <a:rPr lang="en-US" b="false" i="false" strike="noStrike" u="none" sz="1200">
                <a:solidFill>
                  <a:srgbClr val="1F2329"/>
                </a:solidFill>
                <a:latin typeface="Noto Sans SC"/>
                <a:ea typeface="Noto Sans SC"/>
                <a:cs typeface="Noto Sans SC"/>
                <a:sym typeface="Noto Sans SC"/>
              </a:rPr>
            </a:br>
            <a:r>
              <a:rPr lang="en-US" b="true" i="false" strike="noStrike" u="none" sz="1200">
                <a:solidFill>
                  <a:srgbClr val="F59E0B"/>
                </a:solidFill>
                <a:latin typeface="Noto Sans SC"/>
                <a:ea typeface="Noto Sans SC"/>
                <a:cs typeface="Noto Sans SC"/>
                <a:sym typeface="Noto Sans SC"/>
              </a:rPr>
              <a:t>[待验证]</a:t>
            </a:r>
            <a:r>
              <a:rPr lang="en-US" b="false" i="false" strike="noStrike" u="none" sz="1200">
                <a:solidFill>
                  <a:srgbClr val="CBD5E1"/>
                </a:solidFill>
                <a:latin typeface="Noto Sans SC"/>
                <a:ea typeface="Noto Sans SC"/>
                <a:cs typeface="Noto Sans SC"/>
                <a:sym typeface="Noto Sans SC"/>
              </a:rPr>
              <a:t>核心功能已开发，正在进行全场景覆盖测试。</a:t>
            </a:r>
          </a:p>
        </p:txBody>
      </p:sp>
      <p:sp>
        <p:nvSpPr>
          <p:cNvPr name="AutoShape 18" id="18"/>
          <p:cNvSpPr/>
          <p:nvPr/>
        </p:nvSpPr>
        <p:spPr>
          <a:xfrm rot="0" flipH="false" flipV="false">
            <a:off x="8128000" y="1651000"/>
            <a:ext cx="3302000" cy="4572000"/>
          </a:xfrm>
          <a:prstGeom prst="roundRect">
            <a:avLst>
              <a:gd name="adj" fmla="val 4615"/>
            </a:avLst>
          </a:prstGeom>
          <a:solidFill>
            <a:srgbClr val="1E293B">
              <a:alpha val="60000"/>
            </a:srgbClr>
          </a:solidFill>
          <a:ln w="12700" cmpd="sng" cap="flat">
            <a:solidFill>
              <a:srgbClr val="2DD4BF">
                <a:alpha val="30000"/>
              </a:srgbClr>
            </a:solidFill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sp>
        <p:nvSpPr>
          <p:cNvPr name="AutoShape 19" id="19"/>
          <p:cNvSpPr/>
          <p:nvPr/>
        </p:nvSpPr>
        <p:spPr>
          <a:xfrm rot="0" flipH="false" flipV="false">
            <a:off x="8128000" y="1651000"/>
            <a:ext cx="3302000" cy="50800"/>
          </a:xfrm>
          <a:prstGeom prst="roundRect">
            <a:avLst>
              <a:gd name="adj" fmla="val 0"/>
            </a:avLst>
          </a:prstGeom>
          <a:solidFill>
            <a:srgbClr val="2DD4BF">
              <a:alpha val="60000"/>
            </a:srgbClr>
          </a:solidFill>
          <a:ln w="25400" cmpd="sng" cap="flat">
            <a:noFill/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sp>
        <p:nvSpPr>
          <p:cNvPr name="AutoShape 20" id="20"/>
          <p:cNvSpPr/>
          <p:nvPr/>
        </p:nvSpPr>
        <p:spPr>
          <a:xfrm rot="0" flipH="false" flipV="false">
            <a:off x="8432800" y="1955800"/>
            <a:ext cx="609600" cy="609600"/>
          </a:xfrm>
          <a:prstGeom prst="ellipse">
            <a:avLst/>
          </a:prstGeom>
          <a:solidFill>
            <a:srgbClr val="2DD4BF">
              <a:alpha val="15000"/>
            </a:srgbClr>
          </a:solidFill>
          <a:ln w="25400" cmpd="sng" cap="flat">
            <a:noFill/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pic>
        <p:nvPicPr>
          <p:cNvPr name="Picture 21" id="21"/>
          <p:cNvPicPr>
            <a:picLocks noChangeAspect="true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 rot="0" flipH="false" flipV="false">
            <a:off x="8585200" y="2108200"/>
            <a:ext cx="304800" cy="304800"/>
          </a:xfrm>
          <a:prstGeom prst="rect">
            <a:avLst/>
          </a:prstGeom>
        </p:spPr>
      </p:pic>
      <p:sp>
        <p:nvSpPr>
          <p:cNvPr name="AutoShape 22" id="22"/>
          <p:cNvSpPr/>
          <p:nvPr/>
        </p:nvSpPr>
        <p:spPr>
          <a:xfrm rot="0" flipH="false" flipV="false">
            <a:off x="8432800" y="2667000"/>
            <a:ext cx="2692400" cy="381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indent="0">
              <a:lnSpc>
                <a:spcPct val="125000"/>
              </a:lnSpc>
              <a:defRPr/>
            </a:pPr>
            <a:r>
              <a:rPr lang="en-US" b="true" i="false" strike="noStrike" u="none" sz="1800">
                <a:solidFill>
                  <a:srgbClr val="F8FAFC"/>
                </a:solidFill>
                <a:latin typeface="Noto Sans SC"/>
                <a:ea typeface="Noto Sans SC"/>
                <a:cs typeface="Noto Sans SC"/>
                <a:sym typeface="Noto Sans SC"/>
              </a:rPr>
              <a:t>代码检视 (Code Review)</a:t>
            </a:r>
            <a:endParaRPr lang="en-US" sz="1100"/>
          </a:p>
        </p:txBody>
      </p:sp>
      <p:cxnSp>
        <p:nvCxnSpPr>
          <p:cNvPr name="Connector 23" id="23"/>
          <p:cNvCxnSpPr/>
          <p:nvPr/>
        </p:nvCxnSpPr>
        <p:spPr>
          <a:xfrm rot="-16215" flipH="false" flipV="false">
            <a:off x="8432815" y="3168650"/>
            <a:ext cx="26924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mpd="sng" cap="flat">
            <a:solidFill>
              <a:srgbClr val="94A3B8">
                <a:alpha val="2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name="AutoShape 24" id="24"/>
          <p:cNvSpPr/>
          <p:nvPr/>
        </p:nvSpPr>
        <p:spPr>
          <a:xfrm rot="0" flipH="false" flipV="false">
            <a:off x="8432800" y="3302000"/>
            <a:ext cx="2692400" cy="2794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t" rtlCol="false" anchorCtr="false" vert="horz" wrap="square" lIns="0" rIns="0" tIns="0" bIns="0"/>
          <a:lstStyle/>
          <a:p>
            <a:pPr algn="l" indent="0">
              <a:lnSpc>
                <a:spcPct val="116666"/>
              </a:lnSpc>
              <a:defRPr/>
            </a:pPr>
            <a:r>
              <a:rPr lang="en-US" b="true" i="false" strike="noStrike" u="none" sz="1200">
                <a:solidFill>
                  <a:srgbClr val="94A3B8"/>
                </a:solidFill>
                <a:latin typeface="Noto Sans SC"/>
                <a:ea typeface="Noto Sans SC"/>
                <a:cs typeface="Noto Sans SC"/>
                <a:sym typeface="Noto Sans SC"/>
              </a:rPr>
              <a:t>功能描述：</a:t>
            </a:r>
            <a:r>
              <a:rPr lang="en-US" b="false" i="false" strike="noStrike" u="none" sz="1200">
                <a:solidFill>
                  <a:srgbClr val="1F2329"/>
                </a:solidFill>
                <a:latin typeface="Noto Sans SC"/>
                <a:ea typeface="Noto Sans SC"/>
                <a:cs typeface="Noto Sans SC"/>
                <a:sym typeface="Noto Sans SC"/>
              </a:rPr>
              <a:t/>
            </a:r>
            <a:br>
              <a:rPr lang="en-US" b="false" i="false" strike="noStrike" u="none" sz="1200">
                <a:solidFill>
                  <a:srgbClr val="1F2329"/>
                </a:solidFill>
                <a:latin typeface="Noto Sans SC"/>
                <a:ea typeface="Noto Sans SC"/>
                <a:cs typeface="Noto Sans SC"/>
                <a:sym typeface="Noto Sans SC"/>
              </a:rPr>
            </a:br>
            <a:r>
              <a:rPr lang="en-US" b="false" i="false" strike="noStrike" u="none" sz="1200">
                <a:solidFill>
                  <a:srgbClr val="CBD5E1"/>
                </a:solidFill>
                <a:latin typeface="Noto Sans SC"/>
                <a:ea typeface="Noto Sans SC"/>
                <a:cs typeface="Noto Sans SC"/>
                <a:sym typeface="Noto Sans SC"/>
              </a:rPr>
              <a:t>在合并请求(MR)阶段，自动扫描代码异味、安全漏洞，并检查是否符合团队编码规范。</a:t>
            </a:r>
            <a:r>
              <a:rPr lang="en-US" b="false" i="false" strike="noStrike" u="none" sz="1200">
                <a:solidFill>
                  <a:srgbClr val="1F2329"/>
                </a:solidFill>
                <a:latin typeface="Noto Sans SC"/>
                <a:ea typeface="Noto Sans SC"/>
                <a:cs typeface="Noto Sans SC"/>
                <a:sym typeface="Noto Sans SC"/>
              </a:rPr>
              <a:t/>
            </a:r>
            <a:endParaRPr lang="en-US" sz="1100"/>
          </a:p>
          <a:p>
            <a:pPr algn="l" indent="0">
              <a:lnSpc>
                <a:spcPct val="116666"/>
              </a:lnSpc>
            </a:pPr>
            <a:r>
              <a:rPr lang="en-US" b="false" i="false" strike="noStrike" u="none" sz="1200">
                <a:solidFill>
                  <a:srgbClr val="1F2329"/>
                </a:solidFill>
                <a:latin typeface="Noto Sans SC"/>
                <a:ea typeface="Noto Sans SC"/>
                <a:cs typeface="Noto Sans SC"/>
                <a:sym typeface="Noto Sans SC"/>
              </a:rPr>
              <a:t/>
            </a:r>
            <a:br>
              <a:rPr lang="en-US" b="false" i="false" strike="noStrike" u="none" sz="1200">
                <a:solidFill>
                  <a:srgbClr val="1F2329"/>
                </a:solidFill>
                <a:latin typeface="Noto Sans SC"/>
                <a:ea typeface="Noto Sans SC"/>
                <a:cs typeface="Noto Sans SC"/>
                <a:sym typeface="Noto Sans SC"/>
              </a:rPr>
            </a:br>
            <a:r>
              <a:rPr lang="en-US" b="false" i="false" strike="noStrike" u="none" sz="1200">
                <a:solidFill>
                  <a:srgbClr val="1F2329"/>
                </a:solidFill>
                <a:latin typeface="Noto Sans SC"/>
                <a:ea typeface="Noto Sans SC"/>
                <a:cs typeface="Noto Sans SC"/>
                <a:sym typeface="Noto Sans SC"/>
              </a:rPr>
              <a:t/>
            </a:r>
          </a:p>
          <a:p>
            <a:pPr algn="l" indent="0">
              <a:lnSpc>
                <a:spcPct val="116666"/>
              </a:lnSpc>
            </a:pPr>
            <a:r>
              <a:rPr lang="en-US" b="true" i="false" strike="noStrike" u="none" sz="1200">
                <a:solidFill>
                  <a:srgbClr val="94A3B8"/>
                </a:solidFill>
                <a:latin typeface="Noto Sans SC"/>
                <a:ea typeface="Noto Sans SC"/>
                <a:cs typeface="Noto Sans SC"/>
                <a:sym typeface="Noto Sans SC"/>
              </a:rPr>
              <a:t>知识注入：</a:t>
            </a:r>
            <a:r>
              <a:rPr lang="en-US" b="false" i="false" strike="noStrike" u="none" sz="1200">
                <a:solidFill>
                  <a:srgbClr val="1F2329"/>
                </a:solidFill>
                <a:latin typeface="Noto Sans SC"/>
                <a:ea typeface="Noto Sans SC"/>
                <a:cs typeface="Noto Sans SC"/>
                <a:sym typeface="Noto Sans SC"/>
              </a:rPr>
              <a:t/>
            </a:r>
            <a:br>
              <a:rPr lang="en-US" b="false" i="false" strike="noStrike" u="none" sz="1200">
                <a:solidFill>
                  <a:srgbClr val="1F2329"/>
                </a:solidFill>
                <a:latin typeface="Noto Sans SC"/>
                <a:ea typeface="Noto Sans SC"/>
                <a:cs typeface="Noto Sans SC"/>
                <a:sym typeface="Noto Sans SC"/>
              </a:rPr>
            </a:br>
            <a:r>
              <a:rPr lang="en-US" b="false" i="false" strike="noStrike" u="none" sz="1200">
                <a:solidFill>
                  <a:srgbClr val="CBD5E1"/>
                </a:solidFill>
                <a:latin typeface="Noto Sans SC"/>
                <a:ea typeface="Noto Sans SC"/>
                <a:cs typeface="Noto Sans SC"/>
                <a:sym typeface="Noto Sans SC"/>
              </a:rPr>
              <a:t>API Spec契约、团队编码规范手册、OWASP安全标准。</a:t>
            </a:r>
            <a:r>
              <a:rPr lang="en-US" b="false" i="false" strike="noStrike" u="none" sz="1200">
                <a:solidFill>
                  <a:srgbClr val="1F2329"/>
                </a:solidFill>
                <a:latin typeface="Noto Sans SC"/>
                <a:ea typeface="Noto Sans SC"/>
                <a:cs typeface="Noto Sans SC"/>
                <a:sym typeface="Noto Sans SC"/>
              </a:rPr>
              <a:t/>
            </a:r>
          </a:p>
          <a:p>
            <a:pPr algn="l" indent="0">
              <a:lnSpc>
                <a:spcPct val="116666"/>
              </a:lnSpc>
            </a:pPr>
            <a:r>
              <a:rPr lang="en-US" b="false" i="false" strike="noStrike" u="none" sz="1200">
                <a:solidFill>
                  <a:srgbClr val="1F2329"/>
                </a:solidFill>
                <a:latin typeface="Noto Sans SC"/>
                <a:ea typeface="Noto Sans SC"/>
                <a:cs typeface="Noto Sans SC"/>
                <a:sym typeface="Noto Sans SC"/>
              </a:rPr>
              <a:t/>
            </a:r>
            <a:br>
              <a:rPr lang="en-US" b="false" i="false" strike="noStrike" u="none" sz="1200">
                <a:solidFill>
                  <a:srgbClr val="1F2329"/>
                </a:solidFill>
                <a:latin typeface="Noto Sans SC"/>
                <a:ea typeface="Noto Sans SC"/>
                <a:cs typeface="Noto Sans SC"/>
                <a:sym typeface="Noto Sans SC"/>
              </a:rPr>
            </a:br>
            <a:r>
              <a:rPr lang="en-US" b="false" i="false" strike="noStrike" u="none" sz="1200">
                <a:solidFill>
                  <a:srgbClr val="1F2329"/>
                </a:solidFill>
                <a:latin typeface="Noto Sans SC"/>
                <a:ea typeface="Noto Sans SC"/>
                <a:cs typeface="Noto Sans SC"/>
                <a:sym typeface="Noto Sans SC"/>
              </a:rPr>
              <a:t/>
            </a:r>
          </a:p>
          <a:p>
            <a:pPr algn="l" indent="0">
              <a:lnSpc>
                <a:spcPct val="116666"/>
              </a:lnSpc>
            </a:pPr>
            <a:r>
              <a:rPr lang="en-US" b="true" i="false" strike="noStrike" u="none" sz="1200">
                <a:solidFill>
                  <a:srgbClr val="94A3B8"/>
                </a:solidFill>
                <a:latin typeface="Noto Sans SC"/>
                <a:ea typeface="Noto Sans SC"/>
                <a:cs typeface="Noto Sans SC"/>
                <a:sym typeface="Noto Sans SC"/>
              </a:rPr>
              <a:t>当前状态：</a:t>
            </a:r>
            <a:r>
              <a:rPr lang="en-US" b="false" i="false" strike="noStrike" u="none" sz="1200">
                <a:solidFill>
                  <a:srgbClr val="1F2329"/>
                </a:solidFill>
                <a:latin typeface="Noto Sans SC"/>
                <a:ea typeface="Noto Sans SC"/>
                <a:cs typeface="Noto Sans SC"/>
                <a:sym typeface="Noto Sans SC"/>
              </a:rPr>
              <a:t/>
            </a:r>
            <a:br>
              <a:rPr lang="en-US" b="false" i="false" strike="noStrike" u="none" sz="1200">
                <a:solidFill>
                  <a:srgbClr val="1F2329"/>
                </a:solidFill>
                <a:latin typeface="Noto Sans SC"/>
                <a:ea typeface="Noto Sans SC"/>
                <a:cs typeface="Noto Sans SC"/>
                <a:sym typeface="Noto Sans SC"/>
              </a:rPr>
            </a:br>
            <a:r>
              <a:rPr lang="en-US" b="true" i="false" strike="noStrike" u="none" sz="1200">
                <a:solidFill>
                  <a:srgbClr val="F59E0B"/>
                </a:solidFill>
                <a:latin typeface="Noto Sans SC"/>
                <a:ea typeface="Noto Sans SC"/>
                <a:cs typeface="Noto Sans SC"/>
                <a:sym typeface="Noto Sans SC"/>
              </a:rPr>
              <a:t>[待验证]</a:t>
            </a:r>
            <a:r>
              <a:rPr lang="en-US" b="false" i="false" strike="noStrike" u="none" sz="1200">
                <a:solidFill>
                  <a:srgbClr val="CBD5E1"/>
                </a:solidFill>
                <a:latin typeface="Noto Sans SC"/>
                <a:ea typeface="Noto Sans SC"/>
                <a:cs typeface="Noto Sans SC"/>
                <a:sym typeface="Noto Sans SC"/>
              </a:rPr>
              <a:t>规则引擎已就绪，正在试点集成到CI/CD流程中。</a:t>
            </a:r>
          </a:p>
        </p:txBody>
      </p:sp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blipFill dpi="0" rotWithShape="true">
          <a:blip r:embed="rId2">
            <a:lum/>
          </a:blip>
          <a:srcRect/>
          <a:stretch>
            <a:fillRect l="0" t="0" r="0" b="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 rot="0" flipH="false" flipV="false">
            <a:off x="0" y="0"/>
            <a:ext cx="12192000" cy="6858000"/>
          </a:xfrm>
          <a:prstGeom prst="roundRect">
            <a:avLst>
              <a:gd name="adj" fmla="val 0"/>
            </a:avLst>
          </a:prstGeom>
          <a:solidFill>
            <a:srgbClr val="111827">
              <a:alpha val="75000"/>
            </a:srgbClr>
          </a:solidFill>
          <a:ln w="25400" cmpd="sng" cap="flat">
            <a:noFill/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sp>
        <p:nvSpPr>
          <p:cNvPr name="AutoShape 3" id="3"/>
          <p:cNvSpPr/>
          <p:nvPr/>
        </p:nvSpPr>
        <p:spPr>
          <a:xfrm rot="0" flipH="false" flipV="false">
            <a:off x="762000" y="635000"/>
            <a:ext cx="7620000" cy="508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indent="0">
              <a:lnSpc>
                <a:spcPct val="125000"/>
              </a:lnSpc>
              <a:defRPr/>
            </a:pPr>
            <a:r>
              <a:rPr lang="en-US" b="true" i="false" strike="noStrike" u="none" sz="3200">
                <a:solidFill>
                  <a:srgbClr val="2DD4BF"/>
                </a:solidFill>
                <a:latin typeface="Noto Sans SC"/>
                <a:ea typeface="Noto Sans SC"/>
                <a:cs typeface="Noto Sans SC"/>
                <a:sym typeface="Noto Sans SC"/>
              </a:rPr>
              <a:t>08. 技术选型与考量</a:t>
            </a:r>
            <a:endParaRPr lang="en-US" sz="1100"/>
          </a:p>
        </p:txBody>
      </p:sp>
      <p:sp>
        <p:nvSpPr>
          <p:cNvPr name="AutoShape 4" id="4"/>
          <p:cNvSpPr/>
          <p:nvPr/>
        </p:nvSpPr>
        <p:spPr>
          <a:xfrm rot="0" flipH="false" flipV="false">
            <a:off x="762000" y="1524000"/>
            <a:ext cx="5143500" cy="1143000"/>
          </a:xfrm>
          <a:prstGeom prst="roundRect">
            <a:avLst>
              <a:gd name="adj" fmla="val 8888"/>
            </a:avLst>
          </a:prstGeom>
          <a:solidFill>
            <a:srgbClr val="FFFFFF">
              <a:alpha val="8000"/>
            </a:srgbClr>
          </a:solidFill>
          <a:ln w="12700" cmpd="sng" cap="flat">
            <a:solidFill>
              <a:srgbClr val="2DD4BF">
                <a:alpha val="30000"/>
              </a:srgbClr>
            </a:solidFill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pic>
        <p:nvPicPr>
          <p:cNvPr name="Picture 5" id="5"/>
          <p:cNvPicPr>
            <a:picLocks noChangeAspect="true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 rot="0" flipH="false" flipV="false">
            <a:off x="1016000" y="1714500"/>
            <a:ext cx="304800" cy="304800"/>
          </a:xfrm>
          <a:prstGeom prst="rect">
            <a:avLst/>
          </a:prstGeom>
        </p:spPr>
      </p:pic>
      <p:sp>
        <p:nvSpPr>
          <p:cNvPr name="AutoShape 6" id="6"/>
          <p:cNvSpPr/>
          <p:nvPr/>
        </p:nvSpPr>
        <p:spPr>
          <a:xfrm rot="0" flipH="false" flipV="false">
            <a:off x="1460500" y="1714500"/>
            <a:ext cx="4191000" cy="3048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indent="0">
              <a:lnSpc>
                <a:spcPct val="125000"/>
              </a:lnSpc>
              <a:defRPr/>
            </a:pPr>
            <a:r>
              <a:rPr lang="en-US" b="true" i="false" strike="noStrike" u="none" sz="1600">
                <a:solidFill>
                  <a:srgbClr val="F3F4F6"/>
                </a:solidFill>
                <a:latin typeface="Noto Sans SC"/>
                <a:ea typeface="Noto Sans SC"/>
                <a:cs typeface="Noto Sans SC"/>
                <a:sym typeface="Noto Sans SC"/>
              </a:rPr>
              <a:t>向量数据库</a:t>
            </a:r>
            <a:endParaRPr lang="en-US" sz="1100"/>
          </a:p>
        </p:txBody>
      </p:sp>
      <p:sp>
        <p:nvSpPr>
          <p:cNvPr name="AutoShape 7" id="7"/>
          <p:cNvSpPr/>
          <p:nvPr/>
        </p:nvSpPr>
        <p:spPr>
          <a:xfrm rot="0" flipH="false" flipV="false">
            <a:off x="1460500" y="2057400"/>
            <a:ext cx="4191000" cy="508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t" rtlCol="false" anchorCtr="false" vert="horz" wrap="square" lIns="0" rIns="0" tIns="0" bIns="0"/>
          <a:lstStyle/>
          <a:p>
            <a:pPr algn="l" indent="0">
              <a:lnSpc>
                <a:spcPct val="100000"/>
              </a:lnSpc>
              <a:defRPr/>
            </a:pPr>
            <a:r>
              <a:rPr lang="en-US" b="false" i="false" strike="noStrike" u="none" sz="1200">
                <a:solidFill>
                  <a:srgbClr val="D1D5DB"/>
                </a:solidFill>
                <a:latin typeface="Noto Sans SC"/>
                <a:ea typeface="Noto Sans SC"/>
                <a:cs typeface="Noto Sans SC"/>
                <a:sym typeface="Noto Sans SC"/>
              </a:rPr>
              <a:t>方案：FAISS（轻量）/ Milvus（生产）</a:t>
            </a:r>
            <a:r>
              <a:rPr lang="en-US" b="false" i="false" strike="noStrike" u="none" sz="1600">
                <a:solidFill>
                  <a:srgbClr val="1F2329"/>
                </a:solidFill>
                <a:latin typeface="Noto Sans SC"/>
                <a:ea typeface="Noto Sans SC"/>
                <a:cs typeface="Noto Sans SC"/>
                <a:sym typeface="Noto Sans SC"/>
              </a:rPr>
              <a:t/>
            </a:r>
            <a:br>
              <a:rPr lang="en-US" b="false" i="false" strike="noStrike" u="none" sz="1600">
                <a:solidFill>
                  <a:srgbClr val="1F2329"/>
                </a:solidFill>
                <a:latin typeface="Noto Sans SC"/>
                <a:ea typeface="Noto Sans SC"/>
                <a:cs typeface="Noto Sans SC"/>
                <a:sym typeface="Noto Sans SC"/>
              </a:rPr>
            </a:br>
            <a:r>
              <a:rPr lang="en-US" b="false" i="false" strike="noStrike" u="none" sz="1100">
                <a:solidFill>
                  <a:srgbClr val="9CA3AF"/>
                </a:solidFill>
                <a:latin typeface="Noto Sans SC"/>
                <a:ea typeface="Noto Sans SC"/>
                <a:cs typeface="Noto Sans SC"/>
                <a:sym typeface="Noto Sans SC"/>
              </a:rPr>
              <a:t>备注：平衡快速验证与高并发需求。</a:t>
            </a:r>
            <a:endParaRPr lang="en-US" sz="1100"/>
          </a:p>
        </p:txBody>
      </p:sp>
      <p:sp>
        <p:nvSpPr>
          <p:cNvPr name="AutoShape 8" id="8"/>
          <p:cNvSpPr/>
          <p:nvPr/>
        </p:nvSpPr>
        <p:spPr>
          <a:xfrm rot="0" flipH="false" flipV="false">
            <a:off x="762000" y="2857500"/>
            <a:ext cx="5143500" cy="1143000"/>
          </a:xfrm>
          <a:prstGeom prst="roundRect">
            <a:avLst>
              <a:gd name="adj" fmla="val 8888"/>
            </a:avLst>
          </a:prstGeom>
          <a:solidFill>
            <a:srgbClr val="FFFFFF">
              <a:alpha val="8000"/>
            </a:srgbClr>
          </a:solidFill>
          <a:ln w="12700" cmpd="sng" cap="flat">
            <a:solidFill>
              <a:srgbClr val="2DD4BF">
                <a:alpha val="30000"/>
              </a:srgbClr>
            </a:solidFill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pic>
        <p:nvPicPr>
          <p:cNvPr name="Picture 9" id="9"/>
          <p:cNvPicPr>
            <a:picLocks noChangeAspect="true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 rot="0" flipH="false" flipV="false">
            <a:off x="1016000" y="3048000"/>
            <a:ext cx="304800" cy="304800"/>
          </a:xfrm>
          <a:prstGeom prst="rect">
            <a:avLst/>
          </a:prstGeom>
        </p:spPr>
      </p:pic>
      <p:sp>
        <p:nvSpPr>
          <p:cNvPr name="AutoShape 10" id="10"/>
          <p:cNvSpPr/>
          <p:nvPr/>
        </p:nvSpPr>
        <p:spPr>
          <a:xfrm rot="0" flipH="false" flipV="false">
            <a:off x="1460500" y="3048000"/>
            <a:ext cx="4191000" cy="3048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indent="0">
              <a:lnSpc>
                <a:spcPct val="125000"/>
              </a:lnSpc>
              <a:defRPr/>
            </a:pPr>
            <a:r>
              <a:rPr lang="en-US" b="true" i="false" strike="noStrike" u="none" sz="1600">
                <a:solidFill>
                  <a:srgbClr val="F3F4F6"/>
                </a:solidFill>
                <a:latin typeface="Noto Sans SC"/>
                <a:ea typeface="Noto Sans SC"/>
                <a:cs typeface="Noto Sans SC"/>
                <a:sym typeface="Noto Sans SC"/>
              </a:rPr>
              <a:t>全文引擎</a:t>
            </a:r>
            <a:endParaRPr lang="en-US" sz="1100"/>
          </a:p>
        </p:txBody>
      </p:sp>
      <p:sp>
        <p:nvSpPr>
          <p:cNvPr name="AutoShape 11" id="11"/>
          <p:cNvSpPr/>
          <p:nvPr/>
        </p:nvSpPr>
        <p:spPr>
          <a:xfrm rot="0" flipH="false" flipV="false">
            <a:off x="1460500" y="3390900"/>
            <a:ext cx="4191000" cy="508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t" rtlCol="false" anchorCtr="false" vert="horz" wrap="square" lIns="0" rIns="0" tIns="0" bIns="0"/>
          <a:lstStyle/>
          <a:p>
            <a:pPr algn="l" indent="0">
              <a:lnSpc>
                <a:spcPct val="100000"/>
              </a:lnSpc>
              <a:defRPr/>
            </a:pPr>
            <a:r>
              <a:rPr lang="en-US" b="false" i="false" strike="noStrike" u="none" sz="1200">
                <a:solidFill>
                  <a:srgbClr val="D1D5DB"/>
                </a:solidFill>
                <a:latin typeface="Noto Sans SC"/>
                <a:ea typeface="Noto Sans SC"/>
                <a:cs typeface="Noto Sans SC"/>
                <a:sym typeface="Noto Sans SC"/>
              </a:rPr>
              <a:t>方案：SQLite FTS5 / Elasticsearch</a:t>
            </a:r>
            <a:r>
              <a:rPr lang="en-US" b="false" i="false" strike="noStrike" u="none" sz="1600">
                <a:solidFill>
                  <a:srgbClr val="1F2329"/>
                </a:solidFill>
                <a:latin typeface="Noto Sans SC"/>
                <a:ea typeface="Noto Sans SC"/>
                <a:cs typeface="Noto Sans SC"/>
                <a:sym typeface="Noto Sans SC"/>
              </a:rPr>
              <a:t/>
            </a:r>
            <a:br>
              <a:rPr lang="en-US" b="false" i="false" strike="noStrike" u="none" sz="1600">
                <a:solidFill>
                  <a:srgbClr val="1F2329"/>
                </a:solidFill>
                <a:latin typeface="Noto Sans SC"/>
                <a:ea typeface="Noto Sans SC"/>
                <a:cs typeface="Noto Sans SC"/>
                <a:sym typeface="Noto Sans SC"/>
              </a:rPr>
            </a:br>
            <a:r>
              <a:rPr lang="en-US" b="false" i="false" strike="noStrike" u="none" sz="1100">
                <a:solidFill>
                  <a:srgbClr val="9CA3AF"/>
                </a:solidFill>
                <a:latin typeface="Noto Sans SC"/>
                <a:ea typeface="Noto Sans SC"/>
                <a:cs typeface="Noto Sans SC"/>
                <a:sym typeface="Noto Sans SC"/>
              </a:rPr>
              <a:t>备注：平衡零依赖部署与企业级检索能力。</a:t>
            </a:r>
            <a:endParaRPr lang="en-US" sz="1100"/>
          </a:p>
        </p:txBody>
      </p:sp>
      <p:sp>
        <p:nvSpPr>
          <p:cNvPr name="AutoShape 12" id="12"/>
          <p:cNvSpPr/>
          <p:nvPr/>
        </p:nvSpPr>
        <p:spPr>
          <a:xfrm rot="0" flipH="false" flipV="false">
            <a:off x="762000" y="4191000"/>
            <a:ext cx="5143500" cy="1143000"/>
          </a:xfrm>
          <a:prstGeom prst="roundRect">
            <a:avLst>
              <a:gd name="adj" fmla="val 8888"/>
            </a:avLst>
          </a:prstGeom>
          <a:solidFill>
            <a:srgbClr val="FFFFFF">
              <a:alpha val="8000"/>
            </a:srgbClr>
          </a:solidFill>
          <a:ln w="12700" cmpd="sng" cap="flat">
            <a:solidFill>
              <a:srgbClr val="2DD4BF">
                <a:alpha val="30000"/>
              </a:srgbClr>
            </a:solidFill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pic>
        <p:nvPicPr>
          <p:cNvPr name="Picture 13" id="13"/>
          <p:cNvPicPr>
            <a:picLocks noChangeAspect="true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 rot="0" flipH="false" flipV="false">
            <a:off x="1016000" y="4381500"/>
            <a:ext cx="304800" cy="304800"/>
          </a:xfrm>
          <a:prstGeom prst="rect">
            <a:avLst/>
          </a:prstGeom>
        </p:spPr>
      </p:pic>
      <p:sp>
        <p:nvSpPr>
          <p:cNvPr name="AutoShape 14" id="14"/>
          <p:cNvSpPr/>
          <p:nvPr/>
        </p:nvSpPr>
        <p:spPr>
          <a:xfrm rot="0" flipH="false" flipV="false">
            <a:off x="1460500" y="4381500"/>
            <a:ext cx="4191000" cy="3048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indent="0">
              <a:lnSpc>
                <a:spcPct val="125000"/>
              </a:lnSpc>
              <a:defRPr/>
            </a:pPr>
            <a:r>
              <a:rPr lang="en-US" b="true" i="false" strike="noStrike" u="none" sz="1600">
                <a:solidFill>
                  <a:srgbClr val="F3F4F6"/>
                </a:solidFill>
                <a:latin typeface="Noto Sans SC"/>
                <a:ea typeface="Noto Sans SC"/>
                <a:cs typeface="Noto Sans SC"/>
                <a:sym typeface="Noto Sans SC"/>
              </a:rPr>
              <a:t>图数据库</a:t>
            </a:r>
            <a:endParaRPr lang="en-US" sz="1100"/>
          </a:p>
        </p:txBody>
      </p:sp>
      <p:sp>
        <p:nvSpPr>
          <p:cNvPr name="AutoShape 15" id="15"/>
          <p:cNvSpPr/>
          <p:nvPr/>
        </p:nvSpPr>
        <p:spPr>
          <a:xfrm rot="0" flipH="false" flipV="false">
            <a:off x="1460500" y="4724400"/>
            <a:ext cx="4191000" cy="508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t" rtlCol="false" anchorCtr="false" vert="horz" wrap="square" lIns="0" rIns="0" tIns="0" bIns="0"/>
          <a:lstStyle/>
          <a:p>
            <a:pPr algn="l" indent="0">
              <a:lnSpc>
                <a:spcPct val="100000"/>
              </a:lnSpc>
              <a:defRPr/>
            </a:pPr>
            <a:r>
              <a:rPr lang="en-US" b="false" i="false" strike="noStrike" u="none" sz="1200">
                <a:solidFill>
                  <a:srgbClr val="D1D5DB"/>
                </a:solidFill>
                <a:latin typeface="Noto Sans SC"/>
                <a:ea typeface="Noto Sans SC"/>
                <a:cs typeface="Noto Sans SC"/>
                <a:sym typeface="Noto Sans SC"/>
              </a:rPr>
              <a:t>方案：NetworkX（轻量）/ Neo4j（生产）</a:t>
            </a:r>
            <a:r>
              <a:rPr lang="en-US" b="false" i="false" strike="noStrike" u="none" sz="1600">
                <a:solidFill>
                  <a:srgbClr val="1F2329"/>
                </a:solidFill>
                <a:latin typeface="Noto Sans SC"/>
                <a:ea typeface="Noto Sans SC"/>
                <a:cs typeface="Noto Sans SC"/>
                <a:sym typeface="Noto Sans SC"/>
              </a:rPr>
              <a:t/>
            </a:r>
            <a:br>
              <a:rPr lang="en-US" b="false" i="false" strike="noStrike" u="none" sz="1600">
                <a:solidFill>
                  <a:srgbClr val="1F2329"/>
                </a:solidFill>
                <a:latin typeface="Noto Sans SC"/>
                <a:ea typeface="Noto Sans SC"/>
                <a:cs typeface="Noto Sans SC"/>
                <a:sym typeface="Noto Sans SC"/>
              </a:rPr>
            </a:br>
            <a:r>
              <a:rPr lang="en-US" b="false" i="false" strike="noStrike" u="none" sz="1100">
                <a:solidFill>
                  <a:srgbClr val="9CA3AF"/>
                </a:solidFill>
                <a:latin typeface="Noto Sans SC"/>
                <a:ea typeface="Noto Sans SC"/>
                <a:cs typeface="Noto Sans SC"/>
                <a:sym typeface="Noto Sans SC"/>
              </a:rPr>
              <a:t>备注：兼顾内存级快速分析与大规模图谱落地。</a:t>
            </a:r>
            <a:endParaRPr lang="en-US" sz="1100"/>
          </a:p>
        </p:txBody>
      </p:sp>
      <p:sp>
        <p:nvSpPr>
          <p:cNvPr name="AutoShape 16" id="16"/>
          <p:cNvSpPr/>
          <p:nvPr/>
        </p:nvSpPr>
        <p:spPr>
          <a:xfrm rot="0" flipH="false" flipV="false">
            <a:off x="762000" y="5524500"/>
            <a:ext cx="5143500" cy="1143000"/>
          </a:xfrm>
          <a:prstGeom prst="roundRect">
            <a:avLst>
              <a:gd name="adj" fmla="val 8888"/>
            </a:avLst>
          </a:prstGeom>
          <a:solidFill>
            <a:srgbClr val="FFFFFF">
              <a:alpha val="8000"/>
            </a:srgbClr>
          </a:solidFill>
          <a:ln w="12700" cmpd="sng" cap="flat">
            <a:solidFill>
              <a:srgbClr val="2DD4BF">
                <a:alpha val="30000"/>
              </a:srgbClr>
            </a:solidFill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pic>
        <p:nvPicPr>
          <p:cNvPr name="Picture 17" id="17"/>
          <p:cNvPicPr>
            <a:picLocks noChangeAspect="true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 rot="0" flipH="false" flipV="false">
            <a:off x="1016000" y="5715000"/>
            <a:ext cx="304800" cy="304800"/>
          </a:xfrm>
          <a:prstGeom prst="rect">
            <a:avLst/>
          </a:prstGeom>
        </p:spPr>
      </p:pic>
      <p:sp>
        <p:nvSpPr>
          <p:cNvPr name="AutoShape 18" id="18"/>
          <p:cNvSpPr/>
          <p:nvPr/>
        </p:nvSpPr>
        <p:spPr>
          <a:xfrm rot="0" flipH="false" flipV="false">
            <a:off x="1460500" y="5715000"/>
            <a:ext cx="4191000" cy="3048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indent="0">
              <a:lnSpc>
                <a:spcPct val="125000"/>
              </a:lnSpc>
              <a:defRPr/>
            </a:pPr>
            <a:r>
              <a:rPr lang="en-US" b="true" i="false" strike="noStrike" u="none" sz="1600">
                <a:solidFill>
                  <a:srgbClr val="F3F4F6"/>
                </a:solidFill>
                <a:latin typeface="Noto Sans SC"/>
                <a:ea typeface="Noto Sans SC"/>
                <a:cs typeface="Noto Sans SC"/>
                <a:sym typeface="Noto Sans SC"/>
              </a:rPr>
              <a:t>Embedding 模型</a:t>
            </a:r>
            <a:endParaRPr lang="en-US" sz="1100"/>
          </a:p>
        </p:txBody>
      </p:sp>
      <p:sp>
        <p:nvSpPr>
          <p:cNvPr name="AutoShape 19" id="19"/>
          <p:cNvSpPr/>
          <p:nvPr/>
        </p:nvSpPr>
        <p:spPr>
          <a:xfrm rot="0" flipH="false" flipV="false">
            <a:off x="1460500" y="6057900"/>
            <a:ext cx="4191000" cy="508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t" rtlCol="false" anchorCtr="false" vert="horz" wrap="square" lIns="0" rIns="0" tIns="0" bIns="0"/>
          <a:lstStyle/>
          <a:p>
            <a:pPr algn="l" indent="0">
              <a:lnSpc>
                <a:spcPct val="100000"/>
              </a:lnSpc>
              <a:defRPr/>
            </a:pPr>
            <a:r>
              <a:rPr lang="en-US" b="false" i="false" strike="noStrike" u="none" sz="1200">
                <a:solidFill>
                  <a:srgbClr val="D1D5DB"/>
                </a:solidFill>
                <a:latin typeface="Noto Sans SC"/>
                <a:ea typeface="Noto Sans SC"/>
                <a:cs typeface="Noto Sans SC"/>
                <a:sym typeface="Noto Sans SC"/>
              </a:rPr>
              <a:t>方案：sentence-transformers (bge-large-zh)</a:t>
            </a:r>
            <a:r>
              <a:rPr lang="en-US" b="false" i="false" strike="noStrike" u="none" sz="1600">
                <a:solidFill>
                  <a:srgbClr val="1F2329"/>
                </a:solidFill>
                <a:latin typeface="Noto Sans SC"/>
                <a:ea typeface="Noto Sans SC"/>
                <a:cs typeface="Noto Sans SC"/>
                <a:sym typeface="Noto Sans SC"/>
              </a:rPr>
              <a:t/>
            </a:r>
            <a:br>
              <a:rPr lang="en-US" b="false" i="false" strike="noStrike" u="none" sz="1600">
                <a:solidFill>
                  <a:srgbClr val="1F2329"/>
                </a:solidFill>
                <a:latin typeface="Noto Sans SC"/>
                <a:ea typeface="Noto Sans SC"/>
                <a:cs typeface="Noto Sans SC"/>
                <a:sym typeface="Noto Sans SC"/>
              </a:rPr>
            </a:br>
            <a:r>
              <a:rPr lang="en-US" b="false" i="false" strike="noStrike" u="none" sz="1100">
                <a:solidFill>
                  <a:srgbClr val="9CA3AF"/>
                </a:solidFill>
                <a:latin typeface="Noto Sans SC"/>
                <a:ea typeface="Noto Sans SC"/>
                <a:cs typeface="Noto Sans SC"/>
                <a:sym typeface="Noto Sans SC"/>
              </a:rPr>
              <a:t>备注：本地化加载，确保数据隐私不出域。</a:t>
            </a:r>
            <a:endParaRPr lang="en-US" sz="1100"/>
          </a:p>
        </p:txBody>
      </p:sp>
      <p:sp>
        <p:nvSpPr>
          <p:cNvPr name="AutoShape 20" id="20"/>
          <p:cNvSpPr/>
          <p:nvPr/>
        </p:nvSpPr>
        <p:spPr>
          <a:xfrm rot="0" flipH="false" flipV="false">
            <a:off x="6286500" y="1524000"/>
            <a:ext cx="5143500" cy="1143000"/>
          </a:xfrm>
          <a:prstGeom prst="roundRect">
            <a:avLst>
              <a:gd name="adj" fmla="val 8888"/>
            </a:avLst>
          </a:prstGeom>
          <a:solidFill>
            <a:srgbClr val="2DD4BF">
              <a:alpha val="15000"/>
            </a:srgbClr>
          </a:solidFill>
          <a:ln w="12700" cmpd="sng" cap="flat">
            <a:solidFill>
              <a:srgbClr val="2DD4BF">
                <a:alpha val="60000"/>
              </a:srgbClr>
            </a:solidFill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pic>
        <p:nvPicPr>
          <p:cNvPr name="Picture 21" id="21"/>
          <p:cNvPicPr>
            <a:picLocks noChangeAspect="true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 rot="0" flipH="false" flipV="false">
            <a:off x="6540500" y="1714500"/>
            <a:ext cx="304800" cy="304800"/>
          </a:xfrm>
          <a:prstGeom prst="rect">
            <a:avLst/>
          </a:prstGeom>
        </p:spPr>
      </p:pic>
      <p:sp>
        <p:nvSpPr>
          <p:cNvPr name="AutoShape 22" id="22"/>
          <p:cNvSpPr/>
          <p:nvPr/>
        </p:nvSpPr>
        <p:spPr>
          <a:xfrm rot="0" flipH="false" flipV="false">
            <a:off x="6985000" y="1714500"/>
            <a:ext cx="4191000" cy="3048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indent="0">
              <a:lnSpc>
                <a:spcPct val="125000"/>
              </a:lnSpc>
              <a:defRPr/>
            </a:pPr>
            <a:r>
              <a:rPr lang="en-US" b="true" i="false" strike="noStrike" u="none" sz="1600">
                <a:solidFill>
                  <a:srgbClr val="F3F4F6"/>
                </a:solidFill>
                <a:latin typeface="Noto Sans SC"/>
                <a:ea typeface="Noto Sans SC"/>
                <a:cs typeface="Noto Sans SC"/>
                <a:sym typeface="Noto Sans SC"/>
              </a:rPr>
              <a:t>大模型 (LLM)</a:t>
            </a:r>
            <a:endParaRPr lang="en-US" sz="1100"/>
          </a:p>
        </p:txBody>
      </p:sp>
      <p:sp>
        <p:nvSpPr>
          <p:cNvPr name="AutoShape 23" id="23"/>
          <p:cNvSpPr/>
          <p:nvPr/>
        </p:nvSpPr>
        <p:spPr>
          <a:xfrm rot="0" flipH="false" flipV="false">
            <a:off x="6985000" y="2057400"/>
            <a:ext cx="4191000" cy="508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t" rtlCol="false" anchorCtr="false" vert="horz" wrap="square" lIns="0" rIns="0" tIns="0" bIns="0"/>
          <a:lstStyle/>
          <a:p>
            <a:pPr algn="l" indent="0">
              <a:lnSpc>
                <a:spcPct val="100000"/>
              </a:lnSpc>
              <a:defRPr/>
            </a:pPr>
            <a:r>
              <a:rPr lang="en-US" b="false" i="false" strike="noStrike" u="none" sz="1200">
                <a:solidFill>
                  <a:srgbClr val="D1D5DB"/>
                </a:solidFill>
                <a:latin typeface="Noto Sans SC"/>
                <a:ea typeface="Noto Sans SC"/>
                <a:cs typeface="Noto Sans SC"/>
                <a:sym typeface="Noto Sans SC"/>
              </a:rPr>
              <a:t>方案：企业内私有部署 LLM 或专属 API</a:t>
            </a:r>
            <a:r>
              <a:rPr lang="en-US" b="false" i="false" strike="noStrike" u="none" sz="1600">
                <a:solidFill>
                  <a:srgbClr val="1F2329"/>
                </a:solidFill>
                <a:latin typeface="Noto Sans SC"/>
                <a:ea typeface="Noto Sans SC"/>
                <a:cs typeface="Noto Sans SC"/>
                <a:sym typeface="Noto Sans SC"/>
              </a:rPr>
              <a:t/>
            </a:r>
            <a:br>
              <a:rPr lang="en-US" b="false" i="false" strike="noStrike" u="none" sz="1600">
                <a:solidFill>
                  <a:srgbClr val="1F2329"/>
                </a:solidFill>
                <a:latin typeface="Noto Sans SC"/>
                <a:ea typeface="Noto Sans SC"/>
                <a:cs typeface="Noto Sans SC"/>
                <a:sym typeface="Noto Sans SC"/>
              </a:rPr>
            </a:br>
            <a:r>
              <a:rPr lang="en-US" b="true" i="false" strike="noStrike" u="none" sz="1100">
                <a:solidFill>
                  <a:srgbClr val="2DD4BF"/>
                </a:solidFill>
                <a:latin typeface="Noto Sans SC"/>
                <a:ea typeface="Noto Sans SC"/>
                <a:cs typeface="Noto Sans SC"/>
                <a:sym typeface="Noto Sans SC"/>
              </a:rPr>
              <a:t>核心考量：数据隐私与安全，严禁外泄。</a:t>
            </a:r>
            <a:endParaRPr lang="en-US" sz="1100"/>
          </a:p>
        </p:txBody>
      </p:sp>
      <p:sp>
        <p:nvSpPr>
          <p:cNvPr name="AutoShape 24" id="24"/>
          <p:cNvSpPr/>
          <p:nvPr/>
        </p:nvSpPr>
        <p:spPr>
          <a:xfrm rot="0" flipH="false" flipV="false">
            <a:off x="6286500" y="2857500"/>
            <a:ext cx="5143500" cy="1143000"/>
          </a:xfrm>
          <a:prstGeom prst="roundRect">
            <a:avLst>
              <a:gd name="adj" fmla="val 8888"/>
            </a:avLst>
          </a:prstGeom>
          <a:solidFill>
            <a:srgbClr val="FFFFFF">
              <a:alpha val="8000"/>
            </a:srgbClr>
          </a:solidFill>
          <a:ln w="12700" cmpd="sng" cap="flat">
            <a:solidFill>
              <a:srgbClr val="2DD4BF">
                <a:alpha val="30000"/>
              </a:srgbClr>
            </a:solidFill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pic>
        <p:nvPicPr>
          <p:cNvPr name="Picture 25" id="25"/>
          <p:cNvPicPr>
            <a:picLocks noChangeAspect="true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 rot="0" flipH="false" flipV="false">
            <a:off x="6540500" y="3048000"/>
            <a:ext cx="304800" cy="304800"/>
          </a:xfrm>
          <a:prstGeom prst="rect">
            <a:avLst/>
          </a:prstGeom>
        </p:spPr>
      </p:pic>
      <p:sp>
        <p:nvSpPr>
          <p:cNvPr name="AutoShape 26" id="26"/>
          <p:cNvSpPr/>
          <p:nvPr/>
        </p:nvSpPr>
        <p:spPr>
          <a:xfrm rot="0" flipH="false" flipV="false">
            <a:off x="6985000" y="3048000"/>
            <a:ext cx="4191000" cy="3048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indent="0">
              <a:lnSpc>
                <a:spcPct val="125000"/>
              </a:lnSpc>
              <a:defRPr/>
            </a:pPr>
            <a:r>
              <a:rPr lang="en-US" b="true" i="false" strike="noStrike" u="none" sz="1600">
                <a:solidFill>
                  <a:srgbClr val="F3F4F6"/>
                </a:solidFill>
                <a:latin typeface="Noto Sans SC"/>
                <a:ea typeface="Noto Sans SC"/>
                <a:cs typeface="Noto Sans SC"/>
                <a:sym typeface="Noto Sans SC"/>
              </a:rPr>
              <a:t>MCP 框架</a:t>
            </a:r>
            <a:endParaRPr lang="en-US" sz="1100"/>
          </a:p>
        </p:txBody>
      </p:sp>
      <p:sp>
        <p:nvSpPr>
          <p:cNvPr name="AutoShape 27" id="27"/>
          <p:cNvSpPr/>
          <p:nvPr/>
        </p:nvSpPr>
        <p:spPr>
          <a:xfrm rot="0" flipH="false" flipV="false">
            <a:off x="6985000" y="3390900"/>
            <a:ext cx="4191000" cy="508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t" rtlCol="false" anchorCtr="false" vert="horz" wrap="square" lIns="0" rIns="0" tIns="0" bIns="0"/>
          <a:lstStyle/>
          <a:p>
            <a:pPr algn="l" indent="0">
              <a:lnSpc>
                <a:spcPct val="100000"/>
              </a:lnSpc>
              <a:defRPr/>
            </a:pPr>
            <a:r>
              <a:rPr lang="en-US" b="false" i="false" strike="noStrike" u="none" sz="1200">
                <a:solidFill>
                  <a:srgbClr val="D1D5DB"/>
                </a:solidFill>
                <a:latin typeface="Noto Sans SC"/>
                <a:ea typeface="Noto Sans SC"/>
                <a:cs typeface="Noto Sans SC"/>
                <a:sym typeface="Noto Sans SC"/>
              </a:rPr>
              <a:t>方案：开源 MCP SDK (Python / TypeScript)</a:t>
            </a:r>
            <a:r>
              <a:rPr lang="en-US" b="false" i="false" strike="noStrike" u="none" sz="1600">
                <a:solidFill>
                  <a:srgbClr val="1F2329"/>
                </a:solidFill>
                <a:latin typeface="Noto Sans SC"/>
                <a:ea typeface="Noto Sans SC"/>
                <a:cs typeface="Noto Sans SC"/>
                <a:sym typeface="Noto Sans SC"/>
              </a:rPr>
              <a:t/>
            </a:r>
            <a:br>
              <a:rPr lang="en-US" b="false" i="false" strike="noStrike" u="none" sz="1600">
                <a:solidFill>
                  <a:srgbClr val="1F2329"/>
                </a:solidFill>
                <a:latin typeface="Noto Sans SC"/>
                <a:ea typeface="Noto Sans SC"/>
                <a:cs typeface="Noto Sans SC"/>
                <a:sym typeface="Noto Sans SC"/>
              </a:rPr>
            </a:br>
            <a:r>
              <a:rPr lang="en-US" b="false" i="false" strike="noStrike" u="none" sz="1100">
                <a:solidFill>
                  <a:srgbClr val="9CA3AF"/>
                </a:solidFill>
                <a:latin typeface="Noto Sans SC"/>
                <a:ea typeface="Noto Sans SC"/>
                <a:cs typeface="Noto Sans SC"/>
                <a:sym typeface="Noto Sans SC"/>
              </a:rPr>
              <a:t>备注：采用标准化协议，降低模块耦合度。</a:t>
            </a:r>
            <a:endParaRPr lang="en-US" sz="1100"/>
          </a:p>
        </p:txBody>
      </p:sp>
      <p:sp>
        <p:nvSpPr>
          <p:cNvPr name="AutoShape 28" id="28"/>
          <p:cNvSpPr/>
          <p:nvPr/>
        </p:nvSpPr>
        <p:spPr>
          <a:xfrm rot="0" flipH="false" flipV="false">
            <a:off x="6286500" y="4191000"/>
            <a:ext cx="5143500" cy="1143000"/>
          </a:xfrm>
          <a:prstGeom prst="roundRect">
            <a:avLst>
              <a:gd name="adj" fmla="val 8888"/>
            </a:avLst>
          </a:prstGeom>
          <a:solidFill>
            <a:srgbClr val="FFFFFF">
              <a:alpha val="8000"/>
            </a:srgbClr>
          </a:solidFill>
          <a:ln w="12700" cmpd="sng" cap="flat">
            <a:solidFill>
              <a:srgbClr val="2DD4BF">
                <a:alpha val="30000"/>
              </a:srgbClr>
            </a:solidFill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pic>
        <p:nvPicPr>
          <p:cNvPr name="Picture 29" id="29"/>
          <p:cNvPicPr>
            <a:picLocks noChangeAspect="true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 rot="0" flipH="false" flipV="false">
            <a:off x="6540500" y="4381500"/>
            <a:ext cx="304800" cy="304800"/>
          </a:xfrm>
          <a:prstGeom prst="rect">
            <a:avLst/>
          </a:prstGeom>
        </p:spPr>
      </p:pic>
      <p:sp>
        <p:nvSpPr>
          <p:cNvPr name="AutoShape 30" id="30"/>
          <p:cNvSpPr/>
          <p:nvPr/>
        </p:nvSpPr>
        <p:spPr>
          <a:xfrm rot="0" flipH="false" flipV="false">
            <a:off x="6985000" y="4381500"/>
            <a:ext cx="4191000" cy="3048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indent="0">
              <a:lnSpc>
                <a:spcPct val="125000"/>
              </a:lnSpc>
              <a:defRPr/>
            </a:pPr>
            <a:r>
              <a:rPr lang="en-US" b="true" i="false" strike="noStrike" u="none" sz="1600">
                <a:solidFill>
                  <a:srgbClr val="F3F4F6"/>
                </a:solidFill>
                <a:latin typeface="Noto Sans SC"/>
                <a:ea typeface="Noto Sans SC"/>
                <a:cs typeface="Noto Sans SC"/>
                <a:sym typeface="Noto Sans SC"/>
              </a:rPr>
              <a:t>文档解析引擎</a:t>
            </a:r>
            <a:endParaRPr lang="en-US" sz="1100"/>
          </a:p>
        </p:txBody>
      </p:sp>
      <p:sp>
        <p:nvSpPr>
          <p:cNvPr name="AutoShape 31" id="31"/>
          <p:cNvSpPr/>
          <p:nvPr/>
        </p:nvSpPr>
        <p:spPr>
          <a:xfrm rot="0" flipH="false" flipV="false">
            <a:off x="6985000" y="4724400"/>
            <a:ext cx="4191000" cy="508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t" rtlCol="false" anchorCtr="false" vert="horz" wrap="square" lIns="0" rIns="0" tIns="0" bIns="0"/>
          <a:lstStyle/>
          <a:p>
            <a:pPr algn="l" indent="0">
              <a:lnSpc>
                <a:spcPct val="100000"/>
              </a:lnSpc>
              <a:defRPr/>
            </a:pPr>
            <a:r>
              <a:rPr lang="en-US" b="false" i="false" strike="noStrike" u="none" sz="1200">
                <a:solidFill>
                  <a:srgbClr val="D1D5DB"/>
                </a:solidFill>
                <a:latin typeface="Noto Sans SC"/>
                <a:ea typeface="Noto Sans SC"/>
                <a:cs typeface="Noto Sans SC"/>
                <a:sym typeface="Noto Sans SC"/>
              </a:rPr>
              <a:t>方案：Unstructured / Apache Tika</a:t>
            </a:r>
            <a:r>
              <a:rPr lang="en-US" b="false" i="false" strike="noStrike" u="none" sz="1600">
                <a:solidFill>
                  <a:srgbClr val="1F2329"/>
                </a:solidFill>
                <a:latin typeface="Noto Sans SC"/>
                <a:ea typeface="Noto Sans SC"/>
                <a:cs typeface="Noto Sans SC"/>
                <a:sym typeface="Noto Sans SC"/>
              </a:rPr>
              <a:t/>
            </a:r>
            <a:br>
              <a:rPr lang="en-US" b="false" i="false" strike="noStrike" u="none" sz="1600">
                <a:solidFill>
                  <a:srgbClr val="1F2329"/>
                </a:solidFill>
                <a:latin typeface="Noto Sans SC"/>
                <a:ea typeface="Noto Sans SC"/>
                <a:cs typeface="Noto Sans SC"/>
                <a:sym typeface="Noto Sans SC"/>
              </a:rPr>
            </a:br>
            <a:r>
              <a:rPr lang="en-US" b="false" i="false" strike="noStrike" u="none" sz="1100">
                <a:solidFill>
                  <a:srgbClr val="9CA3AF"/>
                </a:solidFill>
                <a:latin typeface="Noto Sans SC"/>
                <a:ea typeface="Noto Sans SC"/>
                <a:cs typeface="Noto Sans SC"/>
                <a:sym typeface="Noto Sans SC"/>
              </a:rPr>
              <a:t>备注：支持 PDF、Word 等多种复杂格式内容提取。</a:t>
            </a:r>
            <a:endParaRPr lang="en-US" sz="1100"/>
          </a:p>
        </p:txBody>
      </p:sp>
      <p:sp>
        <p:nvSpPr>
          <p:cNvPr name="AutoShape 32" id="32"/>
          <p:cNvSpPr/>
          <p:nvPr/>
        </p:nvSpPr>
        <p:spPr>
          <a:xfrm rot="0" flipH="false" flipV="false">
            <a:off x="6286500" y="5524500"/>
            <a:ext cx="5143500" cy="1143000"/>
          </a:xfrm>
          <a:prstGeom prst="roundRect">
            <a:avLst>
              <a:gd name="adj" fmla="val 8888"/>
            </a:avLst>
          </a:prstGeom>
          <a:solidFill>
            <a:srgbClr val="FFFFFF">
              <a:alpha val="8000"/>
            </a:srgbClr>
          </a:solidFill>
          <a:ln w="12700" cmpd="sng" cap="flat">
            <a:solidFill>
              <a:srgbClr val="2DD4BF">
                <a:alpha val="30000"/>
              </a:srgbClr>
            </a:solidFill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pic>
        <p:nvPicPr>
          <p:cNvPr name="Picture 33" id="33"/>
          <p:cNvPicPr>
            <a:picLocks noChangeAspect="true"/>
          </p:cNvPicPr>
          <p:nvPr/>
        </p:nvPicPr>
        <p:blipFill>
          <a:blip r:embed="rId1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 rot="0" flipH="false" flipV="false">
            <a:off x="6540500" y="5715000"/>
            <a:ext cx="304800" cy="304800"/>
          </a:xfrm>
          <a:prstGeom prst="rect">
            <a:avLst/>
          </a:prstGeom>
        </p:spPr>
      </p:pic>
      <p:sp>
        <p:nvSpPr>
          <p:cNvPr name="AutoShape 34" id="34"/>
          <p:cNvSpPr/>
          <p:nvPr/>
        </p:nvSpPr>
        <p:spPr>
          <a:xfrm rot="0" flipH="false" flipV="false">
            <a:off x="6985000" y="5715000"/>
            <a:ext cx="4191000" cy="3048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indent="0">
              <a:lnSpc>
                <a:spcPct val="125000"/>
              </a:lnSpc>
              <a:defRPr/>
            </a:pPr>
            <a:r>
              <a:rPr lang="en-US" b="true" i="false" strike="noStrike" u="none" sz="1600">
                <a:solidFill>
                  <a:srgbClr val="F3F4F6"/>
                </a:solidFill>
                <a:latin typeface="Noto Sans SC"/>
                <a:ea typeface="Noto Sans SC"/>
                <a:cs typeface="Noto Sans SC"/>
                <a:sym typeface="Noto Sans SC"/>
              </a:rPr>
              <a:t>检索重排序策略</a:t>
            </a:r>
            <a:endParaRPr lang="en-US" sz="1100"/>
          </a:p>
        </p:txBody>
      </p:sp>
      <p:sp>
        <p:nvSpPr>
          <p:cNvPr name="AutoShape 35" id="35"/>
          <p:cNvSpPr/>
          <p:nvPr/>
        </p:nvSpPr>
        <p:spPr>
          <a:xfrm rot="0" flipH="false" flipV="false">
            <a:off x="6985000" y="6057900"/>
            <a:ext cx="4191000" cy="508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t" rtlCol="false" anchorCtr="false" vert="horz" wrap="square" lIns="0" rIns="0" tIns="0" bIns="0"/>
          <a:lstStyle/>
          <a:p>
            <a:pPr algn="l" indent="0">
              <a:lnSpc>
                <a:spcPct val="100000"/>
              </a:lnSpc>
              <a:defRPr/>
            </a:pPr>
            <a:r>
              <a:rPr lang="en-US" b="false" i="false" strike="noStrike" u="none" sz="1200">
                <a:solidFill>
                  <a:srgbClr val="D1D5DB"/>
                </a:solidFill>
                <a:latin typeface="Noto Sans SC"/>
                <a:ea typeface="Noto Sans SC"/>
                <a:cs typeface="Noto Sans SC"/>
                <a:sym typeface="Noto Sans SC"/>
              </a:rPr>
              <a:t>方案：Heuristic加权（当前）/ Cross-BERT（TODO）</a:t>
            </a:r>
            <a:r>
              <a:rPr lang="en-US" b="false" i="false" strike="noStrike" u="none" sz="1600">
                <a:solidFill>
                  <a:srgbClr val="1F2329"/>
                </a:solidFill>
                <a:latin typeface="Noto Sans SC"/>
                <a:ea typeface="Noto Sans SC"/>
                <a:cs typeface="Noto Sans SC"/>
                <a:sym typeface="Noto Sans SC"/>
              </a:rPr>
              <a:t/>
            </a:r>
            <a:br>
              <a:rPr lang="en-US" b="false" i="false" strike="noStrike" u="none" sz="1600">
                <a:solidFill>
                  <a:srgbClr val="1F2329"/>
                </a:solidFill>
                <a:latin typeface="Noto Sans SC"/>
                <a:ea typeface="Noto Sans SC"/>
                <a:cs typeface="Noto Sans SC"/>
                <a:sym typeface="Noto Sans SC"/>
              </a:rPr>
            </a:br>
            <a:r>
              <a:rPr lang="en-US" b="false" i="false" strike="noStrike" u="none" sz="1100">
                <a:solidFill>
                  <a:srgbClr val="9CA3AF"/>
                </a:solidFill>
                <a:latin typeface="Noto Sans SC"/>
                <a:ea typeface="Noto Sans SC"/>
                <a:cs typeface="Noto Sans SC"/>
                <a:sym typeface="Noto Sans SC"/>
              </a:rPr>
              <a:t>备注：现阶段采用启发式规则，后续引入模型精排。</a:t>
            </a:r>
            <a:endParaRPr lang="en-US" sz="1100"/>
          </a:p>
        </p:txBody>
      </p:sp>
    </p:spTree>
  </p:cSld>
  <p:clrMapOvr>
    <a:masterClrMapping/>
  </p:clrMapOvr>
</p:sld>
</file>

<file path=ppt/slides/slide1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blipFill dpi="0" rotWithShape="true">
          <a:blip r:embed="rId2">
            <a:lum/>
          </a:blip>
          <a:srcRect/>
          <a:stretch>
            <a:fillRect l="0" t="0" r="0" b="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 rot="0" flipH="false" flipV="false">
            <a:off x="0" y="0"/>
            <a:ext cx="12192000" cy="6858000"/>
          </a:xfrm>
          <a:prstGeom prst="roundRect">
            <a:avLst>
              <a:gd name="adj" fmla="val 0"/>
            </a:avLst>
          </a:prstGeom>
          <a:solidFill>
            <a:srgbClr val="111827">
              <a:alpha val="75000"/>
            </a:srgbClr>
          </a:solidFill>
          <a:ln w="25400" cmpd="sng" cap="flat">
            <a:noFill/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sp>
        <p:nvSpPr>
          <p:cNvPr name="AutoShape 3" id="3"/>
          <p:cNvSpPr/>
          <p:nvPr/>
        </p:nvSpPr>
        <p:spPr>
          <a:xfrm rot="0" flipH="false" flipV="false">
            <a:off x="762000" y="635000"/>
            <a:ext cx="7620000" cy="508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indent="0">
              <a:lnSpc>
                <a:spcPct val="125000"/>
              </a:lnSpc>
              <a:defRPr/>
            </a:pPr>
            <a:r>
              <a:rPr lang="en-US" b="true" i="false" strike="noStrike" u="none" sz="3200">
                <a:solidFill>
                  <a:srgbClr val="2DD4BF"/>
                </a:solidFill>
                <a:latin typeface="Noto Sans SC"/>
                <a:ea typeface="Noto Sans SC"/>
                <a:cs typeface="Noto Sans SC"/>
                <a:sym typeface="Noto Sans SC"/>
              </a:rPr>
              <a:t>09. 风险评估与应对策略</a:t>
            </a:r>
            <a:endParaRPr lang="en-US" sz="1100"/>
          </a:p>
        </p:txBody>
      </p:sp>
      <p:sp>
        <p:nvSpPr>
          <p:cNvPr name="AutoShape 4" id="4"/>
          <p:cNvSpPr/>
          <p:nvPr/>
        </p:nvSpPr>
        <p:spPr>
          <a:xfrm rot="0" flipH="false" flipV="false">
            <a:off x="762000" y="1524000"/>
            <a:ext cx="5207000" cy="2413000"/>
          </a:xfrm>
          <a:prstGeom prst="roundRect">
            <a:avLst>
              <a:gd name="adj" fmla="val 6315"/>
            </a:avLst>
          </a:prstGeom>
          <a:solidFill>
            <a:srgbClr val="FFFFFF">
              <a:alpha val="8000"/>
            </a:srgbClr>
          </a:solidFill>
          <a:ln w="12700" cmpd="sng" cap="flat">
            <a:solidFill>
              <a:srgbClr val="2DD4BF">
                <a:alpha val="30000"/>
              </a:srgbClr>
            </a:solidFill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pic>
        <p:nvPicPr>
          <p:cNvPr name="Picture 5" id="5"/>
          <p:cNvPicPr>
            <a:picLocks noChangeAspect="true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 rot="0" flipH="false" flipV="false">
            <a:off x="1066800" y="1828800"/>
            <a:ext cx="304800" cy="304800"/>
          </a:xfrm>
          <a:prstGeom prst="rect">
            <a:avLst/>
          </a:prstGeom>
        </p:spPr>
      </p:pic>
      <p:sp>
        <p:nvSpPr>
          <p:cNvPr name="AutoShape 6" id="6"/>
          <p:cNvSpPr/>
          <p:nvPr/>
        </p:nvSpPr>
        <p:spPr>
          <a:xfrm rot="0" flipH="false" flipV="false">
            <a:off x="1498600" y="1803400"/>
            <a:ext cx="3810000" cy="3556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indent="0">
              <a:lnSpc>
                <a:spcPct val="125000"/>
              </a:lnSpc>
              <a:defRPr/>
            </a:pPr>
            <a:r>
              <a:rPr lang="en-US" b="true" i="false" strike="noStrike" u="none" sz="1800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知识库陈旧风险</a:t>
            </a:r>
            <a:endParaRPr lang="en-US" sz="1100"/>
          </a:p>
        </p:txBody>
      </p:sp>
      <p:sp>
        <p:nvSpPr>
          <p:cNvPr name="AutoShape 7" id="7"/>
          <p:cNvSpPr/>
          <p:nvPr/>
        </p:nvSpPr>
        <p:spPr>
          <a:xfrm rot="0" flipH="false" flipV="false">
            <a:off x="1066800" y="2286000"/>
            <a:ext cx="4597400" cy="1397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t" rtlCol="false" anchorCtr="false" vert="horz" wrap="square" lIns="0" rIns="0" tIns="0" bIns="0"/>
          <a:lstStyle/>
          <a:p>
            <a:pPr algn="l" indent="0">
              <a:lnSpc>
                <a:spcPct val="125000"/>
              </a:lnSpc>
              <a:defRPr/>
            </a:pPr>
            <a:r>
              <a:rPr lang="en-US" b="false" i="false" strike="noStrike" u="none" sz="1300">
                <a:solidFill>
                  <a:srgbClr val="D1D5DB"/>
                </a:solidFill>
                <a:latin typeface="Noto Sans SC"/>
                <a:ea typeface="Noto Sans SC"/>
                <a:cs typeface="Noto Sans SC"/>
                <a:sym typeface="Noto Sans SC"/>
              </a:rPr>
              <a:t>1. 建立自动监听更新管道，实时同步上游信息变更。</a:t>
            </a:r>
            <a:r>
              <a:rPr lang="en-US" b="false" i="false" strike="noStrike" u="none" sz="1300">
                <a:solidFill>
                  <a:srgbClr val="D1D5DB"/>
                </a:solidFill>
                <a:latin typeface="Noto Sans SC"/>
                <a:ea typeface="Noto Sans SC"/>
                <a:cs typeface="Noto Sans SC"/>
                <a:sym typeface="Noto Sans SC"/>
              </a:rPr>
              <a:t/>
            </a:r>
            <a:endParaRPr lang="en-US" sz="1100"/>
          </a:p>
          <a:p>
            <a:pPr algn="l" indent="0">
              <a:lnSpc>
                <a:spcPct val="125000"/>
              </a:lnSpc>
            </a:pPr>
            <a:r>
              <a:rPr lang="en-US" b="false" i="false" strike="noStrike" u="none" sz="1300">
                <a:solidFill>
                  <a:srgbClr val="D1D5DB"/>
                </a:solidFill>
                <a:latin typeface="Noto Sans SC"/>
                <a:ea typeface="Noto Sans SC"/>
                <a:cs typeface="Noto Sans SC"/>
                <a:sym typeface="Noto Sans SC"/>
              </a:rPr>
              <a:t>2. 为所有知识条目添加有效期属性，定期触发复核与归档。</a:t>
            </a:r>
          </a:p>
        </p:txBody>
      </p:sp>
      <p:sp>
        <p:nvSpPr>
          <p:cNvPr name="AutoShape 8" id="8"/>
          <p:cNvSpPr/>
          <p:nvPr/>
        </p:nvSpPr>
        <p:spPr>
          <a:xfrm rot="0" flipH="false" flipV="false">
            <a:off x="6223000" y="1524000"/>
            <a:ext cx="5207000" cy="2413000"/>
          </a:xfrm>
          <a:prstGeom prst="roundRect">
            <a:avLst>
              <a:gd name="adj" fmla="val 6315"/>
            </a:avLst>
          </a:prstGeom>
          <a:solidFill>
            <a:srgbClr val="FFFFFF">
              <a:alpha val="8000"/>
            </a:srgbClr>
          </a:solidFill>
          <a:ln w="12700" cmpd="sng" cap="flat">
            <a:solidFill>
              <a:srgbClr val="2DD4BF">
                <a:alpha val="30000"/>
              </a:srgbClr>
            </a:solidFill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pic>
        <p:nvPicPr>
          <p:cNvPr name="Picture 9" id="9"/>
          <p:cNvPicPr>
            <a:picLocks noChangeAspect="true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 rot="0" flipH="false" flipV="false">
            <a:off x="6527800" y="1828800"/>
            <a:ext cx="304800" cy="304800"/>
          </a:xfrm>
          <a:prstGeom prst="rect">
            <a:avLst/>
          </a:prstGeom>
        </p:spPr>
      </p:pic>
      <p:sp>
        <p:nvSpPr>
          <p:cNvPr name="AutoShape 10" id="10"/>
          <p:cNvSpPr/>
          <p:nvPr/>
        </p:nvSpPr>
        <p:spPr>
          <a:xfrm rot="0" flipH="false" flipV="false">
            <a:off x="6959600" y="1803400"/>
            <a:ext cx="3810000" cy="3556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indent="0">
              <a:lnSpc>
                <a:spcPct val="125000"/>
              </a:lnSpc>
              <a:defRPr/>
            </a:pPr>
            <a:r>
              <a:rPr lang="en-US" b="true" i="false" strike="noStrike" u="none" sz="1800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检索响应延迟风险</a:t>
            </a:r>
            <a:endParaRPr lang="en-US" sz="1100"/>
          </a:p>
        </p:txBody>
      </p:sp>
      <p:sp>
        <p:nvSpPr>
          <p:cNvPr name="AutoShape 11" id="11"/>
          <p:cNvSpPr/>
          <p:nvPr/>
        </p:nvSpPr>
        <p:spPr>
          <a:xfrm rot="0" flipH="false" flipV="false">
            <a:off x="6527800" y="2286000"/>
            <a:ext cx="4597400" cy="1397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t" rtlCol="false" anchorCtr="false" vert="horz" wrap="square" lIns="0" rIns="0" tIns="0" bIns="0"/>
          <a:lstStyle/>
          <a:p>
            <a:pPr algn="l" indent="0">
              <a:lnSpc>
                <a:spcPct val="125000"/>
              </a:lnSpc>
              <a:defRPr/>
            </a:pPr>
            <a:r>
              <a:rPr lang="en-US" b="false" i="false" strike="noStrike" u="none" sz="1300">
                <a:solidFill>
                  <a:srgbClr val="D1D5DB"/>
                </a:solidFill>
                <a:latin typeface="Noto Sans SC"/>
                <a:ea typeface="Noto Sans SC"/>
                <a:cs typeface="Noto Sans SC"/>
                <a:sym typeface="Noto Sans SC"/>
              </a:rPr>
              <a:t>1. 构建多级缓存机制，对高频热点知识进行预加载。</a:t>
            </a:r>
            <a:r>
              <a:rPr lang="en-US" b="false" i="false" strike="noStrike" u="none" sz="1300">
                <a:solidFill>
                  <a:srgbClr val="D1D5DB"/>
                </a:solidFill>
                <a:latin typeface="Noto Sans SC"/>
                <a:ea typeface="Noto Sans SC"/>
                <a:cs typeface="Noto Sans SC"/>
                <a:sym typeface="Noto Sans SC"/>
              </a:rPr>
              <a:t/>
            </a:r>
            <a:endParaRPr lang="en-US" sz="1100"/>
          </a:p>
          <a:p>
            <a:pPr algn="l" indent="0">
              <a:lnSpc>
                <a:spcPct val="125000"/>
              </a:lnSpc>
            </a:pPr>
            <a:r>
              <a:rPr lang="en-US" b="false" i="false" strike="noStrike" u="none" sz="1300">
                <a:solidFill>
                  <a:srgbClr val="D1D5DB"/>
                </a:solidFill>
                <a:latin typeface="Noto Sans SC"/>
                <a:ea typeface="Noto Sans SC"/>
                <a:cs typeface="Noto Sans SC"/>
                <a:sym typeface="Noto Sans SC"/>
              </a:rPr>
              <a:t>2. 向量数据库索引采用GPU加速检索，降低时延。</a:t>
            </a:r>
            <a:r>
              <a:rPr lang="en-US" b="false" i="false" strike="noStrike" u="none" sz="1300">
                <a:solidFill>
                  <a:srgbClr val="D1D5DB"/>
                </a:solidFill>
                <a:latin typeface="Noto Sans SC"/>
                <a:ea typeface="Noto Sans SC"/>
                <a:cs typeface="Noto Sans SC"/>
                <a:sym typeface="Noto Sans SC"/>
              </a:rPr>
              <a:t/>
            </a:r>
          </a:p>
          <a:p>
            <a:pPr algn="l" indent="0">
              <a:lnSpc>
                <a:spcPct val="125000"/>
              </a:lnSpc>
            </a:pPr>
            <a:r>
              <a:rPr lang="en-US" b="false" i="false" strike="noStrike" u="none" sz="1300">
                <a:solidFill>
                  <a:srgbClr val="D1D5DB"/>
                </a:solidFill>
                <a:latin typeface="Noto Sans SC"/>
                <a:ea typeface="Noto Sans SC"/>
                <a:cs typeface="Noto Sans SC"/>
                <a:sym typeface="Noto Sans SC"/>
              </a:rPr>
              <a:t>3. 基于用户行为特征，异步预取项目相关知识上下文。</a:t>
            </a:r>
          </a:p>
        </p:txBody>
      </p:sp>
      <p:sp>
        <p:nvSpPr>
          <p:cNvPr name="AutoShape 12" id="12"/>
          <p:cNvSpPr/>
          <p:nvPr/>
        </p:nvSpPr>
        <p:spPr>
          <a:xfrm rot="0" flipH="false" flipV="false">
            <a:off x="762000" y="4191000"/>
            <a:ext cx="5207000" cy="2413000"/>
          </a:xfrm>
          <a:prstGeom prst="roundRect">
            <a:avLst>
              <a:gd name="adj" fmla="val 6315"/>
            </a:avLst>
          </a:prstGeom>
          <a:solidFill>
            <a:srgbClr val="FFFFFF">
              <a:alpha val="8000"/>
            </a:srgbClr>
          </a:solidFill>
          <a:ln w="12700" cmpd="sng" cap="flat">
            <a:solidFill>
              <a:srgbClr val="2DD4BF">
                <a:alpha val="30000"/>
              </a:srgbClr>
            </a:solidFill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pic>
        <p:nvPicPr>
          <p:cNvPr name="Picture 13" id="13"/>
          <p:cNvPicPr>
            <a:picLocks noChangeAspect="true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 rot="0" flipH="false" flipV="false">
            <a:off x="1066800" y="4495800"/>
            <a:ext cx="304800" cy="304800"/>
          </a:xfrm>
          <a:prstGeom prst="rect">
            <a:avLst/>
          </a:prstGeom>
        </p:spPr>
      </p:pic>
      <p:sp>
        <p:nvSpPr>
          <p:cNvPr name="AutoShape 14" id="14"/>
          <p:cNvSpPr/>
          <p:nvPr/>
        </p:nvSpPr>
        <p:spPr>
          <a:xfrm rot="0" flipH="false" flipV="false">
            <a:off x="1498600" y="4470400"/>
            <a:ext cx="3810000" cy="3556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indent="0">
              <a:lnSpc>
                <a:spcPct val="125000"/>
              </a:lnSpc>
              <a:defRPr/>
            </a:pPr>
            <a:r>
              <a:rPr lang="en-US" b="true" i="false" strike="noStrike" u="none" sz="1800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私域数据泄露风险</a:t>
            </a:r>
            <a:endParaRPr lang="en-US" sz="1100"/>
          </a:p>
        </p:txBody>
      </p:sp>
      <p:sp>
        <p:nvSpPr>
          <p:cNvPr name="AutoShape 15" id="15"/>
          <p:cNvSpPr/>
          <p:nvPr/>
        </p:nvSpPr>
        <p:spPr>
          <a:xfrm rot="0" flipH="false" flipV="false">
            <a:off x="1066800" y="4953000"/>
            <a:ext cx="4597400" cy="1397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t" rtlCol="false" anchorCtr="false" vert="horz" wrap="square" lIns="0" rIns="0" tIns="0" bIns="0"/>
          <a:lstStyle/>
          <a:p>
            <a:pPr algn="l" indent="0">
              <a:lnSpc>
                <a:spcPct val="125000"/>
              </a:lnSpc>
              <a:defRPr/>
            </a:pPr>
            <a:r>
              <a:rPr lang="en-US" b="false" i="false" strike="noStrike" u="none" sz="1300">
                <a:solidFill>
                  <a:srgbClr val="D1D5DB"/>
                </a:solidFill>
                <a:latin typeface="Noto Sans SC"/>
                <a:ea typeface="Noto Sans SC"/>
                <a:cs typeface="Noto Sans SC"/>
                <a:sym typeface="Noto Sans SC"/>
              </a:rPr>
              <a:t>1. 严格控制MCP Server的网络访问范围，实施最小权限原则。</a:t>
            </a:r>
            <a:r>
              <a:rPr lang="en-US" b="false" i="false" strike="noStrike" u="none" sz="1300">
                <a:solidFill>
                  <a:srgbClr val="D1D5DB"/>
                </a:solidFill>
                <a:latin typeface="Noto Sans SC"/>
                <a:ea typeface="Noto Sans SC"/>
                <a:cs typeface="Noto Sans SC"/>
                <a:sym typeface="Noto Sans SC"/>
              </a:rPr>
              <a:t/>
            </a:r>
            <a:endParaRPr lang="en-US" sz="1100"/>
          </a:p>
          <a:p>
            <a:pPr algn="l" indent="0">
              <a:lnSpc>
                <a:spcPct val="125000"/>
              </a:lnSpc>
            </a:pPr>
            <a:r>
              <a:rPr lang="en-US" b="false" i="false" strike="noStrike" u="none" sz="1300">
                <a:solidFill>
                  <a:srgbClr val="D1D5DB"/>
                </a:solidFill>
                <a:latin typeface="Noto Sans SC"/>
                <a:ea typeface="Noto Sans SC"/>
                <a:cs typeface="Noto Sans SC"/>
                <a:sym typeface="Noto Sans SC"/>
              </a:rPr>
              <a:t>2. 核心业务采用私有化部署LLM，确保数据不出境、不落地。</a:t>
            </a:r>
          </a:p>
        </p:txBody>
      </p:sp>
      <p:sp>
        <p:nvSpPr>
          <p:cNvPr name="AutoShape 16" id="16"/>
          <p:cNvSpPr/>
          <p:nvPr/>
        </p:nvSpPr>
        <p:spPr>
          <a:xfrm rot="0" flipH="false" flipV="false">
            <a:off x="6223000" y="4191000"/>
            <a:ext cx="5207000" cy="2413000"/>
          </a:xfrm>
          <a:prstGeom prst="roundRect">
            <a:avLst>
              <a:gd name="adj" fmla="val 6315"/>
            </a:avLst>
          </a:prstGeom>
          <a:solidFill>
            <a:srgbClr val="FFFFFF">
              <a:alpha val="8000"/>
            </a:srgbClr>
          </a:solidFill>
          <a:ln w="12700" cmpd="sng" cap="flat">
            <a:solidFill>
              <a:srgbClr val="2DD4BF">
                <a:alpha val="30000"/>
              </a:srgbClr>
            </a:solidFill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pic>
        <p:nvPicPr>
          <p:cNvPr name="Picture 17" id="17"/>
          <p:cNvPicPr>
            <a:picLocks noChangeAspect="true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 rot="0" flipH="false" flipV="false">
            <a:off x="6527800" y="4495800"/>
            <a:ext cx="304800" cy="304800"/>
          </a:xfrm>
          <a:prstGeom prst="rect">
            <a:avLst/>
          </a:prstGeom>
        </p:spPr>
      </p:pic>
      <p:sp>
        <p:nvSpPr>
          <p:cNvPr name="AutoShape 18" id="18"/>
          <p:cNvSpPr/>
          <p:nvPr/>
        </p:nvSpPr>
        <p:spPr>
          <a:xfrm rot="0" flipH="false" flipV="false">
            <a:off x="6959600" y="4470400"/>
            <a:ext cx="3810000" cy="3556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indent="0">
              <a:lnSpc>
                <a:spcPct val="125000"/>
              </a:lnSpc>
              <a:defRPr/>
            </a:pPr>
            <a:r>
              <a:rPr lang="en-US" b="true" i="false" strike="noStrike" u="none" sz="1800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检索结果噪音干扰</a:t>
            </a:r>
            <a:endParaRPr lang="en-US" sz="1100"/>
          </a:p>
        </p:txBody>
      </p:sp>
      <p:sp>
        <p:nvSpPr>
          <p:cNvPr name="AutoShape 19" id="19"/>
          <p:cNvSpPr/>
          <p:nvPr/>
        </p:nvSpPr>
        <p:spPr>
          <a:xfrm rot="0" flipH="false" flipV="false">
            <a:off x="6527800" y="4953000"/>
            <a:ext cx="4597400" cy="1397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t" rtlCol="false" anchorCtr="false" vert="horz" wrap="square" lIns="0" rIns="0" tIns="0" bIns="0"/>
          <a:lstStyle/>
          <a:p>
            <a:pPr algn="l" indent="0">
              <a:lnSpc>
                <a:spcPct val="125000"/>
              </a:lnSpc>
              <a:defRPr/>
            </a:pPr>
            <a:r>
              <a:rPr lang="en-US" b="false" i="false" strike="noStrike" u="none" sz="1300">
                <a:solidFill>
                  <a:srgbClr val="D1D5DB"/>
                </a:solidFill>
                <a:latin typeface="Noto Sans SC"/>
                <a:ea typeface="Noto Sans SC"/>
                <a:cs typeface="Noto Sans SC"/>
                <a:sym typeface="Noto Sans SC"/>
              </a:rPr>
              <a:t>1. 优化文本分块策略，增强语义段落的完整性与独立性。</a:t>
            </a:r>
            <a:r>
              <a:rPr lang="en-US" b="false" i="false" strike="noStrike" u="none" sz="1300">
                <a:solidFill>
                  <a:srgbClr val="D1D5DB"/>
                </a:solidFill>
                <a:latin typeface="Noto Sans SC"/>
                <a:ea typeface="Noto Sans SC"/>
                <a:cs typeface="Noto Sans SC"/>
                <a:sym typeface="Noto Sans SC"/>
              </a:rPr>
              <a:t/>
            </a:r>
            <a:endParaRPr lang="en-US" sz="1100"/>
          </a:p>
          <a:p>
            <a:pPr algn="l" indent="0">
              <a:lnSpc>
                <a:spcPct val="125000"/>
              </a:lnSpc>
            </a:pPr>
            <a:r>
              <a:rPr lang="en-US" b="false" i="false" strike="noStrike" u="none" sz="1300">
                <a:solidFill>
                  <a:srgbClr val="D1D5DB"/>
                </a:solidFill>
                <a:latin typeface="Noto Sans SC"/>
                <a:ea typeface="Noto Sans SC"/>
                <a:cs typeface="Noto Sans SC"/>
                <a:sym typeface="Noto Sans SC"/>
              </a:rPr>
              <a:t>2. 引入重排序模型与用户反馈机制，动态优化检索权重。</a:t>
            </a:r>
          </a:p>
        </p:txBody>
      </p:sp>
    </p:spTree>
  </p:cSld>
  <p:clrMapOvr>
    <a:masterClrMapping/>
  </p:clrMapOvr>
</p:sld>
</file>

<file path=ppt/slides/slide1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blipFill dpi="0" rotWithShape="true">
          <a:blip r:embed="rId2">
            <a:lum/>
          </a:blip>
          <a:srcRect/>
          <a:stretch>
            <a:fillRect l="0" t="0" r="0" b="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 rot="0" flipH="false" flipV="false">
            <a:off x="0" y="0"/>
            <a:ext cx="12192000" cy="6858000"/>
          </a:xfrm>
          <a:prstGeom prst="roundRect">
            <a:avLst>
              <a:gd name="adj" fmla="val 0"/>
            </a:avLst>
          </a:prstGeom>
          <a:solidFill>
            <a:srgbClr val="111827">
              <a:alpha val="85000"/>
            </a:srgbClr>
          </a:solidFill>
          <a:ln w="25400" cmpd="sng" cap="flat">
            <a:noFill/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sp>
        <p:nvSpPr>
          <p:cNvPr name="AutoShape 3" id="3"/>
          <p:cNvSpPr/>
          <p:nvPr/>
        </p:nvSpPr>
        <p:spPr>
          <a:xfrm rot="0" flipH="false" flipV="false">
            <a:off x="762000" y="635000"/>
            <a:ext cx="7620000" cy="508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indent="0">
              <a:lnSpc>
                <a:spcPct val="125000"/>
              </a:lnSpc>
              <a:defRPr/>
            </a:pPr>
            <a:r>
              <a:rPr lang="en-US" b="true" i="false" strike="noStrike" u="none" sz="3200">
                <a:solidFill>
                  <a:srgbClr val="2DD4BF"/>
                </a:solidFill>
                <a:latin typeface="Noto Sans SC"/>
                <a:ea typeface="Noto Sans SC"/>
                <a:cs typeface="Noto Sans SC"/>
                <a:sym typeface="Noto Sans SC"/>
              </a:rPr>
              <a:t>10. 项目进展与下一步计划</a:t>
            </a:r>
            <a:endParaRPr lang="en-US" sz="1100"/>
          </a:p>
        </p:txBody>
      </p:sp>
      <p:sp>
        <p:nvSpPr>
          <p:cNvPr name="AutoShape 4" id="4"/>
          <p:cNvSpPr/>
          <p:nvPr/>
        </p:nvSpPr>
        <p:spPr>
          <a:xfrm rot="0" flipH="false" flipV="false">
            <a:off x="762000" y="1524000"/>
            <a:ext cx="5207000" cy="4826000"/>
          </a:xfrm>
          <a:prstGeom prst="roundRect">
            <a:avLst>
              <a:gd name="adj" fmla="val 3157"/>
            </a:avLst>
          </a:prstGeom>
          <a:solidFill>
            <a:srgbClr val="1F2937">
              <a:alpha val="60000"/>
            </a:srgbClr>
          </a:solidFill>
          <a:ln w="12700" cmpd="sng" cap="flat">
            <a:solidFill>
              <a:srgbClr val="4B5563">
                <a:alpha val="80000"/>
              </a:srgbClr>
            </a:solidFill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sp>
        <p:nvSpPr>
          <p:cNvPr name="AutoShape 5" id="5"/>
          <p:cNvSpPr/>
          <p:nvPr/>
        </p:nvSpPr>
        <p:spPr>
          <a:xfrm rot="0" flipH="false" flipV="false">
            <a:off x="1016000" y="1778000"/>
            <a:ext cx="4699000" cy="381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indent="0">
              <a:lnSpc>
                <a:spcPct val="125000"/>
              </a:lnSpc>
              <a:defRPr/>
            </a:pPr>
            <a:r>
              <a:rPr lang="en-US" b="true" i="false" strike="noStrike" u="none" sz="1800">
                <a:solidFill>
                  <a:srgbClr val="F3F4F6"/>
                </a:solidFill>
                <a:latin typeface="Noto Sans SC"/>
                <a:ea typeface="Noto Sans SC"/>
                <a:cs typeface="Noto Sans SC"/>
                <a:sym typeface="Noto Sans SC"/>
              </a:rPr>
              <a:t>当前实现状态概览</a:t>
            </a:r>
            <a:endParaRPr lang="en-US" sz="1100"/>
          </a:p>
        </p:txBody>
      </p:sp>
      <p:cxnSp>
        <p:nvCxnSpPr>
          <p:cNvPr name="Connector 6" id="6"/>
          <p:cNvCxnSpPr/>
          <p:nvPr/>
        </p:nvCxnSpPr>
        <p:spPr>
          <a:xfrm rot="-9291" flipH="false" flipV="false">
            <a:off x="1016009" y="2216150"/>
            <a:ext cx="4699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mpd="sng" cap="flat">
            <a:solidFill>
              <a:srgbClr val="4B5563">
                <a:alpha val="6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pic>
        <p:nvPicPr>
          <p:cNvPr name="Picture 7" id="7"/>
          <p:cNvPicPr>
            <a:picLocks noChangeAspect="true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 rot="0" flipH="false" flipV="false">
            <a:off x="1016000" y="2476500"/>
            <a:ext cx="254000" cy="254000"/>
          </a:xfrm>
          <a:prstGeom prst="rect">
            <a:avLst/>
          </a:prstGeom>
        </p:spPr>
      </p:pic>
      <p:sp>
        <p:nvSpPr>
          <p:cNvPr name="AutoShape 8" id="8"/>
          <p:cNvSpPr/>
          <p:nvPr/>
        </p:nvSpPr>
        <p:spPr>
          <a:xfrm rot="0" flipH="false" flipV="false">
            <a:off x="1397000" y="2451100"/>
            <a:ext cx="4318000" cy="3048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indent="0">
              <a:lnSpc>
                <a:spcPct val="125000"/>
              </a:lnSpc>
              <a:defRPr/>
            </a:pPr>
            <a:r>
              <a:rPr lang="en-US" b="true" i="false" strike="noStrike" u="none" sz="1400">
                <a:solidFill>
                  <a:srgbClr val="10B981"/>
                </a:solidFill>
                <a:latin typeface="Noto Sans SC"/>
                <a:ea typeface="Noto Sans SC"/>
                <a:cs typeface="Noto Sans SC"/>
                <a:sym typeface="Noto Sans SC"/>
              </a:rPr>
              <a:t>已验证 (✅)</a:t>
            </a:r>
            <a:endParaRPr lang="en-US" sz="1100"/>
          </a:p>
        </p:txBody>
      </p:sp>
      <p:sp>
        <p:nvSpPr>
          <p:cNvPr name="AutoShape 9" id="9"/>
          <p:cNvSpPr/>
          <p:nvPr/>
        </p:nvSpPr>
        <p:spPr>
          <a:xfrm rot="0" flipH="false" flipV="false">
            <a:off x="1397000" y="2794000"/>
            <a:ext cx="4318000" cy="508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t" rtlCol="false" anchorCtr="false" vert="horz" wrap="square" lIns="0" rIns="0" tIns="0" bIns="0"/>
          <a:lstStyle/>
          <a:p>
            <a:pPr algn="l" indent="0">
              <a:lnSpc>
                <a:spcPct val="108333"/>
              </a:lnSpc>
              <a:defRPr/>
            </a:pPr>
            <a:r>
              <a:rPr lang="en-US" b="false" i="false" strike="noStrike" u="none" sz="1200">
                <a:solidFill>
                  <a:srgbClr val="D1D5DB"/>
                </a:solidFill>
                <a:latin typeface="Noto Sans SC"/>
                <a:ea typeface="Noto Sans SC"/>
                <a:cs typeface="Noto Sans SC"/>
                <a:sym typeface="Noto Sans SC"/>
              </a:rPr>
              <a:t>Java SDK的AST解析、轻量级索引集成、需求开发初步能力。</a:t>
            </a:r>
            <a:endParaRPr lang="en-US" sz="1100"/>
          </a:p>
        </p:txBody>
      </p:sp>
      <p:pic>
        <p:nvPicPr>
          <p:cNvPr name="Picture 10" id="10"/>
          <p:cNvPicPr>
            <a:picLocks noChangeAspect="true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 rot="0" flipH="false" flipV="false">
            <a:off x="1016000" y="3683000"/>
            <a:ext cx="254000" cy="254000"/>
          </a:xfrm>
          <a:prstGeom prst="rect">
            <a:avLst/>
          </a:prstGeom>
        </p:spPr>
      </p:pic>
      <p:sp>
        <p:nvSpPr>
          <p:cNvPr name="AutoShape 11" id="11"/>
          <p:cNvSpPr/>
          <p:nvPr/>
        </p:nvSpPr>
        <p:spPr>
          <a:xfrm rot="0" flipH="false" flipV="false">
            <a:off x="1397000" y="3657600"/>
            <a:ext cx="4318000" cy="3048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indent="0">
              <a:lnSpc>
                <a:spcPct val="125000"/>
              </a:lnSpc>
              <a:defRPr/>
            </a:pPr>
            <a:r>
              <a:rPr lang="en-US" b="true" i="false" strike="noStrike" u="none" sz="1400">
                <a:solidFill>
                  <a:srgbClr val="F59E0B"/>
                </a:solidFill>
                <a:latin typeface="Noto Sans SC"/>
                <a:ea typeface="Noto Sans SC"/>
                <a:cs typeface="Noto Sans SC"/>
                <a:sym typeface="Noto Sans SC"/>
              </a:rPr>
              <a:t>待验证 (🔍)</a:t>
            </a:r>
            <a:endParaRPr lang="en-US" sz="1100"/>
          </a:p>
        </p:txBody>
      </p:sp>
      <p:sp>
        <p:nvSpPr>
          <p:cNvPr name="AutoShape 12" id="12"/>
          <p:cNvSpPr/>
          <p:nvPr/>
        </p:nvSpPr>
        <p:spPr>
          <a:xfrm rot="0" flipH="false" flipV="false">
            <a:off x="1397000" y="4000500"/>
            <a:ext cx="4318000" cy="508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t" rtlCol="false" anchorCtr="false" vert="horz" wrap="square" lIns="0" rIns="0" tIns="0" bIns="0"/>
          <a:lstStyle/>
          <a:p>
            <a:pPr algn="l" indent="0">
              <a:lnSpc>
                <a:spcPct val="108333"/>
              </a:lnSpc>
              <a:defRPr/>
            </a:pPr>
            <a:r>
              <a:rPr lang="en-US" b="false" i="false" strike="noStrike" u="none" sz="1200">
                <a:solidFill>
                  <a:srgbClr val="D1D5DB"/>
                </a:solidFill>
                <a:latin typeface="Noto Sans SC"/>
                <a:ea typeface="Noto Sans SC"/>
                <a:cs typeface="Noto Sans SC"/>
                <a:sym typeface="Noto Sans SC"/>
              </a:rPr>
              <a:t>多种文档类型解析效果、代码规范强约束效果、问题定位和代码检视场景。</a:t>
            </a:r>
            <a:endParaRPr lang="en-US" sz="1100"/>
          </a:p>
        </p:txBody>
      </p:sp>
      <p:pic>
        <p:nvPicPr>
          <p:cNvPr name="Picture 13" id="13"/>
          <p:cNvPicPr>
            <a:picLocks noChangeAspect="true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 rot="0" flipH="false" flipV="false">
            <a:off x="1016000" y="4889500"/>
            <a:ext cx="254000" cy="254000"/>
          </a:xfrm>
          <a:prstGeom prst="rect">
            <a:avLst/>
          </a:prstGeom>
        </p:spPr>
      </p:pic>
      <p:sp>
        <p:nvSpPr>
          <p:cNvPr name="AutoShape 14" id="14"/>
          <p:cNvSpPr/>
          <p:nvPr/>
        </p:nvSpPr>
        <p:spPr>
          <a:xfrm rot="0" flipH="false" flipV="false">
            <a:off x="1397000" y="4864100"/>
            <a:ext cx="4318000" cy="3048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indent="0">
              <a:lnSpc>
                <a:spcPct val="125000"/>
              </a:lnSpc>
              <a:defRPr/>
            </a:pPr>
            <a:r>
              <a:rPr lang="en-US" b="true" i="false" strike="noStrike" u="none" sz="1400">
                <a:solidFill>
                  <a:srgbClr val="60A5FA"/>
                </a:solidFill>
                <a:latin typeface="Noto Sans SC"/>
                <a:ea typeface="Noto Sans SC"/>
                <a:cs typeface="Noto Sans SC"/>
                <a:sym typeface="Noto Sans SC"/>
              </a:rPr>
              <a:t>待实现 (⏳)</a:t>
            </a:r>
            <a:endParaRPr lang="en-US" sz="1100"/>
          </a:p>
        </p:txBody>
      </p:sp>
      <p:sp>
        <p:nvSpPr>
          <p:cNvPr name="AutoShape 15" id="15"/>
          <p:cNvSpPr/>
          <p:nvPr/>
        </p:nvSpPr>
        <p:spPr>
          <a:xfrm rot="0" flipH="false" flipV="false">
            <a:off x="1397000" y="5207000"/>
            <a:ext cx="4318000" cy="762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t" rtlCol="false" anchorCtr="false" vert="horz" wrap="square" lIns="0" rIns="0" tIns="0" bIns="0"/>
          <a:lstStyle/>
          <a:p>
            <a:pPr algn="l" indent="0">
              <a:lnSpc>
                <a:spcPct val="108333"/>
              </a:lnSpc>
              <a:defRPr/>
            </a:pPr>
            <a:r>
              <a:rPr lang="en-US" b="false" i="false" strike="noStrike" u="none" sz="1200">
                <a:solidFill>
                  <a:srgbClr val="D1D5DB"/>
                </a:solidFill>
                <a:latin typeface="Noto Sans SC"/>
                <a:ea typeface="Noto Sans SC"/>
                <a:cs typeface="Noto Sans SC"/>
                <a:sym typeface="Noto Sans SC"/>
              </a:rPr>
              <a:t>跨文件变量级依赖分析、生产级后端部署、Cross-BERT重排序模型、知识库管理工具。</a:t>
            </a:r>
            <a:endParaRPr lang="en-US" sz="1100"/>
          </a:p>
        </p:txBody>
      </p:sp>
      <p:sp>
        <p:nvSpPr>
          <p:cNvPr name="AutoShape 16" id="16"/>
          <p:cNvSpPr/>
          <p:nvPr/>
        </p:nvSpPr>
        <p:spPr>
          <a:xfrm rot="0" flipH="false" flipV="false">
            <a:off x="6223000" y="1524000"/>
            <a:ext cx="5207000" cy="4826000"/>
          </a:xfrm>
          <a:prstGeom prst="roundRect">
            <a:avLst>
              <a:gd name="adj" fmla="val 3157"/>
            </a:avLst>
          </a:prstGeom>
          <a:solidFill>
            <a:srgbClr val="1F2937">
              <a:alpha val="60000"/>
            </a:srgbClr>
          </a:solidFill>
          <a:ln w="12700" cmpd="sng" cap="flat">
            <a:solidFill>
              <a:srgbClr val="4B5563">
                <a:alpha val="80000"/>
              </a:srgbClr>
            </a:solidFill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sp>
        <p:nvSpPr>
          <p:cNvPr name="AutoShape 17" id="17"/>
          <p:cNvSpPr/>
          <p:nvPr/>
        </p:nvSpPr>
        <p:spPr>
          <a:xfrm rot="0" flipH="false" flipV="false">
            <a:off x="6477000" y="1778000"/>
            <a:ext cx="4699000" cy="381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indent="0">
              <a:lnSpc>
                <a:spcPct val="125000"/>
              </a:lnSpc>
              <a:defRPr/>
            </a:pPr>
            <a:r>
              <a:rPr lang="en-US" b="true" i="false" strike="noStrike" u="none" sz="1800">
                <a:solidFill>
                  <a:srgbClr val="F3F4F6"/>
                </a:solidFill>
                <a:latin typeface="Noto Sans SC"/>
                <a:ea typeface="Noto Sans SC"/>
                <a:cs typeface="Noto Sans SC"/>
                <a:sym typeface="Noto Sans SC"/>
              </a:rPr>
              <a:t>下一步关键任务 (Pilot阶段)</a:t>
            </a:r>
            <a:endParaRPr lang="en-US" sz="1100"/>
          </a:p>
        </p:txBody>
      </p:sp>
      <p:cxnSp>
        <p:nvCxnSpPr>
          <p:cNvPr name="Connector 18" id="18"/>
          <p:cNvCxnSpPr/>
          <p:nvPr/>
        </p:nvCxnSpPr>
        <p:spPr>
          <a:xfrm rot="-9291" flipH="false" flipV="false">
            <a:off x="6477009" y="2216150"/>
            <a:ext cx="4699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mpd="sng" cap="flat">
            <a:solidFill>
              <a:srgbClr val="4B5563">
                <a:alpha val="6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name="AutoShape 19" id="19"/>
          <p:cNvSpPr/>
          <p:nvPr/>
        </p:nvSpPr>
        <p:spPr>
          <a:xfrm rot="0" flipH="false" flipV="false">
            <a:off x="6477000" y="2413000"/>
            <a:ext cx="4699000" cy="381000"/>
          </a:xfrm>
          <a:prstGeom prst="roundRect">
            <a:avLst>
              <a:gd name="adj" fmla="val 13333"/>
            </a:avLst>
          </a:prstGeom>
          <a:solidFill>
            <a:srgbClr val="2DD4BF">
              <a:alpha val="15000"/>
            </a:srgbClr>
          </a:solidFill>
          <a:ln w="25400" cmpd="sng" cap="flat">
            <a:noFill/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sp>
        <p:nvSpPr>
          <p:cNvPr name="AutoShape 20" id="20"/>
          <p:cNvSpPr/>
          <p:nvPr/>
        </p:nvSpPr>
        <p:spPr>
          <a:xfrm rot="0" flipH="false" flipV="false">
            <a:off x="6604000" y="2413000"/>
            <a:ext cx="1016000" cy="381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indent="0">
              <a:lnSpc>
                <a:spcPct val="125000"/>
              </a:lnSpc>
              <a:defRPr/>
            </a:pPr>
            <a:r>
              <a:rPr lang="en-US" b="true" i="false" strike="noStrike" u="none" sz="1200">
                <a:solidFill>
                  <a:srgbClr val="2DD4BF"/>
                </a:solidFill>
                <a:latin typeface="Noto Sans SC"/>
                <a:ea typeface="Noto Sans SC"/>
                <a:cs typeface="Noto Sans SC"/>
                <a:sym typeface="Noto Sans SC"/>
              </a:rPr>
              <a:t>优先级</a:t>
            </a:r>
            <a:endParaRPr lang="en-US" sz="1100"/>
          </a:p>
        </p:txBody>
      </p:sp>
      <p:sp>
        <p:nvSpPr>
          <p:cNvPr name="AutoShape 21" id="21"/>
          <p:cNvSpPr/>
          <p:nvPr/>
        </p:nvSpPr>
        <p:spPr>
          <a:xfrm rot="0" flipH="false" flipV="false">
            <a:off x="7747000" y="2413000"/>
            <a:ext cx="3429000" cy="381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indent="0">
              <a:lnSpc>
                <a:spcPct val="125000"/>
              </a:lnSpc>
              <a:defRPr/>
            </a:pPr>
            <a:r>
              <a:rPr lang="en-US" b="true" i="false" strike="noStrike" u="none" sz="1200">
                <a:solidFill>
                  <a:srgbClr val="2DD4BF"/>
                </a:solidFill>
                <a:latin typeface="Noto Sans SC"/>
                <a:ea typeface="Noto Sans SC"/>
                <a:cs typeface="Noto Sans SC"/>
                <a:sym typeface="Noto Sans SC"/>
              </a:rPr>
              <a:t>关键任务项</a:t>
            </a:r>
            <a:endParaRPr lang="en-US" sz="1100"/>
          </a:p>
        </p:txBody>
      </p:sp>
      <p:sp>
        <p:nvSpPr>
          <p:cNvPr name="AutoShape 22" id="22"/>
          <p:cNvSpPr/>
          <p:nvPr/>
        </p:nvSpPr>
        <p:spPr>
          <a:xfrm rot="0" flipH="false" flipV="false">
            <a:off x="6604000" y="2984500"/>
            <a:ext cx="889000" cy="304800"/>
          </a:xfrm>
          <a:prstGeom prst="roundRect">
            <a:avLst>
              <a:gd name="adj" fmla="val 16666"/>
            </a:avLst>
          </a:prstGeom>
          <a:solidFill>
            <a:srgbClr val="EF4444">
              <a:alpha val="20000"/>
            </a:srgbClr>
          </a:solidFill>
          <a:ln w="12700" cmpd="sng" cap="flat">
            <a:solidFill>
              <a:srgbClr val="EF4444">
                <a:alpha val="50000"/>
              </a:srgbClr>
            </a:solidFill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sp>
        <p:nvSpPr>
          <p:cNvPr name="AutoShape 23" id="23"/>
          <p:cNvSpPr/>
          <p:nvPr/>
        </p:nvSpPr>
        <p:spPr>
          <a:xfrm rot="0" flipH="false" flipV="false">
            <a:off x="6604000" y="2984500"/>
            <a:ext cx="889000" cy="3048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 indent="0">
              <a:lnSpc>
                <a:spcPct val="125000"/>
              </a:lnSpc>
              <a:defRPr/>
            </a:pPr>
            <a:r>
              <a:rPr lang="en-US" b="true" i="false" strike="noStrike" u="none" sz="1100">
                <a:solidFill>
                  <a:srgbClr val="F87171"/>
                </a:solidFill>
                <a:latin typeface="Noto Sans SC"/>
                <a:ea typeface="Noto Sans SC"/>
                <a:cs typeface="Noto Sans SC"/>
                <a:sym typeface="Noto Sans SC"/>
              </a:rPr>
              <a:t>HIGH</a:t>
            </a:r>
            <a:endParaRPr lang="en-US" sz="1100"/>
          </a:p>
        </p:txBody>
      </p:sp>
      <p:sp>
        <p:nvSpPr>
          <p:cNvPr name="AutoShape 24" id="24"/>
          <p:cNvSpPr/>
          <p:nvPr/>
        </p:nvSpPr>
        <p:spPr>
          <a:xfrm rot="0" flipH="false" flipV="false">
            <a:off x="7747000" y="2984500"/>
            <a:ext cx="3556000" cy="3048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indent="0">
              <a:lnSpc>
                <a:spcPct val="125000"/>
              </a:lnSpc>
              <a:defRPr/>
            </a:pPr>
            <a:r>
              <a:rPr lang="en-US" b="false" i="false" strike="noStrike" u="none" sz="1300">
                <a:solidFill>
                  <a:srgbClr val="F3F4F6"/>
                </a:solidFill>
                <a:latin typeface="Noto Sans SC"/>
                <a:ea typeface="Noto Sans SC"/>
                <a:cs typeface="Noto Sans SC"/>
                <a:sym typeface="Noto Sans SC"/>
              </a:rPr>
              <a:t>P1: 企业私域数据准备</a:t>
            </a:r>
            <a:endParaRPr lang="en-US" sz="1100"/>
          </a:p>
        </p:txBody>
      </p:sp>
      <p:cxnSp>
        <p:nvCxnSpPr>
          <p:cNvPr name="Connector 25" id="25"/>
          <p:cNvCxnSpPr/>
          <p:nvPr/>
        </p:nvCxnSpPr>
        <p:spPr>
          <a:xfrm rot="-9291" flipH="false" flipV="false">
            <a:off x="6477009" y="3422650"/>
            <a:ext cx="4699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mpd="sng" cap="flat">
            <a:solidFill>
              <a:srgbClr val="4B5563">
                <a:alpha val="40000"/>
              </a:srgbClr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name="AutoShape 26" id="26"/>
          <p:cNvSpPr/>
          <p:nvPr/>
        </p:nvSpPr>
        <p:spPr>
          <a:xfrm rot="0" flipH="false" flipV="false">
            <a:off x="6604000" y="3556000"/>
            <a:ext cx="889000" cy="304800"/>
          </a:xfrm>
          <a:prstGeom prst="roundRect">
            <a:avLst>
              <a:gd name="adj" fmla="val 16666"/>
            </a:avLst>
          </a:prstGeom>
          <a:solidFill>
            <a:srgbClr val="EF4444">
              <a:alpha val="20000"/>
            </a:srgbClr>
          </a:solidFill>
          <a:ln w="12700" cmpd="sng" cap="flat">
            <a:solidFill>
              <a:srgbClr val="EF4444">
                <a:alpha val="50000"/>
              </a:srgbClr>
            </a:solidFill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sp>
        <p:nvSpPr>
          <p:cNvPr name="AutoShape 27" id="27"/>
          <p:cNvSpPr/>
          <p:nvPr/>
        </p:nvSpPr>
        <p:spPr>
          <a:xfrm rot="0" flipH="false" flipV="false">
            <a:off x="6604000" y="3556000"/>
            <a:ext cx="889000" cy="3048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 indent="0">
              <a:lnSpc>
                <a:spcPct val="125000"/>
              </a:lnSpc>
              <a:defRPr/>
            </a:pPr>
            <a:r>
              <a:rPr lang="en-US" b="true" i="false" strike="noStrike" u="none" sz="1100">
                <a:solidFill>
                  <a:srgbClr val="F87171"/>
                </a:solidFill>
                <a:latin typeface="Noto Sans SC"/>
                <a:ea typeface="Noto Sans SC"/>
                <a:cs typeface="Noto Sans SC"/>
                <a:sym typeface="Noto Sans SC"/>
              </a:rPr>
              <a:t>HIGH</a:t>
            </a:r>
            <a:endParaRPr lang="en-US" sz="1100"/>
          </a:p>
        </p:txBody>
      </p:sp>
      <p:sp>
        <p:nvSpPr>
          <p:cNvPr name="AutoShape 28" id="28"/>
          <p:cNvSpPr/>
          <p:nvPr/>
        </p:nvSpPr>
        <p:spPr>
          <a:xfrm rot="0" flipH="false" flipV="false">
            <a:off x="7747000" y="3556000"/>
            <a:ext cx="3556000" cy="3048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indent="0">
              <a:lnSpc>
                <a:spcPct val="125000"/>
              </a:lnSpc>
              <a:defRPr/>
            </a:pPr>
            <a:r>
              <a:rPr lang="en-US" b="false" i="false" strike="noStrike" u="none" sz="1300">
                <a:solidFill>
                  <a:srgbClr val="F3F4F6"/>
                </a:solidFill>
                <a:latin typeface="Noto Sans SC"/>
                <a:ea typeface="Noto Sans SC"/>
                <a:cs typeface="Noto Sans SC"/>
                <a:sym typeface="Noto Sans SC"/>
              </a:rPr>
              <a:t>P8: 全链路端到端验证</a:t>
            </a:r>
            <a:endParaRPr lang="en-US" sz="1100"/>
          </a:p>
        </p:txBody>
      </p:sp>
      <p:cxnSp>
        <p:nvCxnSpPr>
          <p:cNvPr name="Connector 29" id="29"/>
          <p:cNvCxnSpPr/>
          <p:nvPr/>
        </p:nvCxnSpPr>
        <p:spPr>
          <a:xfrm rot="-9291" flipH="false" flipV="false">
            <a:off x="6477009" y="3994150"/>
            <a:ext cx="4699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mpd="sng" cap="flat">
            <a:solidFill>
              <a:srgbClr val="4B5563">
                <a:alpha val="40000"/>
              </a:srgbClr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name="AutoShape 30" id="30"/>
          <p:cNvSpPr/>
          <p:nvPr/>
        </p:nvSpPr>
        <p:spPr>
          <a:xfrm rot="0" flipH="false" flipV="false">
            <a:off x="6604000" y="4127500"/>
            <a:ext cx="889000" cy="304800"/>
          </a:xfrm>
          <a:prstGeom prst="roundRect">
            <a:avLst>
              <a:gd name="adj" fmla="val 16666"/>
            </a:avLst>
          </a:prstGeom>
          <a:solidFill>
            <a:srgbClr val="F59E0B">
              <a:alpha val="15000"/>
            </a:srgbClr>
          </a:solidFill>
          <a:ln w="12700" cmpd="sng" cap="flat">
            <a:solidFill>
              <a:srgbClr val="F59E0B">
                <a:alpha val="40000"/>
              </a:srgbClr>
            </a:solidFill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sp>
        <p:nvSpPr>
          <p:cNvPr name="AutoShape 31" id="31"/>
          <p:cNvSpPr/>
          <p:nvPr/>
        </p:nvSpPr>
        <p:spPr>
          <a:xfrm rot="0" flipH="false" flipV="false">
            <a:off x="6604000" y="4127500"/>
            <a:ext cx="889000" cy="3048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 indent="0">
              <a:lnSpc>
                <a:spcPct val="125000"/>
              </a:lnSpc>
              <a:defRPr/>
            </a:pPr>
            <a:r>
              <a:rPr lang="en-US" b="true" i="false" strike="noStrike" u="none" sz="1000">
                <a:solidFill>
                  <a:srgbClr val="FBBF24"/>
                </a:solidFill>
                <a:latin typeface="Noto Sans SC"/>
                <a:ea typeface="Noto Sans SC"/>
                <a:cs typeface="Noto Sans SC"/>
                <a:sym typeface="Noto Sans SC"/>
              </a:rPr>
              <a:t>MEDIUM</a:t>
            </a:r>
            <a:endParaRPr lang="en-US" sz="1100"/>
          </a:p>
        </p:txBody>
      </p:sp>
      <p:sp>
        <p:nvSpPr>
          <p:cNvPr name="AutoShape 32" id="32"/>
          <p:cNvSpPr/>
          <p:nvPr/>
        </p:nvSpPr>
        <p:spPr>
          <a:xfrm rot="0" flipH="false" flipV="false">
            <a:off x="7747000" y="4127500"/>
            <a:ext cx="3556000" cy="3048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indent="0">
              <a:lnSpc>
                <a:spcPct val="125000"/>
              </a:lnSpc>
              <a:defRPr/>
            </a:pPr>
            <a:r>
              <a:rPr lang="en-US" b="false" i="false" strike="noStrike" u="none" sz="1300">
                <a:solidFill>
                  <a:srgbClr val="D1D5DB"/>
                </a:solidFill>
                <a:latin typeface="Noto Sans SC"/>
                <a:ea typeface="Noto Sans SC"/>
                <a:cs typeface="Noto Sans SC"/>
                <a:sym typeface="Noto Sans SC"/>
              </a:rPr>
              <a:t>P2: JSON API文档Loader &amp; P3: Python SDK AST解析</a:t>
            </a:r>
            <a:endParaRPr lang="en-US" sz="1100"/>
          </a:p>
        </p:txBody>
      </p:sp>
      <p:cxnSp>
        <p:nvCxnSpPr>
          <p:cNvPr name="Connector 33" id="33"/>
          <p:cNvCxnSpPr/>
          <p:nvPr/>
        </p:nvCxnSpPr>
        <p:spPr>
          <a:xfrm rot="-9291" flipH="false" flipV="false">
            <a:off x="6477009" y="4565650"/>
            <a:ext cx="4699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mpd="sng" cap="flat">
            <a:solidFill>
              <a:srgbClr val="4B5563">
                <a:alpha val="40000"/>
              </a:srgbClr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name="AutoShape 34" id="34"/>
          <p:cNvSpPr/>
          <p:nvPr/>
        </p:nvSpPr>
        <p:spPr>
          <a:xfrm rot="0" flipH="false" flipV="false">
            <a:off x="6604000" y="4699000"/>
            <a:ext cx="889000" cy="304800"/>
          </a:xfrm>
          <a:prstGeom prst="roundRect">
            <a:avLst>
              <a:gd name="adj" fmla="val 16666"/>
            </a:avLst>
          </a:prstGeom>
          <a:solidFill>
            <a:srgbClr val="F59E0B">
              <a:alpha val="15000"/>
            </a:srgbClr>
          </a:solidFill>
          <a:ln w="12700" cmpd="sng" cap="flat">
            <a:solidFill>
              <a:srgbClr val="F59E0B">
                <a:alpha val="40000"/>
              </a:srgbClr>
            </a:solidFill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sp>
        <p:nvSpPr>
          <p:cNvPr name="AutoShape 35" id="35"/>
          <p:cNvSpPr/>
          <p:nvPr/>
        </p:nvSpPr>
        <p:spPr>
          <a:xfrm rot="0" flipH="false" flipV="false">
            <a:off x="6604000" y="4699000"/>
            <a:ext cx="889000" cy="3048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 indent="0">
              <a:lnSpc>
                <a:spcPct val="125000"/>
              </a:lnSpc>
              <a:defRPr/>
            </a:pPr>
            <a:r>
              <a:rPr lang="en-US" b="true" i="false" strike="noStrike" u="none" sz="1000">
                <a:solidFill>
                  <a:srgbClr val="FBBF24"/>
                </a:solidFill>
                <a:latin typeface="Noto Sans SC"/>
                <a:ea typeface="Noto Sans SC"/>
                <a:cs typeface="Noto Sans SC"/>
                <a:sym typeface="Noto Sans SC"/>
              </a:rPr>
              <a:t>MEDIUM</a:t>
            </a:r>
            <a:endParaRPr lang="en-US" sz="1100"/>
          </a:p>
        </p:txBody>
      </p:sp>
      <p:sp>
        <p:nvSpPr>
          <p:cNvPr name="AutoShape 36" id="36"/>
          <p:cNvSpPr/>
          <p:nvPr/>
        </p:nvSpPr>
        <p:spPr>
          <a:xfrm rot="0" flipH="false" flipV="false">
            <a:off x="7747000" y="4699000"/>
            <a:ext cx="3556000" cy="3048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indent="0">
              <a:lnSpc>
                <a:spcPct val="125000"/>
              </a:lnSpc>
              <a:defRPr/>
            </a:pPr>
            <a:r>
              <a:rPr lang="en-US" b="false" i="false" strike="noStrike" u="none" sz="1300">
                <a:solidFill>
                  <a:srgbClr val="D1D5DB"/>
                </a:solidFill>
                <a:latin typeface="Noto Sans SC"/>
                <a:ea typeface="Noto Sans SC"/>
                <a:cs typeface="Noto Sans SC"/>
                <a:sym typeface="Noto Sans SC"/>
              </a:rPr>
              <a:t>P5: 生产后端部署对接</a:t>
            </a:r>
            <a:endParaRPr lang="en-US" sz="1100"/>
          </a:p>
        </p:txBody>
      </p:sp>
      <p:cxnSp>
        <p:nvCxnSpPr>
          <p:cNvPr name="Connector 37" id="37"/>
          <p:cNvCxnSpPr/>
          <p:nvPr/>
        </p:nvCxnSpPr>
        <p:spPr>
          <a:xfrm rot="-9291" flipH="false" flipV="false">
            <a:off x="6477009" y="5137150"/>
            <a:ext cx="4699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mpd="sng" cap="flat">
            <a:solidFill>
              <a:srgbClr val="4B5563">
                <a:alpha val="40000"/>
              </a:srgbClr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name="AutoShape 38" id="38"/>
          <p:cNvSpPr/>
          <p:nvPr/>
        </p:nvSpPr>
        <p:spPr>
          <a:xfrm rot="0" flipH="false" flipV="false">
            <a:off x="6604000" y="5270500"/>
            <a:ext cx="889000" cy="304800"/>
          </a:xfrm>
          <a:prstGeom prst="roundRect">
            <a:avLst>
              <a:gd name="adj" fmla="val 16666"/>
            </a:avLst>
          </a:prstGeom>
          <a:solidFill>
            <a:srgbClr val="F59E0B">
              <a:alpha val="15000"/>
            </a:srgbClr>
          </a:solidFill>
          <a:ln w="12700" cmpd="sng" cap="flat">
            <a:solidFill>
              <a:srgbClr val="F59E0B">
                <a:alpha val="40000"/>
              </a:srgbClr>
            </a:solidFill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sp>
        <p:nvSpPr>
          <p:cNvPr name="AutoShape 39" id="39"/>
          <p:cNvSpPr/>
          <p:nvPr/>
        </p:nvSpPr>
        <p:spPr>
          <a:xfrm rot="0" flipH="false" flipV="false">
            <a:off x="6604000" y="5270500"/>
            <a:ext cx="889000" cy="3048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 indent="0">
              <a:lnSpc>
                <a:spcPct val="125000"/>
              </a:lnSpc>
              <a:defRPr/>
            </a:pPr>
            <a:r>
              <a:rPr lang="en-US" b="true" i="false" strike="noStrike" u="none" sz="1000">
                <a:solidFill>
                  <a:srgbClr val="FBBF24"/>
                </a:solidFill>
                <a:latin typeface="Noto Sans SC"/>
                <a:ea typeface="Noto Sans SC"/>
                <a:cs typeface="Noto Sans SC"/>
                <a:sym typeface="Noto Sans SC"/>
              </a:rPr>
              <a:t>MEDIUM</a:t>
            </a:r>
            <a:endParaRPr lang="en-US" sz="1100"/>
          </a:p>
        </p:txBody>
      </p:sp>
      <p:sp>
        <p:nvSpPr>
          <p:cNvPr name="AutoShape 40" id="40"/>
          <p:cNvSpPr/>
          <p:nvPr/>
        </p:nvSpPr>
        <p:spPr>
          <a:xfrm rot="0" flipH="false" flipV="false">
            <a:off x="7747000" y="5270500"/>
            <a:ext cx="3556000" cy="3048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indent="0">
              <a:lnSpc>
                <a:spcPct val="125000"/>
              </a:lnSpc>
              <a:defRPr/>
            </a:pPr>
            <a:r>
              <a:rPr lang="en-US" b="false" i="false" strike="noStrike" u="none" sz="1300">
                <a:solidFill>
                  <a:srgbClr val="D1D5DB"/>
                </a:solidFill>
                <a:latin typeface="Noto Sans SC"/>
                <a:ea typeface="Noto Sans SC"/>
                <a:cs typeface="Noto Sans SC"/>
                <a:sym typeface="Noto Sans SC"/>
              </a:rPr>
              <a:t>P9: 反馈闭环权重调整</a:t>
            </a:r>
            <a:endParaRPr lang="en-US" sz="1100"/>
          </a:p>
        </p:txBody>
      </p:sp>
    </p:spTree>
  </p:cSld>
  <p:clrMapOvr>
    <a:masterClrMapping/>
  </p:clrMapOvr>
</p:sld>
</file>

<file path=ppt/slides/slide1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blipFill dpi="0" rotWithShape="true">
          <a:blip r:embed="rId2">
            <a:lum/>
          </a:blip>
          <a:srcRect/>
          <a:stretch>
            <a:fillRect l="0" t="0" r="0" b="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 rot="0" flipH="false" flipV="false">
            <a:off x="0" y="0"/>
            <a:ext cx="12192000" cy="6858000"/>
          </a:xfrm>
          <a:prstGeom prst="roundRect">
            <a:avLst>
              <a:gd name="adj" fmla="val 0"/>
            </a:avLst>
          </a:prstGeom>
          <a:solidFill>
            <a:srgbClr val="0F172A">
              <a:alpha val="75000"/>
            </a:srgbClr>
          </a:solidFill>
          <a:ln w="25400" cmpd="sng" cap="flat">
            <a:noFill/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sp>
        <p:nvSpPr>
          <p:cNvPr name="AutoShape 3" id="3"/>
          <p:cNvSpPr/>
          <p:nvPr/>
        </p:nvSpPr>
        <p:spPr>
          <a:xfrm rot="0" flipH="false" flipV="false">
            <a:off x="1016000" y="1524000"/>
            <a:ext cx="5080000" cy="6096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indent="0">
              <a:lnSpc>
                <a:spcPct val="125000"/>
              </a:lnSpc>
              <a:defRPr/>
            </a:pPr>
            <a:r>
              <a:rPr lang="en-US" b="true" i="false" strike="noStrike" u="none" sz="3200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总结与展望</a:t>
            </a:r>
            <a:endParaRPr lang="en-US" sz="1100"/>
          </a:p>
        </p:txBody>
      </p:sp>
      <p:sp>
        <p:nvSpPr>
          <p:cNvPr name="AutoShape 4" id="4"/>
          <p:cNvSpPr/>
          <p:nvPr/>
        </p:nvSpPr>
        <p:spPr>
          <a:xfrm rot="0" flipH="false" flipV="false">
            <a:off x="1016000" y="2413000"/>
            <a:ext cx="4826000" cy="3302000"/>
          </a:xfrm>
          <a:prstGeom prst="roundRect">
            <a:avLst>
              <a:gd name="adj" fmla="val 4615"/>
            </a:avLst>
          </a:prstGeom>
          <a:solidFill>
            <a:srgbClr val="FFFFFF">
              <a:alpha val="8000"/>
            </a:srgbClr>
          </a:solidFill>
          <a:ln w="12700" cmpd="sng" cap="flat">
            <a:solidFill>
              <a:srgbClr val="2DD4BF">
                <a:alpha val="30000"/>
              </a:srgbClr>
            </a:solidFill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pic>
        <p:nvPicPr>
          <p:cNvPr name="Picture 5" id="5"/>
          <p:cNvPicPr>
            <a:picLocks noChangeAspect="true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 rot="0" flipH="false" flipV="false">
            <a:off x="1320800" y="2717800"/>
            <a:ext cx="304800" cy="304800"/>
          </a:xfrm>
          <a:prstGeom prst="rect">
            <a:avLst/>
          </a:prstGeom>
        </p:spPr>
      </p:pic>
      <p:sp>
        <p:nvSpPr>
          <p:cNvPr name="AutoShape 6" id="6"/>
          <p:cNvSpPr/>
          <p:nvPr/>
        </p:nvSpPr>
        <p:spPr>
          <a:xfrm rot="0" flipH="false" flipV="false">
            <a:off x="1727200" y="2692400"/>
            <a:ext cx="3810000" cy="3556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indent="0">
              <a:lnSpc>
                <a:spcPct val="125000"/>
              </a:lnSpc>
              <a:defRPr/>
            </a:pPr>
            <a:r>
              <a:rPr lang="en-US" b="true" i="false" strike="noStrike" u="none" sz="1800">
                <a:solidFill>
                  <a:srgbClr val="2DD4BF"/>
                </a:solidFill>
                <a:latin typeface="Noto Sans SC"/>
                <a:ea typeface="Noto Sans SC"/>
                <a:cs typeface="Noto Sans SC"/>
                <a:sym typeface="Noto Sans SC"/>
              </a:rPr>
              <a:t>项目价值总结</a:t>
            </a:r>
            <a:endParaRPr lang="en-US" sz="1100"/>
          </a:p>
        </p:txBody>
      </p:sp>
      <p:cxnSp>
        <p:nvCxnSpPr>
          <p:cNvPr name="Connector 7" id="7"/>
          <p:cNvCxnSpPr/>
          <p:nvPr/>
        </p:nvCxnSpPr>
        <p:spPr>
          <a:xfrm rot="-10354" flipH="false" flipV="false">
            <a:off x="1320810" y="3168650"/>
            <a:ext cx="42164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mpd="sng" cap="flat">
            <a:solidFill>
              <a:srgbClr val="FFFFFF">
                <a:alpha val="15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name="AutoShape 8" id="8"/>
          <p:cNvSpPr/>
          <p:nvPr/>
        </p:nvSpPr>
        <p:spPr>
          <a:xfrm rot="0" flipH="false" flipV="false">
            <a:off x="1320800" y="3302000"/>
            <a:ext cx="4216400" cy="2286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t" rtlCol="false" anchorCtr="false" vert="horz" wrap="square" lIns="0" rIns="0" tIns="0" bIns="0"/>
          <a:lstStyle/>
          <a:p>
            <a:pPr algn="l" indent="0">
              <a:lnSpc>
                <a:spcPct val="125000"/>
              </a:lnSpc>
              <a:defRPr/>
            </a:pPr>
            <a:r>
              <a:rPr lang="en-US" b="false" i="false" strike="noStrike" u="none" sz="1300">
                <a:solidFill>
                  <a:srgbClr val="E5E7EB"/>
                </a:solidFill>
                <a:latin typeface="Noto Sans SC"/>
                <a:ea typeface="Noto Sans SC"/>
                <a:cs typeface="Noto Sans SC"/>
                <a:sym typeface="Noto Sans SC"/>
              </a:rPr>
              <a:t>•</a:t>
            </a:r>
            <a:r>
              <a:rPr lang="en-US" b="true" i="false" strike="noStrike" u="none" sz="1300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提升开发效率：</a:t>
            </a:r>
            <a:r>
              <a:rPr lang="en-US" b="false" i="false" strike="noStrike" u="none" sz="1200">
                <a:solidFill>
                  <a:srgbClr val="D1D5DB"/>
                </a:solidFill>
                <a:latin typeface="Noto Sans SC"/>
                <a:ea typeface="Noto Sans SC"/>
                <a:cs typeface="Noto Sans SC"/>
                <a:sym typeface="Noto Sans SC"/>
              </a:rPr>
              <a:t>减少重复劳动和调试时间，聚焦核心业务逻辑。</a:t>
            </a:r>
            <a:r>
              <a:rPr lang="en-US" b="false" i="false" strike="noStrike" u="none" sz="1600">
                <a:solidFill>
                  <a:srgbClr val="1F2329"/>
                </a:solidFill>
                <a:latin typeface="Noto Sans SC"/>
                <a:ea typeface="Noto Sans SC"/>
                <a:cs typeface="Noto Sans SC"/>
                <a:sym typeface="Noto Sans SC"/>
              </a:rPr>
              <a:t/>
            </a:r>
            <a:endParaRPr lang="en-US" sz="1100"/>
          </a:p>
          <a:p>
            <a:pPr algn="l" indent="0">
              <a:lnSpc>
                <a:spcPct val="125000"/>
              </a:lnSpc>
            </a:pPr>
            <a:r>
              <a:rPr lang="en-US" b="false" i="false" strike="noStrike" u="none" sz="1300">
                <a:solidFill>
                  <a:srgbClr val="E5E7EB"/>
                </a:solidFill>
                <a:latin typeface="Noto Sans SC"/>
                <a:ea typeface="Noto Sans SC"/>
                <a:cs typeface="Noto Sans SC"/>
                <a:sym typeface="Noto Sans SC"/>
              </a:rPr>
              <a:t>•</a:t>
            </a:r>
            <a:r>
              <a:rPr lang="en-US" b="true" i="false" strike="noStrike" u="none" sz="1300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保障代码质量：</a:t>
            </a:r>
            <a:r>
              <a:rPr lang="en-US" b="false" i="false" strike="noStrike" u="none" sz="1200">
                <a:solidFill>
                  <a:srgbClr val="D1D5DB"/>
                </a:solidFill>
                <a:latin typeface="Noto Sans SC"/>
                <a:ea typeface="Noto Sans SC"/>
                <a:cs typeface="Noto Sans SC"/>
                <a:sym typeface="Noto Sans SC"/>
              </a:rPr>
              <a:t>从源头提升规范性与安全性，降低维护成本。</a:t>
            </a:r>
            <a:r>
              <a:rPr lang="en-US" b="false" i="false" strike="noStrike" u="none" sz="1600">
                <a:solidFill>
                  <a:srgbClr val="1F2329"/>
                </a:solidFill>
                <a:latin typeface="Noto Sans SC"/>
                <a:ea typeface="Noto Sans SC"/>
                <a:cs typeface="Noto Sans SC"/>
                <a:sym typeface="Noto Sans SC"/>
              </a:rPr>
              <a:t/>
            </a:r>
          </a:p>
          <a:p>
            <a:pPr algn="l" indent="0">
              <a:lnSpc>
                <a:spcPct val="125000"/>
              </a:lnSpc>
            </a:pPr>
            <a:r>
              <a:rPr lang="en-US" b="false" i="false" strike="noStrike" u="none" sz="1300">
                <a:solidFill>
                  <a:srgbClr val="E5E7EB"/>
                </a:solidFill>
                <a:latin typeface="Noto Sans SC"/>
                <a:ea typeface="Noto Sans SC"/>
                <a:cs typeface="Noto Sans SC"/>
                <a:sym typeface="Noto Sans SC"/>
              </a:rPr>
              <a:t>•</a:t>
            </a:r>
            <a:r>
              <a:rPr lang="en-US" b="true" i="false" strike="noStrike" u="none" sz="1300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沉淀技术资产：</a:t>
            </a:r>
            <a:r>
              <a:rPr lang="en-US" b="false" i="false" strike="noStrike" u="none" sz="1200">
                <a:solidFill>
                  <a:srgbClr val="D1D5DB"/>
                </a:solidFill>
                <a:latin typeface="Noto Sans SC"/>
                <a:ea typeface="Noto Sans SC"/>
                <a:cs typeface="Noto Sans SC"/>
                <a:sym typeface="Noto Sans SC"/>
              </a:rPr>
              <a:t>构建统一知识库，促进团队内部的高效传承。</a:t>
            </a:r>
            <a:r>
              <a:rPr lang="en-US" b="false" i="false" strike="noStrike" u="none" sz="1600">
                <a:solidFill>
                  <a:srgbClr val="1F2329"/>
                </a:solidFill>
                <a:latin typeface="Noto Sans SC"/>
                <a:ea typeface="Noto Sans SC"/>
                <a:cs typeface="Noto Sans SC"/>
                <a:sym typeface="Noto Sans SC"/>
              </a:rPr>
              <a:t/>
            </a:r>
          </a:p>
          <a:p>
            <a:pPr algn="l" indent="0">
              <a:lnSpc>
                <a:spcPct val="125000"/>
              </a:lnSpc>
            </a:pPr>
            <a:r>
              <a:rPr lang="en-US" b="false" i="false" strike="noStrike" u="none" sz="1300">
                <a:solidFill>
                  <a:srgbClr val="E5E7EB"/>
                </a:solidFill>
                <a:latin typeface="Noto Sans SC"/>
                <a:ea typeface="Noto Sans SC"/>
                <a:cs typeface="Noto Sans SC"/>
                <a:sym typeface="Noto Sans SC"/>
              </a:rPr>
              <a:t>•</a:t>
            </a:r>
            <a:r>
              <a:rPr lang="en-US" b="true" i="false" strike="noStrike" u="none" sz="1300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赋能开发者：</a:t>
            </a:r>
            <a:r>
              <a:rPr lang="en-US" b="false" i="false" strike="noStrike" u="none" sz="1200">
                <a:solidFill>
                  <a:srgbClr val="D1D5DB"/>
                </a:solidFill>
                <a:latin typeface="Noto Sans SC"/>
                <a:ea typeface="Noto Sans SC"/>
                <a:cs typeface="Noto Sans SC"/>
                <a:sym typeface="Noto Sans SC"/>
              </a:rPr>
              <a:t>降低新技术门槛，助力团队整体能力跃升。</a:t>
            </a:r>
          </a:p>
        </p:txBody>
      </p:sp>
      <p:sp>
        <p:nvSpPr>
          <p:cNvPr name="AutoShape 9" id="9"/>
          <p:cNvSpPr/>
          <p:nvPr/>
        </p:nvSpPr>
        <p:spPr>
          <a:xfrm rot="0" flipH="false" flipV="false">
            <a:off x="6350000" y="2413000"/>
            <a:ext cx="4826000" cy="3302000"/>
          </a:xfrm>
          <a:prstGeom prst="roundRect">
            <a:avLst>
              <a:gd name="adj" fmla="val 4615"/>
            </a:avLst>
          </a:prstGeom>
          <a:solidFill>
            <a:srgbClr val="FFFFFF">
              <a:alpha val="8000"/>
            </a:srgbClr>
          </a:solidFill>
          <a:ln w="12700" cmpd="sng" cap="flat">
            <a:solidFill>
              <a:srgbClr val="2DD4BF">
                <a:alpha val="30000"/>
              </a:srgbClr>
            </a:solidFill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pic>
        <p:nvPicPr>
          <p:cNvPr name="Picture 10" id="10"/>
          <p:cNvPicPr>
            <a:picLocks noChangeAspect="true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 rot="0" flipH="false" flipV="false">
            <a:off x="6654800" y="2717800"/>
            <a:ext cx="304800" cy="304800"/>
          </a:xfrm>
          <a:prstGeom prst="rect">
            <a:avLst/>
          </a:prstGeom>
        </p:spPr>
      </p:pic>
      <p:sp>
        <p:nvSpPr>
          <p:cNvPr name="AutoShape 11" id="11"/>
          <p:cNvSpPr/>
          <p:nvPr/>
        </p:nvSpPr>
        <p:spPr>
          <a:xfrm rot="0" flipH="false" flipV="false">
            <a:off x="7061200" y="2692400"/>
            <a:ext cx="3810000" cy="3556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indent="0">
              <a:lnSpc>
                <a:spcPct val="125000"/>
              </a:lnSpc>
              <a:defRPr/>
            </a:pPr>
            <a:r>
              <a:rPr lang="en-US" b="true" i="false" strike="noStrike" u="none" sz="1800">
                <a:solidFill>
                  <a:srgbClr val="2DD4BF"/>
                </a:solidFill>
                <a:latin typeface="Noto Sans SC"/>
                <a:ea typeface="Noto Sans SC"/>
                <a:cs typeface="Noto Sans SC"/>
                <a:sym typeface="Noto Sans SC"/>
              </a:rPr>
              <a:t>未来展望</a:t>
            </a:r>
            <a:endParaRPr lang="en-US" sz="1100"/>
          </a:p>
        </p:txBody>
      </p:sp>
      <p:cxnSp>
        <p:nvCxnSpPr>
          <p:cNvPr name="Connector 12" id="12"/>
          <p:cNvCxnSpPr/>
          <p:nvPr/>
        </p:nvCxnSpPr>
        <p:spPr>
          <a:xfrm rot="-10354" flipH="false" flipV="false">
            <a:off x="6654810" y="3168650"/>
            <a:ext cx="42164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mpd="sng" cap="flat">
            <a:solidFill>
              <a:srgbClr val="FFFFFF">
                <a:alpha val="15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name="AutoShape 13" id="13"/>
          <p:cNvSpPr/>
          <p:nvPr/>
        </p:nvSpPr>
        <p:spPr>
          <a:xfrm rot="0" flipH="false" flipV="false">
            <a:off x="6654800" y="3302000"/>
            <a:ext cx="4216400" cy="2286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t" rtlCol="false" anchorCtr="false" vert="horz" wrap="square" lIns="0" rIns="0" tIns="0" bIns="0"/>
          <a:lstStyle/>
          <a:p>
            <a:pPr algn="l" indent="0">
              <a:lnSpc>
                <a:spcPct val="133333"/>
              </a:lnSpc>
              <a:defRPr/>
            </a:pPr>
            <a:r>
              <a:rPr lang="en-US" b="false" i="false" strike="noStrike" u="none" sz="1300">
                <a:solidFill>
                  <a:srgbClr val="E5E7EB"/>
                </a:solidFill>
                <a:latin typeface="Noto Sans SC"/>
                <a:ea typeface="Noto Sans SC"/>
                <a:cs typeface="Noto Sans SC"/>
                <a:sym typeface="Noto Sans SC"/>
              </a:rPr>
              <a:t>•</a:t>
            </a:r>
            <a:r>
              <a:rPr lang="en-US" b="true" i="false" strike="noStrike" u="none" sz="1300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从“工具”到“伙伴”：</a:t>
            </a:r>
            <a:r>
              <a:rPr lang="en-US" b="false" i="false" strike="noStrike" u="none" sz="1200">
                <a:solidFill>
                  <a:srgbClr val="D1D5DB"/>
                </a:solidFill>
                <a:latin typeface="Noto Sans SC"/>
                <a:ea typeface="Noto Sans SC"/>
                <a:cs typeface="Noto Sans SC"/>
                <a:sym typeface="Noto Sans SC"/>
              </a:rPr>
              <a:t>增强主动交互能力，实现从被动响应到主动建议的转变。</a:t>
            </a:r>
            <a:r>
              <a:rPr lang="en-US" b="false" i="false" strike="noStrike" u="none" sz="1600">
                <a:solidFill>
                  <a:srgbClr val="1F2329"/>
                </a:solidFill>
                <a:latin typeface="Noto Sans SC"/>
                <a:ea typeface="Noto Sans SC"/>
                <a:cs typeface="Noto Sans SC"/>
                <a:sym typeface="Noto Sans SC"/>
              </a:rPr>
              <a:t/>
            </a:r>
            <a:endParaRPr lang="en-US" sz="1100"/>
          </a:p>
          <a:p>
            <a:pPr algn="l" indent="0">
              <a:lnSpc>
                <a:spcPct val="133333"/>
              </a:lnSpc>
            </a:pPr>
            <a:r>
              <a:rPr lang="en-US" b="false" i="false" strike="noStrike" u="none" sz="1300">
                <a:solidFill>
                  <a:srgbClr val="E5E7EB"/>
                </a:solidFill>
                <a:latin typeface="Noto Sans SC"/>
                <a:ea typeface="Noto Sans SC"/>
                <a:cs typeface="Noto Sans SC"/>
                <a:sym typeface="Noto Sans SC"/>
              </a:rPr>
              <a:t>•</a:t>
            </a:r>
            <a:r>
              <a:rPr lang="en-US" b="true" i="false" strike="noStrike" u="none" sz="1300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多模态知识融合：</a:t>
            </a:r>
            <a:r>
              <a:rPr lang="en-US" b="false" i="false" strike="noStrike" u="none" sz="1200">
                <a:solidFill>
                  <a:srgbClr val="D1D5DB"/>
                </a:solidFill>
                <a:latin typeface="Noto Sans SC"/>
                <a:ea typeface="Noto Sans SC"/>
                <a:cs typeface="Noto Sans SC"/>
                <a:sym typeface="Noto Sans SC"/>
              </a:rPr>
              <a:t>深度融合设计稿、架构图与代码，打破信息孤岛。</a:t>
            </a:r>
            <a:r>
              <a:rPr lang="en-US" b="false" i="false" strike="noStrike" u="none" sz="1600">
                <a:solidFill>
                  <a:srgbClr val="1F2329"/>
                </a:solidFill>
                <a:latin typeface="Noto Sans SC"/>
                <a:ea typeface="Noto Sans SC"/>
                <a:cs typeface="Noto Sans SC"/>
                <a:sym typeface="Noto Sans SC"/>
              </a:rPr>
              <a:t/>
            </a:r>
          </a:p>
          <a:p>
            <a:pPr algn="l" indent="0">
              <a:lnSpc>
                <a:spcPct val="133333"/>
              </a:lnSpc>
            </a:pPr>
            <a:r>
              <a:rPr lang="en-US" b="false" i="false" strike="noStrike" u="none" sz="1300">
                <a:solidFill>
                  <a:srgbClr val="E5E7EB"/>
                </a:solidFill>
                <a:latin typeface="Noto Sans SC"/>
                <a:ea typeface="Noto Sans SC"/>
                <a:cs typeface="Noto Sans SC"/>
                <a:sym typeface="Noto Sans SC"/>
              </a:rPr>
              <a:t>•</a:t>
            </a:r>
            <a:r>
              <a:rPr lang="en-US" b="true" i="false" strike="noStrike" u="none" sz="1300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预测性开发体验：</a:t>
            </a:r>
            <a:r>
              <a:rPr lang="en-US" b="false" i="false" strike="noStrike" u="none" sz="1200">
                <a:solidFill>
                  <a:srgbClr val="D1D5DB"/>
                </a:solidFill>
                <a:latin typeface="Noto Sans SC"/>
                <a:ea typeface="Noto Sans SC"/>
                <a:cs typeface="Noto Sans SC"/>
                <a:sym typeface="Noto Sans SC"/>
              </a:rPr>
              <a:t>基于历史数据预测潜在风险，提供前瞻性的架构优化建议。</a:t>
            </a:r>
          </a:p>
        </p:txBody>
      </p:sp>
      <p:sp>
        <p:nvSpPr>
          <p:cNvPr name="AutoShape 14" id="14"/>
          <p:cNvSpPr/>
          <p:nvPr/>
        </p:nvSpPr>
        <p:spPr>
          <a:xfrm rot="0" flipH="false" flipV="false">
            <a:off x="1016000" y="5969000"/>
            <a:ext cx="10160000" cy="508000"/>
          </a:xfrm>
          <a:prstGeom prst="roundRect">
            <a:avLst>
              <a:gd name="adj" fmla="val 50000"/>
            </a:avLst>
          </a:prstGeom>
          <a:gradFill rotWithShape="true">
            <a:gsLst>
              <a:gs pos="0">
                <a:srgbClr val="2DD4BF">
                  <a:alpha val="15000"/>
                </a:srgbClr>
              </a:gs>
              <a:gs pos="100000">
                <a:srgbClr val="0F172A">
                  <a:alpha val="40000"/>
                </a:srgbClr>
              </a:gs>
            </a:gsLst>
            <a:lin ang="0"/>
          </a:gradFill>
          <a:ln w="12700" cmpd="sng" cap="flat">
            <a:solidFill>
              <a:srgbClr val="2DD4BF">
                <a:alpha val="20000"/>
              </a:srgbClr>
            </a:solidFill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sp>
        <p:nvSpPr>
          <p:cNvPr name="AutoShape 15" id="15"/>
          <p:cNvSpPr/>
          <p:nvPr/>
        </p:nvSpPr>
        <p:spPr>
          <a:xfrm rot="0" flipH="false" flipV="false">
            <a:off x="1270000" y="5969000"/>
            <a:ext cx="9652000" cy="508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 indent="0">
              <a:lnSpc>
                <a:spcPct val="125000"/>
              </a:lnSpc>
              <a:defRPr/>
            </a:pPr>
            <a:r>
              <a:rPr lang="en-US" b="false" i="true" strike="noStrike" u="none" sz="1400">
                <a:solidFill>
                  <a:srgbClr val="F0F0F0"/>
                </a:solidFill>
                <a:latin typeface="Noto Sans SC"/>
                <a:ea typeface="Noto Sans SC"/>
                <a:cs typeface="Noto Sans SC"/>
                <a:sym typeface="Noto Sans SC"/>
              </a:rPr>
              <a:t>“ 我们正在构建的不仅是一个工具，更是未来软件开发的新范式。 ”</a:t>
            </a:r>
            <a:endParaRPr lang="en-US" sz="1100"/>
          </a:p>
        </p:txBody>
      </p:sp>
      <p:pic>
        <p:nvPicPr>
          <p:cNvPr name="Picture 16" id="16"/>
          <p:cNvPicPr>
            <a:picLocks noChangeAspect="true"/>
          </p:cNvPicPr>
          <p:nvPr/>
        </p:nvPicPr>
        <p:blipFill>
          <a:blip r:embed="rId8"/>
          <a:stretch>
            <a:fillRect/>
          </a:stretch>
        </p:blipFill>
        <p:spPr>
          <a:xfrm>
            <a:off x="10668000" y="6190112"/>
            <a:ext cx="1524000" cy="667888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主题​​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主题​​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默认主题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/>
</file>