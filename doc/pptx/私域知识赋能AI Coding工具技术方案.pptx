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大家好，今天我将向各位汇报我们关于“私域知识赋能AI Coding工具”的技术方案。我们的目标是解决当前通用AI编程工具在企业内部“水土不服”的问题，通过构建一个懂业务、懂架构的专属Copilot，实现从“通用码农”到“业务专家”的进化。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七个部分。首先，我们将探讨项目的背景与目标，明确我们为什么要做这件事。接着，会详细介绍我们的总体技术架构。然后，将分两部分阐述如何构建私域知识库以及如何实现知识的自动检索。之后，会展示三个核心应用场景。最后，我们会讨论具体的技术选型、风险应对以及未来的实施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，通用AI编程工具在企业内部应用时普遍存在“水土不服”的问题。主要体现在三个方面：首先，它们缺乏对我们企业特有领域知识的理解；其次，这导致了高昂的沟通成本，开发者需要花费大量时间去调教AI；最后，AI缺乏对整个项目的宏观理解，给出的建议往往不够全面。这些痛点严重影响了开发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些痛点，我们的核心目标是打造一个企业专属的“业务专家型Copilot”。我们希望通过私域知识工程，实现AI的自我进化，让它能主动学习我们的业务和规范。同时，我们将重点赋能需求开发、问题定位和代码检视这三大核心场景。最终，通过构建一个运营闭环，让AI能够持续成长，真正成为我们团队的专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我们方案的核心设计思想是“Spec + RAG”双引擎驱动。其中，Spec引擎扮演“硬约束”的角色，它通过结构化的契约和规范来保证生成代码的正确性，守住底线。而RAG引擎则发挥“软智能”的作用，通过语义检索为AI提供丰富的上下文知识，从而提升建议的质量和上限。二者结合，实现了精准与灵活的统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这是我们的系统架构图。整个流程清晰地展示了数据从源头到最终应用的全过程。它包含五大核心层：数据源层、知识加工层、知识存储层、检索与生成层，以及最终的AI Coding工具。同时，我们设计了一个运营反馈闭环，通过用户反馈来持续优化我们的私域知识库，形成一个不断进化的生态。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让AI理解我们的知识，首先要对知识进行分类和结构化。我们将企业知识分为四大类：术语库、API文档库、代码规范库以及历史上下文库。对于每一类知识，我们都定义了清晰的结构化格式，例如术语库包含定义、场景等字段，API文档库包含签名、参数等信息。这为后续的加工和检索奠定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预处理是关键一步。我们主要做三件事：首先，对文档进行智能分块和向量化，目前这个方法还待全面验证。其次，通过AST解析构建代码知识图谱，我们已经验证了Java的AST解析，但跨文件的依赖分析还在待实现阶段。最后，我们建设了混合索引，轻量模式已经验证通过，生产模式正在规划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障检索的效果，我们采用了混合检索策略。这个过程就像一个漏斗：首先通过BM25稀疏检索保证广度，然后用向量相似度检索提升精准度，再通过图遍历检索增加深度。最后，我们计划使用Cross-BERT模型进行重排序，目标是将召回率提升到92%以上。目前，重排序模块还在待实现阶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三大触发机制，让知识能够主动找到人。第一种是基于对话上下文的自动触发，它能理解用户的问题并匹配相关知识。第二种是知识图谱关联触发，能发现知识间的隐藏联系。第三种是项目上下文自适应触发，它能感知开发者当前的工作环境，主动注入相关的背景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为了打通IDE和后端服务，我们集成了MCP协议。我们开发了一个私域知识MCP Server，它将复杂的检索能力封装成一个标准工具。当开发者在IDE中提问时，IDE会调用这个Server，Server执行检索并返回知识片段，最后由IDE组装成完整的Prompt交给大模型生成结果。这个流程实现了安全、标准化的连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核心场景是需求开发。当开发者提出一个需求，比如“实现订单支付回调”，系统会自动检索相关的私有SDK、规范和历史代码，并将这些知识注入给AI。AI就能生成符合我们企业规范的代码。我们预期这个场景能将需求匹配度从60%提升到95%以上，并减少50%的沟通返工时间。目前，代码实现场景已测试通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场景是问题定位。当开发者遇到报错时，只需贴入异常信息，系统就会去检索历史上相似的缺陷和解决方案，并生成排查建议。这就像给AI装上了一个“经验大脑”。我们预期这个功能能将问题修复时间缩短40%，并降低排查问题的门槛。这个场景目前还在待验证阶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第三个场景是代码检视。我们希望AI能自动化地执行Code Review。当开发者发起CR请求时，系统会自动对照我们的编码规范和Spec契约，检查代码中的问题并给出修复建议。这不仅能大大提升审查效率，还能从源头上保证代码质量。这个场景同样处于待验证阶段。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在技术选型上，我们兼顾了轻量级验证和生产级部署。例如，向量数据库我们推荐轻量的FAISS用于验证，生产环境则使用Milvus。全文引擎对应SQLite FTS5和Elasticsearch。图数据库对应NetworkX和Neo4j。模型方面，Embedding模型推荐本地化的sentence-transformers，大模型则建议使用企业私有部署的方案，以确保数据安全。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也预见了一些潜在风险并制定了应对策略。对于知识库陈旧的问题，我们将建立自动更新机制。对于检索延迟，我们会采用缓存和GPU加速等手段。对于数据泄露，我们将严格控制访问范围并使用私有大模型。对于检索噪音大的问题，我们会持续优化算法并引入用户反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最后是我们的实施规划。在试点阶段，我们列出了10项核心任务，并划分了优先级。其中，最高优先级的是企业私域数据的准备和全链路的端到端验证。其他如Python AST解析、生产环境部署等任务也在按计划推进。我们将通过这个待办列表来跟踪项目进度，确保有序推进。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11" Type="http://schemas.openxmlformats.org/officeDocument/2006/relationships/image" Target="../media/image18.svg"/><Relationship Id="rId5" Type="http://schemas.openxmlformats.org/officeDocument/2006/relationships/image" Target="../media/image13.svg"/><Relationship Id="rId10" Type="http://schemas.openxmlformats.org/officeDocument/2006/relationships/image" Target="../media/image17.svg"/><Relationship Id="rId4" Type="http://schemas.openxmlformats.org/officeDocument/2006/relationships/image" Target="../media/image12.sv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11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11.svg"/><Relationship Id="rId4" Type="http://schemas.openxmlformats.org/officeDocument/2006/relationships/image" Target="../media/image25.svg"/><Relationship Id="rId9" Type="http://schemas.openxmlformats.org/officeDocument/2006/relationships/image" Target="../media/image2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11.svg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13.svg"/><Relationship Id="rId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13.svg"/><Relationship Id="rId4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13.sv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2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9" Type="http://schemas.openxmlformats.org/officeDocument/2006/relationships/image" Target="../media/image1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2032000"/>
            <a:ext cx="1092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私域知识赋能AI Coding工具技术方案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0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从“通用码农”到“</a:t>
            </a:r>
            <a:r>
              <a:rPr lang="en-US" sz="20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业务专家型Copilot</a:t>
            </a:r>
            <a:r>
              <a:rPr lang="en-US" sz="20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”的进化之路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0" y="5461000"/>
            <a:ext cx="4572000" cy="558800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937000" y="5461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BD5E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汇报人：AI技术团队 | 日期：2026年3月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1752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 (Why)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133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通用AI编程的“水土不服”</a:t>
            </a:r>
            <a:b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打造企业专属的“业务专家型Copilot”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8575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3048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3086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总体技术架构 (What)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4671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Spec + RAG 双引擎驱动</a:t>
            </a:r>
            <a:b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系统架构图概览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38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51000" y="4419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私域知识库构建 (How - Part 1)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4800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知识分类与结构化定义 | 数据预处理流程</a:t>
            </a:r>
            <a:b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混合检索策略实现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524500"/>
            <a:ext cx="5080000" cy="1079500"/>
          </a:xfrm>
          <a:prstGeom prst="roundRect">
            <a:avLst>
              <a:gd name="adj" fmla="val 9411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6896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651000" y="57277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私域知识自动检索 (How - Part 2)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61087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三大触发机制解析 | MCP协议深度集成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15240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604000" y="1714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239000" y="1752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应用场景落地 (Use Cases)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239000" y="2133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需求开发辅助 | 问题智能定位</a:t>
            </a:r>
            <a:b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代码自动化检视实践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28575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04000" y="3048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239000" y="30861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技术选型与风险应对 (Details)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39000" y="34671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核心技术栈推荐理由</a:t>
            </a:r>
            <a:b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潜在风险评估与应对策略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41910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04000" y="438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239000" y="4419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实施规划与待办 (Roadmap)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239000" y="48006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阶段性里程碑计划</a:t>
            </a:r>
            <a:b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• 试点阶段核心待办事项跟踪</a:t>
            </a:r>
            <a:endParaRPr lang="en-US" sz="1100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0400" y="5588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问题陈述：通用AI编程的“水土不服”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通用大模型在企业内部软件开发中面临三大挑战，导致效率瓶颈和体验不佳。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4638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66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痛点一：缺乏领域知识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35560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表现：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AI无法理解企业内部的业务术语、私有SDK、历史技术决策和团队编码规范。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后果：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生成的代码需要开发者反复“调教”和修改，返工率高。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4638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749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痛点二：高昂的沟通成本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49800" y="35560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据内部调研，开发者通常需要对AI生成的代码进行</a:t>
            </a: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5轮以上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的修改才能投入使用。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影响：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大量时间浪费在解释“我们公司是怎么做的”，而非创造性工作。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2159000"/>
            <a:ext cx="3302000" cy="4064000"/>
          </a:xfrm>
          <a:prstGeom prst="roundRect">
            <a:avLst>
              <a:gd name="adj" fmla="val 4615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4638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432800" y="30480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痛点三：缺失项目级理解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432800" y="35560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63%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的开发者认为，现有AI工具在面对遗留代码库时，缺乏对项目整体架构和上下文的理解。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根源：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模型无法感知代码库的全貌，导致建议“只见树木，不见森林”。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建设目标：打造企业专属的“业务专家型Copilot”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构建以私域知识工程为核心的技术体系，让AI成为懂业务、懂架构、懂规范的团队专家。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330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2D3EE">
                  <a:alpha val="80000"/>
                </a:srgbClr>
              </a:gs>
              <a:gs pos="100000">
                <a:srgbClr val="22D3EE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" y="2590800"/>
            <a:ext cx="609600" cy="609600"/>
          </a:xfrm>
          <a:prstGeom prst="ellipse">
            <a:avLst/>
          </a:prstGeom>
          <a:solidFill>
            <a:srgbClr val="22D3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3800" y="27178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66800" y="3352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目标一：AI的自我进化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66800" y="3860800"/>
            <a:ext cx="2692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AI能够自动理解并学习企业的术语、API、业务规范与历史经验。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降低开发者的“调教”成本，让AI主动适应企业开发环境。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45000" y="2286000"/>
            <a:ext cx="330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2D3EE">
                  <a:alpha val="80000"/>
                </a:srgbClr>
              </a:gs>
              <a:gs pos="100000">
                <a:srgbClr val="22D3EE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749800" y="2590800"/>
            <a:ext cx="609600" cy="609600"/>
          </a:xfrm>
          <a:prstGeom prst="ellipse">
            <a:avLst/>
          </a:prstGeom>
          <a:solidFill>
            <a:srgbClr val="22D3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800" y="27178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749800" y="3352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目标二：赋能三大核心场景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749800" y="3860800"/>
            <a:ext cx="2692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需求开发：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精准生成符合架构规范的代码，提升开发效率。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• 问题定位：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快速提供基于历史经验的排查建议，缩短故障修复时间。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代码检视：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自动执行代码规范和最佳实践检查，保障代码质量。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28000" y="2286000"/>
            <a:ext cx="330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2D3EE">
                  <a:alpha val="80000"/>
                </a:srgbClr>
              </a:gs>
              <a:gs pos="100000">
                <a:srgbClr val="22D3EE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432800" y="2590800"/>
            <a:ext cx="609600" cy="609600"/>
          </a:xfrm>
          <a:prstGeom prst="ellipse">
            <a:avLst/>
          </a:prstGeom>
          <a:solidFill>
            <a:srgbClr val="22D3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9800" y="27178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432800" y="3352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目标三：构建运营闭环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432800" y="3860800"/>
            <a:ext cx="2692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机制：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建立“数据收集-反馈-优化”的正向循环，持续沉淀私域知识资产。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愿景：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使AI从一个通用的“码农”，持续升级为一个精通企业业务的“专家型Copilot”。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核心设计思想：Spec + RAG 双引擎驱动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结合“硬约束”与“软智能”，实现精准与灵活的统一。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66800" y="2209800"/>
            <a:ext cx="609600" cy="609600"/>
          </a:xfrm>
          <a:prstGeom prst="ellipse">
            <a:avLst/>
          </a:prstGeom>
          <a:solidFill>
            <a:srgbClr val="22D3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3800" y="23368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28800" y="2324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Spec 引擎 (硬约束)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496">
            <a:off x="1066809" y="2965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66800" y="3175000"/>
            <a:ext cx="45974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将接口契约、数据契约、行为规范等结构化知识作为生成前的强制校验规则。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通过Schema验证、代码模板、静态分析等手段，确保生成结果的合规性和正确性。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保证下限，杜绝明显违反规范的代码。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905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23000" y="1905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527800" y="2209800"/>
            <a:ext cx="609600" cy="609600"/>
          </a:xfrm>
          <a:prstGeom prst="ellipse">
            <a:avLst/>
          </a:prstGeom>
          <a:solidFill>
            <a:srgbClr val="22D3E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4800" y="23368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89800" y="23241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RAG 引擎 (软智能)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496">
            <a:off x="6527809" y="29654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527800" y="3175000"/>
            <a:ext cx="45974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通过语义检索，动态注入非结构化知识，如历史方案、API文档、最佳实践等。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基于向量相似度、全文检索和知识图谱，为LLM提供最相关的上下文信息。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提升上限，让AI的建议更具洞察力和实用性。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数据从源头进入，经过加工、存储，最终通过检索与生成层服务于AI Coding工具，并形成反馈闭环。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00" cy="4572000"/>
          </a:xfrm>
          <a:prstGeom prst="roundRect">
            <a:avLst>
              <a:gd name="adj" fmla="val 333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254000" cy="254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133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数据源层：全域数据接入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97000" y="24638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整合业务需求文档、API/SDK技术文档、代码仓库历史及历史工单经验，构建全方位数据底座。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549">
            <a:off x="1016009" y="3041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38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213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知识加工与存储层：结构化沉淀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35433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利用AST分析与向量化技术处理代码，构建知识图谱，并通过向量数据库与图数据库实现高效索引。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549">
            <a:off x="1016009" y="4121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18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292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智能应用层：全场景赋能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97000" y="46228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基于混合检索与MCP Server组装上下文，通过IDE插件覆盖需求开发、问题定位与代码检视三大核心场景。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549">
            <a:off x="1016009" y="520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397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5372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运营反馈闭环：持续进化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397000" y="5702300"/>
            <a:ext cx="431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采集工具会话数据，经质量评估与人工审核后，反哺至知识加工层，实现知识库的持续迭代与增强。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223000" y="1905000"/>
            <a:ext cx="5334000" cy="4572000"/>
          </a:xfrm>
          <a:prstGeom prst="roundRect">
            <a:avLst>
              <a:gd name="adj" fmla="val 3333"/>
            </a:avLst>
          </a:prstGeom>
          <a:solidFill>
            <a:srgbClr val="0F172A">
              <a:alpha val="5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04000" y="2159000"/>
            <a:ext cx="4572000" cy="7620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22D3EE">
                  <a:alpha val="15000"/>
                </a:srgbClr>
              </a:gs>
              <a:gs pos="100000">
                <a:srgbClr val="22D3EE">
                  <a:alpha val="5000"/>
                </a:srgbClr>
              </a:gs>
            </a:gsLst>
            <a:lin ang="0"/>
          </a:gra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23622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02500" y="2286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数据供给层 (Data Source)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302500" y="26162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需求文档 · API手册 · 代码仓库 · 历史工单库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228255">
            <a:off x="8763000" y="3041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D3EE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27" name="AutoShape 27"/>
          <p:cNvSpPr/>
          <p:nvPr/>
        </p:nvSpPr>
        <p:spPr>
          <a:xfrm>
            <a:off x="6604000" y="3175000"/>
            <a:ext cx="4572000" cy="1016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3B82F6">
                  <a:alpha val="15000"/>
                </a:srgbClr>
              </a:gs>
              <a:gs pos="100000">
                <a:srgbClr val="3B82F6">
                  <a:alpha val="5000"/>
                </a:srgbClr>
              </a:gs>
            </a:gsLst>
            <a:lin ang="0"/>
          </a:gra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35052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02500" y="3327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知识中枢 (Processing &amp; Storage)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02500" y="3683000"/>
            <a:ext cx="1841500" cy="457200"/>
          </a:xfrm>
          <a:prstGeom prst="roundRect">
            <a:avLst>
              <a:gd name="adj" fmla="val 11111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AST代码解析 &amp; 向量化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334500" y="3683000"/>
            <a:ext cx="1841500" cy="457200"/>
          </a:xfrm>
          <a:prstGeom prst="roundRect">
            <a:avLst>
              <a:gd name="adj" fmla="val 11111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60A5FA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BFDBFE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向量数据库 &amp; 知识图谱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5228255">
            <a:off x="8763000" y="4311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D3EE">
                <a:alpha val="5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id="33" name="AutoShape 33"/>
          <p:cNvSpPr/>
          <p:nvPr/>
        </p:nvSpPr>
        <p:spPr>
          <a:xfrm>
            <a:off x="6604000" y="4445000"/>
            <a:ext cx="4572000" cy="7620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10B981">
                  <a:alpha val="15000"/>
                </a:srgbClr>
              </a:gs>
              <a:gs pos="100000">
                <a:srgbClr val="10B981">
                  <a:alpha val="5000"/>
                </a:srgbClr>
              </a:gs>
            </a:gsLst>
            <a:lin ang="0"/>
          </a:gra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94500" y="46482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302500" y="4572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AI Coding 智能终端 (Application)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302500" y="49022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IDE深度插件 · 混合检索引擎 · 上下文动态组装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604000" y="5588000"/>
            <a:ext cx="4572000" cy="508000"/>
          </a:xfrm>
          <a:prstGeom prst="roundRect">
            <a:avLst>
              <a:gd name="adj" fmla="val 2000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94500" y="5727700"/>
            <a:ext cx="228600" cy="2286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7112000" y="5689600"/>
            <a:ext cx="393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运营反馈闭环：会话数据采集 → 人工审核 → 反哺知识迭代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知识分类与结构化定义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将企业的隐性知识显性化、结构化，使其能被AI理解和利用。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47800" y="2133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术语/业务词汇库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730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内容构成：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术语名、定义、适用场景、同义词、关联术语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结构化示例：</a:t>
            </a:r>
            <a:r>
              <a:rPr lang="en-US" sz="1200" b="0" i="0" u="none" strike="noStrike">
                <a:solidFill>
                  <a:srgbClr val="22D3EE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{term, definition, context, synonyms, related}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08800" y="2133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SDK/API文档库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2597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2730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内容构成：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接口签名、参数说明、返回值、示例代码、版本变更记录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结构化示例：</a:t>
            </a:r>
            <a:r>
              <a:rPr lang="en-US" sz="1200" b="0" i="0" u="none" strike="noStrike">
                <a:solidFill>
                  <a:srgbClr val="22D3EE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{api, method, params[], returns, example, changelog}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572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47800" y="4546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代码规范与最佳实践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291">
            <a:off x="1016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16000" y="5143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内容构成：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命名规则、异常处理模式、性能优化手段、缺陷修复模板、Spec契约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结构化格式：</a:t>
            </a:r>
            <a:r>
              <a:rPr lang="en-US" sz="1200" b="0" i="0" u="none" strike="noStrike">
                <a:solidFill>
                  <a:srgbClr val="22D3EE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契约文件（JSON/YAML）、Markdown模板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4318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4572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08800" y="4546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历史上下文库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291">
            <a:off x="6477009" y="501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5143500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内容构成：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缺陷记录（现象/根因/方案）、架构评审纪要、技术决策文档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1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结构化格式：</a:t>
            </a:r>
            <a:r>
              <a:rPr lang="en-US" sz="1200" b="0" i="0" u="none" strike="noStrike">
                <a:solidFill>
                  <a:srgbClr val="22D3EE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结构化标签 + 长文本摘要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将原始、异构的数据源转化为AI可检索的知识单元。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09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66800" y="2717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文档分块与向量化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6215">
            <a:off x="1066815" y="3168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66800" y="33655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方法: 采用语义边界识别 + 重叠窗口策略，单块控制在</a:t>
            </a: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3K~5K token</a:t>
            </a: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技术: 使用Embedding模型（如bge-large-zh）生成稠密向量。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66800" y="5511800"/>
            <a:ext cx="2692400" cy="406400"/>
          </a:xfrm>
          <a:prstGeom prst="roundRect">
            <a:avLst>
              <a:gd name="adj" fmla="val 12500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143000" y="5562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状态: 待验证 🔍 (仅SDK源码测试通过)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209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749800" y="2717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代码知识图谱构建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6215">
            <a:off x="4749815" y="3168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749800" y="33655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方法: 通过AST解析提取函数、类、模块间的依赖关系，构建调用图、继承图。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技术: 参考RANGER方法，支持跨文件变量级依赖分析。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749800" y="5511800"/>
            <a:ext cx="2692400" cy="406400"/>
          </a:xfrm>
          <a:prstGeom prst="roundRect">
            <a:avLst>
              <a:gd name="adj" fmla="val 1250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826000" y="5562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状态: Java AST已验证 ✅ 跨文件依赖待实现 ⏳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1905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2098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432800" y="2717800"/>
            <a:ext cx="2692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混合索引建设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6215">
            <a:off x="8432815" y="3168650"/>
            <a:ext cx="269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432800" y="3365500"/>
            <a:ext cx="2692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轻量模式: FAISS (向量) + SQLite FTS5 (全文) + NetworkX (图)。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生产模式: Milvus + Elasticsearch + Neo4j。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432800" y="5511800"/>
            <a:ext cx="2692400" cy="406400"/>
          </a:xfrm>
          <a:prstGeom prst="roundRect">
            <a:avLst>
              <a:gd name="adj" fmla="val 125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509000" y="5562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状态: 轻量模式已验证 ✅ 生产模式待实现 ⏳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混合检索策略：保障召回率与精准度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19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融合多种检索技术，优势互补，实现“广度”与“深度”的平衡。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20574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1. BM25 稀疏检索 (广度优先)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74800" y="2438400"/>
            <a:ext cx="401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基于关键词快速过滤，构建高相关度的候选集，确保召回的全面性。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61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74800" y="35814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 向量相似度检索 (语义精准)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74800" y="3962400"/>
            <a:ext cx="401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深度语义匹配，从候选集中锁定最相关的知识片段，提升结果的准确性。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143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74800" y="51054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3. 图遍历检索 (推理深度)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74800" y="5486400"/>
            <a:ext cx="401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挖掘知识图谱中的实体关联，发现间接隐藏关系，提供可解释的推理深度。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905000"/>
            <a:ext cx="5080000" cy="4318000"/>
          </a:xfrm>
          <a:prstGeom prst="roundRect">
            <a:avLst>
              <a:gd name="adj" fmla="val 3529"/>
            </a:avLst>
          </a:prstGeom>
          <a:solidFill>
            <a:srgbClr val="0F172A">
              <a:alpha val="40000"/>
            </a:srgbClr>
          </a:solidFill>
          <a:ln w="12700" cap="flat" cmpd="sng">
            <a:solidFill>
              <a:srgbClr val="22D3EE">
                <a:alpha val="15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858000" y="2159000"/>
            <a:ext cx="4064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22D3EE">
                  <a:alpha val="15000"/>
                </a:srgbClr>
              </a:gs>
              <a:gs pos="100000">
                <a:srgbClr val="22D3EE">
                  <a:alpha val="5000"/>
                </a:srgbClr>
              </a:gs>
            </a:gsLst>
            <a:lin ang="0"/>
          </a:gradFill>
          <a:ln w="12700" cap="flat" cmpd="sng">
            <a:solidFill>
              <a:srgbClr val="22D3EE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初筛：全量候选集召回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BM25 + 关键词匹配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3000" y="29845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39000" y="3302000"/>
            <a:ext cx="3302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22D3EE">
                  <a:alpha val="25000"/>
                </a:srgbClr>
              </a:gs>
              <a:gs pos="100000">
                <a:srgbClr val="22D3EE">
                  <a:alpha val="10000"/>
                </a:srgbClr>
              </a:gs>
            </a:gsLst>
            <a:lin ang="0"/>
          </a:gra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精筛：语义相关性排序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向量嵌入相似度计算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63000" y="4127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620000" y="4445000"/>
            <a:ext cx="2540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22D3EE">
                  <a:alpha val="40000"/>
                </a:srgbClr>
              </a:gs>
              <a:gs pos="100000">
                <a:srgbClr val="06B6D4">
                  <a:alpha val="20000"/>
                </a:srgbClr>
              </a:gs>
            </a:gsLst>
            <a:lin ang="2700000"/>
          </a:gradFill>
          <a:ln w="12700" cap="flat" cmpd="sng">
            <a:solidFill>
              <a:srgbClr val="22D3EE">
                <a:alpha val="100000"/>
              </a:srgbClr>
            </a:solidFill>
            <a:prstDash val="solid"/>
            <a:round/>
          </a:ln>
          <a:effectLst>
            <a:outerShdw blurRad="190500" dir="2700000" algn="tl" rotWithShape="0">
              <a:srgbClr val="22D3EE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终选：深度推理与关联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E0F2FE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知识图谱路径分析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604000" y="5461000"/>
            <a:ext cx="4572000" cy="635000"/>
          </a:xfrm>
          <a:prstGeom prst="roundRect">
            <a:avLst>
              <a:gd name="adj" fmla="val 16000"/>
            </a:avLst>
          </a:prstGeom>
          <a:solidFill>
            <a:srgbClr val="111827">
              <a:alpha val="80000"/>
            </a:srgbClr>
          </a:solidFill>
          <a:ln w="12700" cap="flat" cmpd="sng">
            <a:solidFill>
              <a:srgbClr val="F59E0B">
                <a:alpha val="6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56261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5524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进阶优化：Cross-BERT 重排序 (待实现)</a:t>
            </a:r>
            <a:r>
              <a:rPr lang="en-US" sz="1200" b="0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目标召回率 &gt; 92%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三大触发机制：让知识主动找人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改变被动查询模式，实现知识的智能、主动推送。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4318000"/>
          </a:xfrm>
          <a:prstGeom prst="roundRect">
            <a:avLst>
              <a:gd name="adj" fmla="val 4511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3368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66800" y="2921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对话上下文自动触发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769">
            <a:off x="1066815" y="3422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66800" y="3619500"/>
            <a:ext cx="27686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触发方式：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识别用户输入中的业务术语、API名、方法名。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实现要点：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关键词匹配 + 语义向量相似度 + IDE当前文件上下文感知。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4318000"/>
          </a:xfrm>
          <a:prstGeom prst="roundRect">
            <a:avLst>
              <a:gd name="adj" fmla="val 4511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3368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711700" y="2921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知识图谱关联触发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769">
            <a:off x="4711715" y="3422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711700" y="3619500"/>
            <a:ext cx="27686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触发方式：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检测到某一实体后，自动加载图谱关联路径上的相关知识。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实现要点：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利用图遍历查找API关联的文档、历史方案、编解码规范等。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51800" y="2032000"/>
            <a:ext cx="3378200" cy="4318000"/>
          </a:xfrm>
          <a:prstGeom prst="roundRect">
            <a:avLst>
              <a:gd name="adj" fmla="val 4511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600" y="23368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356600" y="2921000"/>
            <a:ext cx="2768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项目上下文自适应触发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769">
            <a:off x="8356615" y="3422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56600" y="3619500"/>
            <a:ext cx="27686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触发方式：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通过MCP协议获取IDE当前项目信息（文件、依赖、分支）。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实现要点：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主动预注入架构概览、对应模块规范等背景知识。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MCP协议集成：打通IDE与后端知识服务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MCP (Model Context Protocol) 让AI工具能够安全、标准化地连接企业内部服务。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私域知识 MCP Server 核心架构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984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标准化封装角色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60500" y="3365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将复杂的知识检索、数据查询能力封装为一个统一的标准工具（Tool），屏蔽底层实现细节，降低AI调用门槛。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8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381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安全桥梁与统一接口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60500" y="4762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作为IDE前端与后端知识库之间的安全中间层，对外暴露统一的检索接口，确保数据访问的可控性与安全性。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77000" y="2286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智能交互全流程解析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D3E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77000" y="2984500"/>
            <a:ext cx="254000" cy="2540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58000" y="2946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开发者提问：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在IDE中描述开发需求或遇到的技术问题。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3619500"/>
            <a:ext cx="254000" cy="2540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58000" y="3581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IDE智能调用：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IDE自动提取当前代码上下文，调用MCP Server接口。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254500"/>
            <a:ext cx="254000" cy="2540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58000" y="4216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后端深度检索：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Server执行混合检索算法，从知识库中召回Top-K相关片段。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4889500"/>
            <a:ext cx="254000" cy="2540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858000" y="4851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Prompt智能组装：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IDE将召回的知识片段与用户问题、代码上下文整合为多段式Prompt。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5524500"/>
            <a:ext cx="254000" cy="25400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 cap="flat" cmpd="sng">
            <a:solidFill>
              <a:srgbClr val="22D3EE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858000" y="5486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LLM精准生成：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大模型基于丰富的上下文信息，生成精准的代码补全或解决方案。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场景一：需求开发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将业务需求快速、准确地转化为符合企业规范的代码，实现从自然语言到生产级代码的无缝衔接。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286000" cy="355600"/>
          </a:xfrm>
          <a:prstGeom prst="round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代码实现场景测试通过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175000" y="1651000"/>
            <a:ext cx="2286000" cy="355600"/>
          </a:xfrm>
          <a:prstGeom prst="round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🔍 代码规范约束场景待验证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429000" cy="3937000"/>
          </a:xfrm>
          <a:prstGeom prst="roundRect">
            <a:avLst>
              <a:gd name="adj" fmla="val 2962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67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47800" y="2641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核心知识注入体系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1016014" y="31432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3302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构建全方位的企业级知识库，为AI开发提供精准上下文：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业务术语映射的API接口文档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历史同类需求的最佳实现方案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模块专属代码规范与检查清单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核心业务模块的参考工程结构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381500" y="2413000"/>
            <a:ext cx="3429000" cy="3937000"/>
          </a:xfrm>
          <a:prstGeom prst="roundRect">
            <a:avLst>
              <a:gd name="adj" fmla="val 2962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667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67300" y="2641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自动化开发工作流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1432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3302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从需求到代码的闭环智能处理流程：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br>
              <a:rPr lang="en-US" sz="13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3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需求交互：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用户输入“实现订单支付回调”等自然语言需求。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智能检索：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系统自动关联私有SDK、幂等性规范及历史代码资产。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 代码生成：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 生成符合架构标准的代码骨架与核心业务逻辑。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001000" y="2413000"/>
            <a:ext cx="3429000" cy="3937000"/>
          </a:xfrm>
          <a:prstGeom prst="roundRect">
            <a:avLst>
              <a:gd name="adj" fmla="val 2962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66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86800" y="2641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质量与效率双重跃升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1432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429000"/>
            <a:ext cx="2921000" cy="1016000"/>
          </a:xfrm>
          <a:prstGeom prst="roundRect">
            <a:avLst>
              <a:gd name="adj" fmla="val 1250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382000" y="3556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需求理解与匹配准确度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38735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通用模型 60% ➔</a:t>
            </a:r>
            <a:r>
              <a:rPr lang="en-US" sz="2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95%+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55000" y="4699000"/>
            <a:ext cx="2921000" cy="1016000"/>
          </a:xfrm>
          <a:prstGeom prst="roundRect">
            <a:avLst>
              <a:gd name="adj" fmla="val 12500"/>
            </a:avLst>
          </a:prstGeom>
          <a:solidFill>
            <a:srgbClr val="22D3E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82000" y="48260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开发沟通与返工成本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51435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整体耗时预计降低</a:t>
            </a:r>
            <a:r>
              <a:rPr lang="en-US" sz="2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50%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场景二：问题定位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快速定位问题根源，提供基于历史经验的解决方案。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0" y="7112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待验证 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378200" cy="4064000"/>
          </a:xfrm>
          <a:prstGeom prst="roundRect">
            <a:avLst>
              <a:gd name="adj" fmla="val 3007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22D3E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336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00200" y="234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知识增强引擎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769">
            <a:off x="1066815" y="2914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66800" y="3175000"/>
            <a:ext cx="2768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系统深度整合多维数据，构建完整的知识图谱</a:t>
            </a:r>
            <a:r>
              <a:rPr lang="en-US" sz="13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1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历史缺陷库：</a:t>
            </a:r>
            <a:r>
              <a:rPr lang="en-US" sz="12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关联同类问题的现象描述、根因分析与修复方案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33333"/>
              </a:lnSpc>
            </a:pP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1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文档全景图：</a:t>
            </a:r>
            <a:r>
              <a:rPr lang="en-US" sz="12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自动拉取关联模块的设计文档及API接口的最新变更记录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4064000"/>
          </a:xfrm>
          <a:prstGeom prst="roundRect">
            <a:avLst>
              <a:gd name="adj" fmla="val 3007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22D3E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336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45100" y="234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智能闭环工作流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769">
            <a:off x="4711715" y="2914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711700" y="3175000"/>
            <a:ext cx="2768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全链路自动化辅助，实现从报错到修复的无缝衔接</a:t>
            </a:r>
            <a:r>
              <a:rPr lang="en-US" sz="13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endParaRPr lang="en-US" sz="1300" b="0" i="0" u="none" strike="noStrike" dirty="0">
              <a:solidFill>
                <a:srgbClr val="22D3E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lang="en-US" sz="1300" b="0" i="0" u="none" strike="noStrike" dirty="0" err="1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提交：</a:t>
            </a:r>
            <a:r>
              <a:rPr lang="en-US" sz="12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开发者一键贴入报错信息或异常堆栈日志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33333"/>
              </a:lnSpc>
            </a:pP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</a:t>
            </a:r>
            <a:r>
              <a:rPr lang="en-US" sz="1300" b="0" i="0" u="none" strike="noStrike" dirty="0" err="1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检索：</a:t>
            </a:r>
            <a:r>
              <a:rPr lang="en-US" sz="12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系统后台自动检索相似缺陷案例，精准定位关联代码变更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indent="0" algn="l">
              <a:lnSpc>
                <a:spcPct val="133333"/>
              </a:lnSpc>
            </a:pP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 </a:t>
            </a:r>
            <a:r>
              <a:rPr lang="en-US" sz="1300" b="0" i="0" u="none" strike="noStrike" dirty="0" err="1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生成：</a:t>
            </a:r>
            <a:r>
              <a:rPr lang="en-US" sz="12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基于上下文自动输出排查思路或可直接运行的修复代码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4064000"/>
          </a:xfrm>
          <a:prstGeom prst="roundRect">
            <a:avLst>
              <a:gd name="adj" fmla="val 3007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22D3E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600" y="2336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2349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效能跃升预期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5769">
            <a:off x="8356615" y="2914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56600" y="3175000"/>
            <a:ext cx="2768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通过智能化手段重构问题排查体验，实现显著的效能提升</a:t>
            </a:r>
            <a:r>
              <a:rPr lang="en-US" sz="13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marL="0" indent="0" algn="l">
              <a:lnSpc>
                <a:spcPct val="133333"/>
              </a:lnSpc>
            </a:pP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⏱ 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修复周期缩短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0" indent="0" algn="l">
              <a:lnSpc>
                <a:spcPct val="100000"/>
              </a:lnSpc>
            </a:pPr>
            <a:r>
              <a:rPr lang="en-US" sz="3600" b="1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40%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平均耗时大幅降低</a:t>
            </a:r>
          </a:p>
          <a:p>
            <a:pPr marL="0" indent="0" algn="l">
              <a:lnSpc>
                <a:spcPct val="133333"/>
              </a:lnSpc>
            </a:pP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📉 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门槛显著降低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新人也能快速定位复杂模块问题，减少对核心骨干的依赖，提升团队整体稳定性</a:t>
            </a:r>
            <a:r>
              <a:rPr lang="en-US" sz="1200" b="0" i="0" u="none" strike="noStrike" dirty="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场景三：代码检视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698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自动化执行Code Review，提升代码质量和审查效率。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033000" y="12827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22D3EE">
              <a:alpha val="15000"/>
            </a:srgbClr>
          </a:solidFill>
          <a:ln w="12700" cap="flat" cmpd="sng">
            <a:solidFill>
              <a:srgbClr val="22D3EE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待验证 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378200" cy="4064000"/>
          </a:xfrm>
          <a:prstGeom prst="roundRect">
            <a:avLst>
              <a:gd name="adj" fmla="val 3759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463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00200" y="2476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知识注入体系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769">
            <a:off x="1066815" y="3041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66800" y="3302000"/>
            <a:ext cx="2768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建立自动化审查的标准底座，确保评审依据的统一性和权威性。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Spec契约：定义命名规则与异常处理标准模板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团队编码规范：统一代码风格与架构设计原则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安全规范：集成OWASP Top 10等安全检查项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406900" y="2159000"/>
            <a:ext cx="3378200" cy="4064000"/>
          </a:xfrm>
          <a:prstGeom prst="roundRect">
            <a:avLst>
              <a:gd name="adj" fmla="val 3759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1700" y="2463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45100" y="2476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智能闭环工作流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769">
            <a:off x="4711715" y="3041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711700" y="3302000"/>
            <a:ext cx="2768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人机协同的高效审查机制，减少人工重复劳动，聚焦核心逻辑评审。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01 发起请求：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开发者提交代码变更，触发自动流水线。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02 自动解析：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系统拉取规范库，深度解析代码 diff 差异。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03 AI 诊断：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自动标记命名违规、潜在bug及性能问题并建议修复。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51800" y="2159000"/>
            <a:ext cx="3378200" cy="4064000"/>
          </a:xfrm>
          <a:prstGeom prst="roundRect">
            <a:avLst>
              <a:gd name="adj" fmla="val 3759"/>
            </a:avLst>
          </a:prstGeom>
          <a:solidFill>
            <a:srgbClr val="1E293B">
              <a:alpha val="5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600" y="2463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90000" y="2476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质量与效率双升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5769">
            <a:off x="8356615" y="3041650"/>
            <a:ext cx="276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56600" y="3302000"/>
            <a:ext cx="27686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通过工具链赋能，实现研发效能与工程质量的跨越式提升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600" b="0" i="0" u="none" strike="noStrike" dirty="0">
              <a:solidFill>
                <a:srgbClr val="1F2329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🚀 效率倍增：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机器承担基础性、重复性检查，人工评审效率提升50%以上。</a:t>
            </a: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</a:t>
            </a:r>
            <a:r>
              <a:rPr lang="en-US" sz="1300" b="0" i="0" u="none" strike="noStrike" dirty="0" err="1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质量闭环：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不合规项在提交阶段即被自动拦截，筑牢代码质量防线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技术选型推荐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1684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兼顾轻量级验证与生产级部署，提供灵活的技术栈选择。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1968500"/>
            <a:ext cx="406400" cy="4064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1574800" y="2019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向量数据库 (Vector DB)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38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推荐方案：FAISS (轻量) / Milvus (生产)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备注：FAISS本地文件索引，部署便捷；Milvus支持高并发与混合检索，适合大规模生产环境。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t="2432" b="2432"/>
          <a:stretch>
            <a:fillRect/>
          </a:stretch>
        </p:blipFill>
        <p:spPr>
          <a:xfrm>
            <a:off x="6477000" y="1968500"/>
            <a:ext cx="406400" cy="4064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7035800" y="2019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全文引擎 (Search Engine)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438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推荐方案：SQLite FTS5 / Elasticsearch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备注：FTS5零依赖嵌入应用，开发成本低；ES支持BM25算法与高级文本分析，搜索相关性更强。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32469" r="32469"/>
          <a:stretch>
            <a:fillRect/>
          </a:stretch>
        </p:blipFill>
        <p:spPr>
          <a:xfrm>
            <a:off x="1016000" y="3619500"/>
            <a:ext cx="406400" cy="4064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1574800" y="3670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图数据库 (Graph DB)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089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推荐方案：NetworkX (轻量) / Neo4j (生产)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备注：NetworkX内存图+JSON持久化，轻量灵活；Neo4j专用于大规模代码知识图谱与复杂关系查询。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429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619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35800" y="3670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Embedding 模型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089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推荐方案：sentence-transformers (如 bge-large-zh)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备注：本地化部署，无需依赖外部API服务，支持CPU/GPU推理，数据处理更安全。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080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rcRect l="41619" r="41619"/>
          <a:stretch>
            <a:fillRect/>
          </a:stretch>
        </p:blipFill>
        <p:spPr>
          <a:xfrm>
            <a:off x="1016000" y="5270500"/>
            <a:ext cx="406400" cy="4064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1574800" y="5321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 (LLM)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5740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推荐方案：企业私有部署 LLM 或 API (如DeepSeek-Coder)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备注：强化数据隐私安全，避免核心代码外流，确保企业资产安全与合规。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5080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52705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035800" y="53213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MCP 框架 (Protocol)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5740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推荐方案：开源 MCP SDK (Python/TS)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备注：提供标准化的工具暴露接口，降低集成复杂度，易于与现有开发工作流融合。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风险与应对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192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预见潜在风险，并制定应对策略，确保项目稳健推进。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00" y="22098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21971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知识库陈旧风险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496">
            <a:off x="1066809" y="2660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66800" y="28194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建立自动监听更新管道，知识条目强制关联有效期，确保知识库内容的时效性与准确性。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2098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59600" y="21971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检索响应延迟风险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496">
            <a:off x="6527809" y="2660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27800" y="28194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缓存热门知识，向量库采用GPU加速，异步预取当前项目知识，全方位优化检索速度。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4622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98600" y="46101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核心数据泄露风险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496">
            <a:off x="1066809" y="5073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1066800" y="52324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严格控制MCP Server的访问范围，部署私有LLM或使用企业级API，确保数据不出域、不传输至境外。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31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27800" y="46228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59600" y="4610100"/>
            <a:ext cx="381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检索结果噪音干扰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9496">
            <a:off x="6527809" y="5073650"/>
            <a:ext cx="4597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527800" y="52324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持续优化分块策略与重排序模型，引入用户反馈信号进行迭代，提升知识检索的精准度与相关性。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试点阶段实现待办跟踪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明确试点阶段的核心任务，拆解实施细节，确保项目有序推进与关键里程碑的达成。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930400"/>
            <a:ext cx="508000" cy="254000"/>
          </a:xfrm>
          <a:prstGeom prst="roundRect">
            <a:avLst>
              <a:gd name="adj" fmla="val 20000"/>
            </a:avLst>
          </a:prstGeom>
          <a:solidFill>
            <a:srgbClr val="EF444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HIGH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87500" y="19177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P1. 企业私域数据准备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260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梳理试点业务域的知识资产：SDK源码、API文档、Spec契约文件，构建基础知识库。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8194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52500" y="2971800"/>
            <a:ext cx="571500" cy="254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 dirty="0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MEDIUM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1651000" y="29591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P2. JSON API 文档 loader 开发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330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新增JSON数组展开逻辑，将每个API条目映射为独立chunk，提升检索精度。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8608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52500" y="4013200"/>
            <a:ext cx="571500" cy="254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MEDIUM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40005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P3. Python SDK AST 解析模块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343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参照Java实现，利用Python ast库解析源码结构，提取关键接口与参数定义。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9022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2500" y="5054600"/>
            <a:ext cx="571500" cy="254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MEDIUM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50419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P4. 基于LLM的智能文档分类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384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替换传统规则匹配，引入大模型进行文档意图分类和章节边界的智能识别。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943600"/>
            <a:ext cx="5207000" cy="736600"/>
          </a:xfrm>
          <a:prstGeom prst="roundRect">
            <a:avLst>
              <a:gd name="adj" fmla="val 1379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52500" y="6070600"/>
            <a:ext cx="571500" cy="228600"/>
          </a:xfrm>
          <a:prstGeom prst="roundRect">
            <a:avLst>
              <a:gd name="adj" fmla="val 22222"/>
            </a:avLst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MEDIUM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651000" y="60579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P5. 生产环境后端部署方案落地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2500" y="63246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部署Docker容器化环境（ES + Milvus + Neo4j），验证三路检索性能。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23000" y="17780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1930400"/>
            <a:ext cx="508000" cy="254000"/>
          </a:xfrm>
          <a:prstGeom prst="roundRect">
            <a:avLst>
              <a:gd name="adj" fmla="val 2000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LOW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048500" y="19177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P6. 增量更新管道机制实现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2260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设计文件指纹比对策略，实现仅重处理变更文件的增量更新，优化资源消耗。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28194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413500" y="2971800"/>
            <a:ext cx="508000" cy="254000"/>
          </a:xfrm>
          <a:prstGeom prst="roundRect">
            <a:avLst>
              <a:gd name="adj" fmla="val 2000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60A5FA"/>
                </a:solidFill>
                <a:latin typeface="Noto Sans SC"/>
                <a:ea typeface="Noto Sans SC"/>
                <a:cs typeface="Noto Sans SC"/>
                <a:sym typeface="Noto Sans SC"/>
              </a:rPr>
              <a:t>LOW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048500" y="29591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P7. Orchestrator 生产模式适配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13500" y="330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重构核心组件实例化逻辑，调整为通过Factory获取，适配生产环境多实例管理。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38608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413500" y="4013200"/>
            <a:ext cx="508000" cy="254000"/>
          </a:xfrm>
          <a:prstGeom prst="roundRect">
            <a:avLst>
              <a:gd name="adj" fmla="val 20000"/>
            </a:avLst>
          </a:prstGeom>
          <a:solidFill>
            <a:srgbClr val="EF444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HIGH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048500" y="40005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P8. 全链路端到端功能验证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13500" y="4343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利用企业真实私域数据，跑通从数据导入、处理到最终Prompt输出的完整业务闭环。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223000" y="490220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6413500" y="5054600"/>
            <a:ext cx="571500" cy="254000"/>
          </a:xfrm>
          <a:prstGeom prst="roundRect">
            <a:avLst>
              <a:gd name="adj" fmla="val 20000"/>
            </a:avLst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MEDIUM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112000" y="50419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P9. 反馈闭环权重动态调整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413500" y="53848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0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建立用户反馈收集机制，实现根据反馈正负向动态调整知识片段的检索权重。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223000" y="5943600"/>
            <a:ext cx="5207000" cy="736600"/>
          </a:xfrm>
          <a:prstGeom prst="roundRect">
            <a:avLst>
              <a:gd name="adj" fmla="val 13793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413500" y="6070600"/>
            <a:ext cx="571500" cy="228600"/>
          </a:xfrm>
          <a:prstGeom prst="roundRect">
            <a:avLst>
              <a:gd name="adj" fmla="val 22222"/>
            </a:avLst>
          </a:prstGeom>
          <a:solidFill>
            <a:srgbClr val="F59E0B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MEDIUM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112000" y="60579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P10. MCP 工具调用触发率优化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413500" y="6324600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9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优化系统指令设计与会话预热策略，提升Agent对工具使用的决策准确率。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556000" y="889000"/>
            <a:ext cx="5080000" cy="5080000"/>
          </a:xfrm>
          <a:prstGeom prst="ellipse">
            <a:avLst/>
          </a:prstGeom>
          <a:gradFill rotWithShape="1">
            <a:gsLst>
              <a:gs pos="0">
                <a:srgbClr val="22D3EE">
                  <a:alpha val="25000"/>
                </a:srgbClr>
              </a:gs>
              <a:gs pos="70000">
                <a:srgbClr val="22D3EE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603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254000" dir="2700000" algn="tl" rotWithShape="0">
              <a:srgbClr val="22D3EE">
                <a:alpha val="40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873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 spc="400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2085</Words>
  <Application>Microsoft Office PowerPoint</Application>
  <PresentationFormat>宽屏</PresentationFormat>
  <Paragraphs>327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liuwei qin</cp:lastModifiedBy>
  <cp:revision>3</cp:revision>
  <dcterms:modified xsi:type="dcterms:W3CDTF">2026-05-22T15:17:02Z</dcterms:modified>
</cp:coreProperties>
</file>