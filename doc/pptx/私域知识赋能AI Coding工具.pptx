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大家好，今天我将向大家介绍一个激动人心的项目——私域知识赋能AI Coding工具。本次分享将深入探讨我们如何将通用大模型转变为懂业务、懂代码的专家型Copilot，通过技术方案与实践，解决当前AI编程工具面临的核心痛点。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，AI编程工具面临三大核心痛点。首先是知识隔阂，通用模型无法理解我们内部的技术体系。其次是低效返工，开发者需要花费大量时间反复修改AI生成的代码。更严重的是，高达63%的开发者认为现有工具缺乏项目级理解。这些问题的根源，正是通用AI强大的能力与企业私有知识之间的脱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些痛点，我们的目标是打造一个真正的“业务专家型Copilot”。这需要我们从四个方面着手：构建以私域知识工程为核心的技术体系，让AI能够智能理解我们的业务和技术规范，覆盖需求开发、问题定位和代码检视三大核心场景，并通过运营闭环实现知识的持续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设计思想是采用Spec和RAG双引擎架构。Spec引擎像一个坚固的盾牌，通过结构化约束确保生成代码的合规性，守住底线。而RAG引擎则像一个智能大脑，通过语义检索提供丰富的上下文信息，赋予AI灵活性。两者互补，实现了合规与智能的完美结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这是我们系统的五层架构总览。从顶层的数据源开始，经过知识加工、存储，再到检索与生成，最终赋能AI Coding工具。整个流程形成一个闭环，工具的使用反馈会持续反哺知识加工层，实现系统的自我进化。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这张图展示了数据在系统中的详细流转路径。从数据源到最终生成代码，其中混合检索、MCP Server和Prompt组装是我们架构中的三个核心环节，它们共同决定了AI生成代码的质量和相关性。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在部署架构上，我们设计了灵活的双层拓扑结构，以适应不同的开发和生产场景。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首先，在开发者本地环境，我们采用了“OpenCode IDE + MCP Server”的组合。每个IDE实例都会启动一个独立的MCP Server进程，通过stdio进行通信，这种设计保证了环境的隔离性和低延迟。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其次，在团队服务端，我们部署了基于FastAPI的Search Service微服务。它作为共享资源，集中管理索引，避免了重复计算，大大提升了团队协作的资源利用率。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最后，我们支持两种部署模式：轻量模式使用SQLite和FAISS等嵌入式组件，适合快速上手；生产模式则对接ES和Milvus等企业级组件，确保系统的高可用性和高性能。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我们将企业的私域知识系统地分为四类：术语库、SDK/API文档库、代码规范库以及历史上下文库。这种结构化的分类是实现精准检索和智能推荐的基础。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高效、准确的知识检索，我们设计了混合检索引擎。它通过三路并行检索——BM25全文检索、向量语义检索和图遍历检索——来覆盖不同维度的查询需求。这种设计确保了高召回率和高准确率，并且通过超时保护保证了系统的稳定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检索结果，我们采用了多层级的融合排序策略。如图所示，我们综合考虑了知识类型、SDK角色和关键词命中情况，通过加权计算得出最终分数。之后再经过一系列处理步骤，确保返回给用户的是最相关、最优质的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我们通过MCP协议向LLM开放了六大核心工具，构成了我们的工具矩阵。这些工具覆盖了从知识检索、实体查询到Prompt组装和反馈上报的全流程，是LLM能够与我们私域知识进行交互的关键桥梁。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Prompt的质量直接决定了LLM的输出效果。我们设计了一条精细化的Prompt组装流水线，从安全清洗到最终的四段式结构组装，每一步都经过精心设计，确保传递给LLM的信息是干净、准确、结构化的。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AI更好地理解我们的代码结构，我们建立了SDK角色体系和返回值类型链。通过静态分析，我们能自动推断出代码的角色，并构建起完整的调用链。这使得AI不仅知道入口在哪，还知道拿到返回值后下一步该如何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我们的工具目前主要聚焦于三大应用场景。其中，需求开发场景已经完成测试并取得了良好效果。问题定位和代码检视场景的工作流已经设计完成，正在等待进一步的验证和优化。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高质量的数据是系统成功的关键。我们的数据预处理管道负责将原始的文档和代码，通过加载、分类、分块、解析等一系列步骤，最终构建成可供检索的三路索引。其中，智能分块和Java AST解析是保证数据质量的核心环节。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在项目推进过程中，我们遇到了不少挑战。这里汇总了我们在引擎层和工具层发现的六个主要问题，其中有些是严重影响功能的，我们都逐一进行了分析和解决。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第一个严重问题是FTS5多词查询的命中率极低。我们发现根因在于其默认的AND语义和不合理的分数映射。通过将查询词改为OR连接，并调整分数归一化策略，我们成功解决了这个问题，召回率得到了大幅提升。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第二个问题是测试目录的代码污染了我们的索引，导致高达94%的索引内容是无效的测试代码。我们通过在解析器中增加对测试目录的过滤，彻底解决了这个问题，索引质量得到了质的提升。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我们还修复了SDK角色推断中的一个bug。问题出在我们误用了类名而非完整的包路径进行判断。通过修正这个错误并扩展检测规则，我们显著提升了角色推断的准确率。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一个棘手的问题是，LLM经常不主动调用我们提供的MCP工具。我们发现原因在于工具描述太抽象。通过在描述中加入明确的中文触发词和场景示例，我们成功教会了LLM在合适的时机使用工具，触发率明显提升。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LM生成代码时经常出现“import幻觉”，即编造不存在的import路径。根本原因是Prompt中信息不足。我们的解决方案是在Prompt中明确提供每个SDK条目的完整import路径和类型信息，这使得import幻觉基本消除，生成的代码可以直接编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问题是入口方法返回值链路的断裂。开发者常常不知道拿到一个对象后下一步该做什么。我们通过新增一个分组函数，将入口方法和其返回值的调用链关联起来，实现了一次检索即可获得完整调用路径的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经过这段时间的努力，我们已经取得了显著的成果。从架构设计到核心引擎、工具的实现，再到数据解析和Prompt流水线，整个技术链路已经打通。反馈闭环的基础设施也已准备就绪。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规划了清晰的Roadmap。高优先级的任务是准备真实的企业数据并进行全链路验证。中优先级任务包括支持更多类型的数据源和语言，并优化系统性能。低优先级任务则关注于系统的扩展性和生产环境的适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想分享四点经验总结。第一，采用渐进式架构，降低了项目启动的门槛。第二，坚持优雅降级原则，保证了系统的稳定性。第三，我们深刻认识到数据质量是决定效果的上限。第四，安全必须内建于系统设计之初。这些经验将指导我们未来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10" Type="http://schemas.openxmlformats.org/officeDocument/2006/relationships/image" Target="../media/image4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jpeg"/><Relationship Id="rId5" Type="http://schemas.openxmlformats.org/officeDocument/2006/relationships/image" Target="../media/image14.sv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3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svg"/><Relationship Id="rId5" Type="http://schemas.openxmlformats.org/officeDocument/2006/relationships/image" Target="../media/image20.svg"/><Relationship Id="rId4" Type="http://schemas.openxmlformats.org/officeDocument/2006/relationships/image" Target="../media/image5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51.svg"/><Relationship Id="rId4" Type="http://schemas.openxmlformats.org/officeDocument/2006/relationships/image" Target="../media/image5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51.svg"/><Relationship Id="rId4" Type="http://schemas.openxmlformats.org/officeDocument/2006/relationships/image" Target="../media/image6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2.jpe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63.svg"/><Relationship Id="rId4" Type="http://schemas.openxmlformats.org/officeDocument/2006/relationships/image" Target="../media/image36.svg"/><Relationship Id="rId9" Type="http://schemas.openxmlformats.org/officeDocument/2006/relationships/image" Target="../media/image6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svg"/><Relationship Id="rId5" Type="http://schemas.openxmlformats.org/officeDocument/2006/relationships/image" Target="../media/image66.svg"/><Relationship Id="rId4" Type="http://schemas.openxmlformats.org/officeDocument/2006/relationships/image" Target="../media/image2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0.jpeg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651000" y="1524000"/>
            <a:ext cx="8890000" cy="3810000"/>
          </a:xfrm>
          <a:prstGeom prst="ellipse">
            <a:avLst/>
          </a:prstGeom>
          <a:gradFill rotWithShape="1">
            <a:gsLst>
              <a:gs pos="0">
                <a:srgbClr val="2DD4BF">
                  <a:alpha val="15000"/>
                </a:srgbClr>
              </a:gs>
              <a:gs pos="7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35000" y="2413000"/>
            <a:ext cx="1092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私域知识赋能 AI Coding 工具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68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20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技术方案与实践 —— 从通用大模型到业务专家型 Copilot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5842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汇报人：[姓名] | 日期：2026年3月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痛点分析：通用AI与企业私域的脱节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66800" y="18923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66800" y="2667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知识隔阂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175000"/>
            <a:ext cx="2692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通用AI模型无法理解企业内部术语、私有SDK和历史技术决策，形成难以逾越的知识壁垒。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5875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749800" y="18923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749800" y="2667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低效返工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49800" y="3175000"/>
            <a:ext cx="2692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开发者需多次“调教”才能获得可用代码，返工率极高，常见需5轮以上修改才能满足业务需求。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5875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432800" y="18923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432800" y="2667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项目级理解缺失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32800" y="3175000"/>
            <a:ext cx="2692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63%的开发者反馈现有工具存在“项目级理解缺失”，无法把握整体架构，导致生成代码上下文割裂。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43000" y="54102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2032000" y="5334000"/>
            <a:ext cx="838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核心矛盾：通用能力与私有知识的脱节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15E59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通用大模型拥有强大的通识能力，但对具体企业的私域知识却一无所知，这是当前AI落地的最大障碍。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8FAF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建设目标：打造业务专家型 Copilot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953000" y="2286000"/>
            <a:ext cx="2286000" cy="2286000"/>
          </a:xfrm>
          <a:prstGeom prst="ellipse">
            <a:avLst/>
          </a:prstGeom>
          <a:solidFill>
            <a:srgbClr val="2DD4BF">
              <a:alpha val="15000"/>
            </a:srgbClr>
          </a:solidFill>
          <a:ln cap="flat" cmpd="sng">
            <a:solidFill>
              <a:srgbClr val="15BBA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5" name="Connector 5"/>
          <p:cNvCxnSpPr/>
          <p:nvPr/>
        </p:nvCxnSpPr>
        <p:spPr>
          <a:xfrm rot="1462498">
            <a:off x="3472338" y="2787659"/>
            <a:ext cx="18183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id="6" name="Connector 6"/>
          <p:cNvCxnSpPr/>
          <p:nvPr/>
        </p:nvCxnSpPr>
        <p:spPr>
          <a:xfrm rot="9289481">
            <a:off x="6901298" y="2787659"/>
            <a:ext cx="18183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id="7" name="Connector 7"/>
          <p:cNvCxnSpPr/>
          <p:nvPr/>
        </p:nvCxnSpPr>
        <p:spPr>
          <a:xfrm rot="-1510518">
            <a:off x="3472338" y="4819641"/>
            <a:ext cx="18183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id="8" name="Connector 8"/>
          <p:cNvCxnSpPr/>
          <p:nvPr/>
        </p:nvCxnSpPr>
        <p:spPr>
          <a:xfrm rot="-9337501">
            <a:off x="6901298" y="4819641"/>
            <a:ext cx="18183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5080000" y="2413000"/>
            <a:ext cx="203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DD4BF">
                <a:alpha val="10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DD4BF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689600" y="27305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207000" y="3683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业务专家型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Copilot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1651000"/>
            <a:ext cx="3810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2032000"/>
            <a:ext cx="50800" cy="762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1841500"/>
            <a:ext cx="609600" cy="6096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43000" y="1968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1778000" y="18415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核心技术体系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构建以</a:t>
            </a:r>
            <a:r>
              <a:rPr lang="en-US" sz="12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私域知识工程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为核心的技术底座，实现企业知识的高效沉淀与调用。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0" y="1651000"/>
            <a:ext cx="3810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0" y="2032000"/>
            <a:ext cx="50800" cy="762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874000" y="1841500"/>
            <a:ext cx="609600" cy="6096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rcRect r="50000"/>
          <a:stretch>
            <a:fillRect/>
          </a:stretch>
        </p:blipFill>
        <p:spPr>
          <a:xfrm>
            <a:off x="8001000" y="1968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8636000" y="18415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深度智能理解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AI自动解析企业术语、API接口、业务规范及历史经验，消除语义鸿沟，精准匹配业务场景。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4191000"/>
            <a:ext cx="3810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4572000"/>
            <a:ext cx="50800" cy="762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16000" y="4381500"/>
            <a:ext cx="609600" cy="6096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66800" y="45593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320800" y="45593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193800" y="48133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8" name="AutoShape 28"/>
          <p:cNvSpPr/>
          <p:nvPr/>
        </p:nvSpPr>
        <p:spPr>
          <a:xfrm>
            <a:off x="1778000" y="43815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全场景深度覆盖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全面覆盖研发核心流程：</a:t>
            </a:r>
            <a:r>
              <a:rPr lang="en-US" sz="12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需求开发、问题定位、代码检视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，提供全链路智能辅助。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7620000" y="4191000"/>
            <a:ext cx="3810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7620000" y="4572000"/>
            <a:ext cx="50800" cy="762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7874000" y="4381500"/>
            <a:ext cx="609600" cy="6096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001000" y="4508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3" name="AutoShape 33"/>
          <p:cNvSpPr/>
          <p:nvPr/>
        </p:nvSpPr>
        <p:spPr>
          <a:xfrm>
            <a:off x="8636000" y="43815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运营闭环优化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建立完整的知识运营闭环，通过用户反馈和使用数据，持续沉淀优质知识，实现能力的迭代升级。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核心设计思想：Spec + RAG 双引擎架构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76200"/>
          </a:xfrm>
          <a:prstGeom prst="roundRect">
            <a:avLst>
              <a:gd name="adj" fmla="val 20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1905000"/>
            <a:ext cx="812800" cy="8128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20800" y="20828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159000" y="1955800"/>
            <a:ext cx="355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Spec 引擎 (硬约束)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0110">
            <a:off x="1143009" y="2914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143000" y="31750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结构化约束与接口契约定义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建立严格的数据契约与行为规范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执行生成前的静态校验与规则检查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确保输出符合企业级合规标准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143000" y="5016500"/>
            <a:ext cx="4318000" cy="508000"/>
          </a:xfrm>
          <a:prstGeom prst="roundRect">
            <a:avLst>
              <a:gd name="adj" fmla="val 20000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核心价值：严守合规底线，确保输出可控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42000" y="3429000"/>
            <a:ext cx="508000" cy="508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3530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350000" y="1524000"/>
            <a:ext cx="5080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350000" y="1524000"/>
            <a:ext cx="5080000" cy="76200"/>
          </a:xfrm>
          <a:prstGeom prst="roundRect">
            <a:avLst>
              <a:gd name="adj" fmla="val 20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731000" y="1905000"/>
            <a:ext cx="812800" cy="8128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08800" y="20828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7747000" y="1955800"/>
            <a:ext cx="355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RAG 引擎 (软智能)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0110">
            <a:off x="6731009" y="2914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731000" y="31750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基于语义检索的动态知识注入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融合非结构化知识库与历史最佳实践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实时调取最新API文档与技术规范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增强生成内容的时效性与场景适应性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731000" y="5016500"/>
            <a:ext cx="4318000" cy="508000"/>
          </a:xfrm>
          <a:prstGeom prst="roundRect">
            <a:avLst>
              <a:gd name="adj" fmla="val 2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核心价值：提供上下文智能，激发创造潜力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DD4BF">
                  <a:alpha val="10000"/>
                </a:srgbClr>
              </a:gs>
              <a:gs pos="100000">
                <a:srgbClr val="3B82F6">
                  <a:alpha val="10000"/>
                </a:srgbClr>
              </a:gs>
            </a:gsLst>
            <a:lin ang="0"/>
          </a:gra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双引擎协同效应：软硬结合，兼顾合规安全与业务智能的完美平衡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总体架构：五层架构总览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032000" y="1397000"/>
            <a:ext cx="8128000" cy="812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032000" y="1397000"/>
            <a:ext cx="76200" cy="812800"/>
          </a:xfrm>
          <a:prstGeom prst="roundRect">
            <a:avLst>
              <a:gd name="adj" fmla="val 133333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0" y="1651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717800" y="1524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1. 数据源层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717800" y="187960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业务需求文档 • API/SDK文档 • 代码仓库 • 历史工单数据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4400" y="2260600"/>
            <a:ext cx="203200" cy="203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032000" y="2514600"/>
            <a:ext cx="8128000" cy="812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2032000" y="2514600"/>
            <a:ext cx="76200" cy="812800"/>
          </a:xfrm>
          <a:prstGeom prst="roundRect">
            <a:avLst>
              <a:gd name="adj" fmla="val 133333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0" y="2768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717800" y="2641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2. 知识加工层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717800" y="299720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文档解析分块 • AST语法分析 • 语义向量化处理 • 行业知识图谱构建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4400" y="3378200"/>
            <a:ext cx="203200" cy="203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32000" y="3632200"/>
            <a:ext cx="8128000" cy="812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32000" y="3632200"/>
            <a:ext cx="76200" cy="812800"/>
          </a:xfrm>
          <a:prstGeom prst="roundRect">
            <a:avLst>
              <a:gd name="adj" fmla="val 133333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6000" y="38862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717800" y="37592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3. 知识存储层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717800" y="411480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高维向量数据库 • 全文检索索引 • 图数据库 • 结构化知识仓库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4400" y="4495800"/>
            <a:ext cx="203200" cy="203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2032000" y="4749800"/>
            <a:ext cx="8128000" cy="812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2032000" y="4749800"/>
            <a:ext cx="76200" cy="812800"/>
          </a:xfrm>
          <a:prstGeom prst="roundRect">
            <a:avLst>
              <a:gd name="adj" fmla="val 133333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0" y="50038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2717800" y="48768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4. 检索与生成层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717800" y="523240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混合检索召回 → MCP协议层交互 → 上下文智能组装 → Prompt工程组装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4400" y="5613400"/>
            <a:ext cx="203200" cy="2032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2032000" y="5867400"/>
            <a:ext cx="8128000" cy="50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DD4BF">
                  <a:alpha val="100000"/>
                </a:srgbClr>
              </a:gs>
              <a:gs pos="100000">
                <a:srgbClr val="0D9488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2DD4B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6000" y="59944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2667000" y="5969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5. AI Coding 智能开发工具 (最终交付产品)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0579060" y="38862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运营反馈闭环</a:t>
            </a:r>
            <a:endParaRPr lang="en-US" sz="1100" dirty="0"/>
          </a:p>
        </p:txBody>
      </p:sp>
      <p:cxnSp>
        <p:nvCxnSpPr>
          <p:cNvPr id="32" name="Connector 32"/>
          <p:cNvCxnSpPr>
            <a:cxnSpLocks/>
            <a:endCxn id="31" idx="2"/>
          </p:cNvCxnSpPr>
          <p:nvPr/>
        </p:nvCxnSpPr>
        <p:spPr>
          <a:xfrm flipV="1">
            <a:off x="10070980" y="4191000"/>
            <a:ext cx="1270080" cy="20828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dash"/>
            <a:round/>
            <a:headEnd type="none" w="med" len="med"/>
            <a:tailEnd type="arrow" w="sm" len="sm"/>
          </a:ln>
        </p:spPr>
      </p:cxnSp>
      <p:cxnSp>
        <p:nvCxnSpPr>
          <p:cNvPr id="33" name="Connector 33"/>
          <p:cNvCxnSpPr>
            <a:cxnSpLocks/>
            <a:stCxn id="16" idx="3"/>
            <a:endCxn id="31" idx="1"/>
          </p:cNvCxnSpPr>
          <p:nvPr/>
        </p:nvCxnSpPr>
        <p:spPr>
          <a:xfrm>
            <a:off x="10160000" y="4038600"/>
            <a:ext cx="41906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数据流转全景图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2032000" cy="1143000"/>
          </a:xfrm>
          <a:prstGeom prst="roundRect">
            <a:avLst>
              <a:gd name="adj" fmla="val 1777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286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95468">
            <a:off x="2819488" y="29781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6" name="AutoShape 6"/>
          <p:cNvSpPr/>
          <p:nvPr/>
        </p:nvSpPr>
        <p:spPr>
          <a:xfrm>
            <a:off x="3302000" y="2413000"/>
            <a:ext cx="2032000" cy="1143000"/>
          </a:xfrm>
          <a:prstGeom prst="roundRect">
            <a:avLst>
              <a:gd name="adj" fmla="val 1777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286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知识加工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68">
            <a:off x="5359488" y="29781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8" name="AutoShape 8"/>
          <p:cNvSpPr/>
          <p:nvPr/>
        </p:nvSpPr>
        <p:spPr>
          <a:xfrm>
            <a:off x="5842000" y="2413000"/>
            <a:ext cx="2032000" cy="1143000"/>
          </a:xfrm>
          <a:prstGeom prst="roundRect">
            <a:avLst>
              <a:gd name="adj" fmla="val 1777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286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知识存储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5468">
            <a:off x="7899488" y="29781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0" name="AutoShape 10"/>
          <p:cNvSpPr/>
          <p:nvPr/>
        </p:nvSpPr>
        <p:spPr>
          <a:xfrm>
            <a:off x="8382000" y="2413000"/>
            <a:ext cx="2032000" cy="1143000"/>
          </a:xfrm>
          <a:prstGeom prst="roundRect">
            <a:avLst>
              <a:gd name="adj" fmla="val 17777"/>
            </a:avLst>
          </a:prstGeom>
          <a:solidFill>
            <a:srgbClr val="0D948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101600" dir="5400000" algn="tl" rotWithShape="0">
              <a:srgbClr val="0D9488">
                <a:alpha val="5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混合检索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2032000" cy="1143000"/>
          </a:xfrm>
          <a:prstGeom prst="roundRect">
            <a:avLst>
              <a:gd name="adj" fmla="val 17777"/>
            </a:avLst>
          </a:prstGeom>
          <a:solidFill>
            <a:srgbClr val="0D948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101600" dir="5400000" algn="tl" rotWithShape="0">
              <a:srgbClr val="0D9488">
                <a:alpha val="5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MCP Server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5468">
            <a:off x="2819488" y="51371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3" name="AutoShape 13"/>
          <p:cNvSpPr/>
          <p:nvPr/>
        </p:nvSpPr>
        <p:spPr>
          <a:xfrm>
            <a:off x="3302000" y="4572000"/>
            <a:ext cx="2032000" cy="1143000"/>
          </a:xfrm>
          <a:prstGeom prst="roundRect">
            <a:avLst>
              <a:gd name="adj" fmla="val 17777"/>
            </a:avLst>
          </a:prstGeom>
          <a:solidFill>
            <a:srgbClr val="0D948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101600" dir="5400000" algn="tl" rotWithShape="0">
              <a:srgbClr val="0D9488">
                <a:alpha val="5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Prompt组装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5468">
            <a:off x="5359488" y="51371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5" name="AutoShape 15"/>
          <p:cNvSpPr/>
          <p:nvPr/>
        </p:nvSpPr>
        <p:spPr>
          <a:xfrm>
            <a:off x="5842000" y="4572000"/>
            <a:ext cx="2032000" cy="1143000"/>
          </a:xfrm>
          <a:prstGeom prst="roundRect">
            <a:avLst>
              <a:gd name="adj" fmla="val 1777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286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LLM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5468">
            <a:off x="7899488" y="51371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7" name="AutoShape 17"/>
          <p:cNvSpPr/>
          <p:nvPr/>
        </p:nvSpPr>
        <p:spPr>
          <a:xfrm>
            <a:off x="8382000" y="4572000"/>
            <a:ext cx="2032000" cy="1143000"/>
          </a:xfrm>
          <a:prstGeom prst="roundRect">
            <a:avLst>
              <a:gd name="adj" fmla="val 1777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286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生成代码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10338642">
            <a:off x="1744277" y="4057651"/>
            <a:ext cx="768743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dash"/>
            <a:round/>
            <a:headEnd type="none" w="lg" len="lg"/>
            <a:tailEnd type="arrow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部署拓扑架构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50800"/>
          </a:xfrm>
          <a:prstGeom prst="roundRect">
            <a:avLst>
              <a:gd name="adj" fmla="val 30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1905000"/>
            <a:ext cx="812800" cy="8128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95400" y="20574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159000" y="1968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开发者本地环境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2921000"/>
            <a:ext cx="444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核心组件：</a:t>
            </a:r>
            <a:r>
              <a:rPr lang="en-US" sz="14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OpenCode IDE + MCP Server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架构特点：每IDE实例启动一个独立进程，实现进程级隔离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通信机制：基于 stdio 标准输入输出进行高效本地通信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1524000"/>
            <a:ext cx="5207000" cy="50800"/>
          </a:xfrm>
          <a:prstGeom prst="roundRect">
            <a:avLst>
              <a:gd name="adj" fmla="val 30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0" y="1905000"/>
            <a:ext cx="812800" cy="8128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56400" y="20574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7620000" y="1968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团队共享服务集群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2921000"/>
            <a:ext cx="444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核心组件：</a:t>
            </a:r>
            <a:r>
              <a:rPr lang="en-US" sz="1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Search Service (FastAPI)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服务形态：高性能微服务架构，支持团队多用户并发调用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资源优势：集中式索引管理，避免重复计算，提升资源利用率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080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98600" y="50546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轻量模式 (Lightweight)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66800" y="5588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采用嵌入式技术栈，适合快速部署与开发测试。核心依赖：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SQLite, FAISS, NetworkX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826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5080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59600" y="50546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生产模式 (Production)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27800" y="5588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采用分布式高可用架构，保障企业级稳定性与检索性能。核心依赖：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Elasticsearch, Milvus, Neo4j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知识分类体系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778000"/>
          <a:ext cx="10160000" cy="444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948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知识类别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948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内容构成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948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示例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术语/业务词汇库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术语名、定义、同义词、关联术语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幂等键、业务流水号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SDK/API 文档库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接口签名、参数、返回值、示例代码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PointsClient.deduct()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代码规范与最佳实践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命名规则、异常处理、性能优化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支付回调必须实现幂等设计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历史上下文库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缺陷记录、架构评审、技术决策日志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INC-4829 积分少扣问题复盘</a:t>
                      </a:r>
                      <a:endParaRPr lang="en-US" sz="1100"/>
                    </a:p>
                  </a:txBody>
                  <a:tcPr marL="1905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混合检索引擎：三路并行检索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50800"/>
          </a:xfrm>
          <a:prstGeom prst="roundRect">
            <a:avLst>
              <a:gd name="adj" fmla="val 30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66800" y="1955800"/>
            <a:ext cx="609600" cy="609600"/>
          </a:xfrm>
          <a:prstGeom prst="ellipse">
            <a:avLst/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200" y="2108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66800" y="27178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BM25 全文检索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3225800"/>
            <a:ext cx="2692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SQLite FTS5 / Elasticsearch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主要特点：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基于关键词的精确匹配算法，结合OR语义扩展，大幅提升召回率。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3302000" cy="50800"/>
          </a:xfrm>
          <a:prstGeom prst="roundRect">
            <a:avLst>
              <a:gd name="adj" fmla="val 30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749800" y="1955800"/>
            <a:ext cx="609600" cy="609600"/>
          </a:xfrm>
          <a:prstGeom prst="ellipse">
            <a:avLst/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2200" y="21082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749800" y="27178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向量语义检索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749800" y="3225800"/>
            <a:ext cx="2692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FAISS / Milvus 向量数据库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主要特点：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bge-large-zh Embedding 技术，突破字面限制，实现深层语义相似度匹配。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28000" y="1651000"/>
            <a:ext cx="3302000" cy="50800"/>
          </a:xfrm>
          <a:prstGeom prst="roundRect">
            <a:avLst>
              <a:gd name="adj" fmla="val 30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432800" y="1955800"/>
            <a:ext cx="609600" cy="609600"/>
          </a:xfrm>
          <a:prstGeom prst="ellipse">
            <a:avLst/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85200" y="21082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432800" y="27178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图遍历检索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432800" y="3225800"/>
            <a:ext cx="2692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NetworkX / Neo4j 图计算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主要特点：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深度挖掘实体间的关联关系，进行代码调用链分析，捕捉结构化数据中的隐性知识。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5245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7785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97000" y="5524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协同优势：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三路检索通过 asyncio.gather 实现并行执行，各路由均设有 _safe_search 超时保护机制（300ms），确保系统在复杂查询下的高可用性与响应速度。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融合排序策略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667000" y="1524000"/>
            <a:ext cx="685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DD4BF">
                <a:alpha val="4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2DD4B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1800" y="18923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556000" y="17145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顶层：类型 Boost 加权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0" y="20955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优先考虑知识类型权重，如 API 文档 (1.0) &gt; 最佳实践 (0.95) &gt; 通用指南，确保核心信息优先。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667000" y="2921000"/>
            <a:ext cx="685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1800" y="32893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556000" y="31115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中层：SDK 角色与语义匹配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34925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SDK 角色进行精细化排序，入口点 (1.0) &gt; 公开 API (0.92) &gt; 内部实现，强化开发者视角的准确性。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667000" y="4318000"/>
            <a:ext cx="685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1800" y="46863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556000" y="45085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底层：关键词多维命中加成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556000" y="48895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计算语义相似度与关键词命中密度，每命中一个核心技术词增加 0.02 分，实现细粒度的排序调优。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2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842000"/>
            <a:ext cx="2286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合并去重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9000" y="5969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3810000" y="5842000"/>
            <a:ext cx="2286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相对归一化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00" y="5969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604000" y="5842000"/>
            <a:ext cx="2286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Min_Score 过滤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17000" y="59690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398000" y="5842000"/>
            <a:ext cx="1778000" cy="508000"/>
          </a:xfrm>
          <a:prstGeom prst="roundRect">
            <a:avLst>
              <a:gd name="adj" fmla="val 20000"/>
            </a:avLst>
          </a:prstGeom>
          <a:solidFill>
            <a:srgbClr val="2DD4BF">
              <a:alpha val="15000"/>
            </a:srgbClr>
          </a:solidFill>
          <a:ln w="12700" cap="flat" cmpd="sng">
            <a:solidFill>
              <a:srgbClr val="2DD4B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4. Top-K 截断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8FAFC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MCP 工具矩阵（6 大工具）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304800" dist="1016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778000"/>
          <a:ext cx="10160000" cy="4267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F766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工具名称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D4B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F766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核心用途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D4B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F766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交互方向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D4B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search_private_knowledge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通用混合检索私域知识库，提供精准上下文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9488"/>
                          </a:solidFill>
                          <a:highlight>
                            <a:srgbClr val="CCFBF1">
                              <a:alpha val="10000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IDE → MCP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get_entity_detail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精确查询核心实体的详细定义与技术参数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9488"/>
                          </a:solidFill>
                          <a:highlight>
                            <a:srgbClr val="CCFBF1">
                              <a:alpha val="10000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IDE → MCP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get_applicable_spec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获取当前场景下适用的代码规范与契约定义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9488"/>
                          </a:solidFill>
                          <a:highlight>
                            <a:srgbClr val="CCFBF1">
                              <a:alpha val="10000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IDE → MCP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recommend_context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基于项目结构进行上下文智能预加载与推荐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9488"/>
                          </a:solidFill>
                          <a:highlight>
                            <a:srgbClr val="CCFBF1">
                              <a:alpha val="10000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IDE → MCP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report_feedback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交互过程中的知识质量反馈与错误上报通道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9488"/>
                          </a:solidFill>
                          <a:highlight>
                            <a:srgbClr val="CCFBF1">
                              <a:alpha val="10000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IDE → MCP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assemble_prompt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对输入指令进行清洗、去重，组装为标准 Prompt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9488"/>
                          </a:solidFill>
                          <a:highlight>
                            <a:srgbClr val="CCFBF1">
                              <a:alpha val="10000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IDE → MCP</a:t>
                      </a:r>
                      <a:endParaRPr lang="en-US" sz="1100"/>
                    </a:p>
                  </a:txBody>
                  <a:tcPr marL="2032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组装流水线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397000"/>
            <a:ext cx="10922000" cy="1524000"/>
          </a:xfrm>
          <a:prstGeom prst="roundRect">
            <a:avLst>
              <a:gd name="adj" fmla="val 10000"/>
            </a:avLst>
          </a:prstGeom>
          <a:solidFill>
            <a:srgbClr val="F3F4F6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905000"/>
            <a:ext cx="1016000" cy="508000"/>
          </a:xfrm>
          <a:prstGeom prst="roundRect">
            <a:avLst>
              <a:gd name="adj" fmla="val 2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8500" y="20320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286000" y="1905000"/>
            <a:ext cx="1143000" cy="508000"/>
          </a:xfrm>
          <a:prstGeom prst="roundRect">
            <a:avLst>
              <a:gd name="adj" fmla="val 2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2DD4BF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安全清洗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2500" y="20320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810000" y="1905000"/>
            <a:ext cx="1016000" cy="508000"/>
          </a:xfrm>
          <a:prstGeom prst="roundRect">
            <a:avLst>
              <a:gd name="adj" fmla="val 2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2DD4BF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去重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9500" y="2032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1905000"/>
            <a:ext cx="1143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SDK分组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2032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31000" y="1905000"/>
            <a:ext cx="1143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文档分组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500" y="2032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255000" y="1905000"/>
            <a:ext cx="1143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Token裁剪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1500" y="2032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779000" y="1905000"/>
            <a:ext cx="1143000" cy="508000"/>
          </a:xfrm>
          <a:prstGeom prst="roundRect">
            <a:avLst>
              <a:gd name="adj" fmla="val 2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2DD4BF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4段式组装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302000"/>
            <a:ext cx="3429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330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3556000"/>
            <a:ext cx="508000" cy="5080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7600" y="36576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6510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安全清洗机制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42545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构建多维防护体系，确保输入数据的安全性与合规性，杜绝潜在风险。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零宽字符与不可见字符过滤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Prompt 越狱攻击特征检测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恶意指令注入主动防护</a:t>
            </a:r>
          </a:p>
        </p:txBody>
      </p:sp>
      <p:sp>
        <p:nvSpPr>
          <p:cNvPr id="24" name="AutoShape 24"/>
          <p:cNvSpPr/>
          <p:nvPr/>
        </p:nvSpPr>
        <p:spPr>
          <a:xfrm>
            <a:off x="4381500" y="3302000"/>
            <a:ext cx="3429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381500" y="330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635500" y="3556000"/>
            <a:ext cx="508000" cy="5080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7100" y="3657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52705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智能去重策略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635500" y="42545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多层次冗余识别算法，在保证信息完整性的前提下，最大化精简数据规模。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基于ID的精确匹配去重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语义相似度分析（阈值&gt;0.92）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内容MD5指纹快速预检机制</a:t>
            </a:r>
          </a:p>
        </p:txBody>
      </p:sp>
      <p:sp>
        <p:nvSpPr>
          <p:cNvPr id="30" name="AutoShape 30"/>
          <p:cNvSpPr/>
          <p:nvPr/>
        </p:nvSpPr>
        <p:spPr>
          <a:xfrm>
            <a:off x="8001000" y="3302000"/>
            <a:ext cx="3429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001000" y="330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255000" y="3556000"/>
            <a:ext cx="508000" cy="5080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56600" y="36576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88900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标准化4段式组装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255000" y="42545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采用业界公认的高效结构编排，显著提升LLM对复杂指令的理解与执行准确度。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1. System: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设定模型核心角色与行为范式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2. Background: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补充任务相关的背景上下文信息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3. User Request: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明确用户的具体指令与期望目标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4. Constraints: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划定输出的格式、边界与禁忌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SDK 角色体系与返回值类型链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8288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17907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静态分析：三级角色推断体系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496">
            <a:off x="1066809" y="2279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2489200"/>
            <a:ext cx="4597400" cy="1079500"/>
          </a:xfrm>
          <a:prstGeom prst="roundRect">
            <a:avLst>
              <a:gd name="adj" fmla="val 9411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70000" y="2641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Level 1: entry_point (入口点)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70000" y="2997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定位根包或service子包，识别以 Factory、Manager、Client 结尾的核心类，作为SDK交互的顶层入口。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66800" y="3708400"/>
            <a:ext cx="45974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000" y="38608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Level 2: public_api (公开服务层)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000" y="4216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 service/api 或 client 子包，定义业务操作的接口规范，对外部暴露可控的功能集合。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66800" y="4927600"/>
            <a:ext cx="45974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70000" y="508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Level 3: internal (内部实现层)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70000" y="5435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位于 dao/config/impl 等内部子包，封装具体的数据源操作和配置逻辑，对上层提供透明支持。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18288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34200" y="17907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逻辑建模：返回值类型链闭环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496">
            <a:off x="6527809" y="2279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527800" y="2489200"/>
            <a:ext cx="4597400" cy="2286000"/>
          </a:xfrm>
          <a:prstGeom prst="roundRect">
            <a:avLst>
              <a:gd name="adj" fmla="val 4444"/>
            </a:avLst>
          </a:prstGeom>
          <a:solidFill>
            <a:srgbClr val="F3F4F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858000" y="2794000"/>
            <a:ext cx="1651000" cy="762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DD4B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2DD4BF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921500" y="29210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Entry Method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921500" y="32004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发起调用的起点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144000" y="3683000"/>
            <a:ext cx="1651000" cy="762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3B82F6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207500" y="38100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Returned Instance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207500" y="40894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承载后续操作的上下文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3227778">
            <a:off x="8280274" y="3613180"/>
            <a:ext cx="109249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9" name="AutoShape 29"/>
          <p:cNvSpPr/>
          <p:nvPr/>
        </p:nvSpPr>
        <p:spPr>
          <a:xfrm>
            <a:off x="8382000" y="34290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1. 实例返回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112000" y="3937000"/>
            <a:ext cx="1905000" cy="508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 cap="flat" cmpd="sng">
            <a:solidFill>
              <a:srgbClr val="2DD4BF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731000" y="4191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2. 感知后续调用能力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527800" y="4953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双向绑定与推理机制：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通过静态分析，自动建立入口方法与其返回值类型的强关联。这不仅能正向推导“入口→子方法”的调用路径，更能反向提示“获取此实例后可执行的操作”，形成完整的知识推理闭环，辅助AI生成更精准的代码补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三大应用场景工作流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66800" y="1955800"/>
            <a:ext cx="609600" cy="6096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200" y="2108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28800" y="20701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需求开发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2730500"/>
            <a:ext cx="1016000" cy="279400"/>
          </a:xfrm>
          <a:prstGeom prst="roundRect">
            <a:avLst>
              <a:gd name="adj" fmla="val 50000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✅ 已测试通过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6215">
            <a:off x="1066815" y="31940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66800" y="3403600"/>
            <a:ext cx="2692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基于自然语言需求，自动生成代码框架与核心逻辑。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关键流程：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检索历史API与设计规范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生成可执行的代码骨架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运行单元测试验证功能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445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445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749800" y="1955800"/>
            <a:ext cx="609600" cy="6096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2200" y="21082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511800" y="20701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问题定位诊断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49800" y="2730500"/>
            <a:ext cx="1016000" cy="279400"/>
          </a:xfrm>
          <a:prstGeom prst="roundRect">
            <a:avLst>
              <a:gd name="adj" fmla="val 5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⏳ 待验证优化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6215">
            <a:off x="4749815" y="31940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749800" y="3403600"/>
            <a:ext cx="2692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自动化分析异常日志，快速匹配历史缺陷库，提供排查思路。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关键流程：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异常堆栈信息自动聚类匹配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拉取代码变更历史进行比对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生成针对性的问题排查建议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128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28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432800" y="1955800"/>
            <a:ext cx="609600" cy="609600"/>
          </a:xfrm>
          <a:prstGeom prst="ellipse">
            <a:avLst/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85200" y="21082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194800" y="20701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智能代码检视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432800" y="2730500"/>
            <a:ext cx="1016000" cy="279400"/>
          </a:xfrm>
          <a:prstGeom prst="roundRect">
            <a:avLst>
              <a:gd name="adj" fmla="val 50000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⏳ 待验证优化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6215">
            <a:off x="8432815" y="31940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432800" y="3403600"/>
            <a:ext cx="2692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对照技术规范文档，自动审查代码变更，标记潜在的合规性问题。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关键流程：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自动拉取对应模块的Spec规范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深度解析代码差异与结构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标记违规点并提供修复建议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数据预处理管道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F3F4F6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1397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loader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0000" y="20320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921000" y="1905000"/>
            <a:ext cx="1397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classifier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20320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826000" y="1905000"/>
            <a:ext cx="1397000" cy="508000"/>
          </a:xfrm>
          <a:prstGeom prst="roundRect">
            <a:avLst>
              <a:gd name="adj" fmla="val 2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2DD4BF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chunker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2032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31000" y="1905000"/>
            <a:ext cx="1397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code_parser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5000" y="2032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636000" y="1905000"/>
            <a:ext cx="1143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orchestrator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0" y="2032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0287000" y="1905000"/>
            <a:ext cx="1143000" cy="508000"/>
          </a:xfrm>
          <a:prstGeom prst="roundRect">
            <a:avLst>
              <a:gd name="adj" fmla="val 20000"/>
            </a:avLst>
          </a:prstGeom>
          <a:solidFill>
            <a:srgbClr val="0F766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F766E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三路索引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302000"/>
            <a:ext cx="33782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330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3606800"/>
            <a:ext cx="508000" cy="5080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7600" y="3708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51000" y="3683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智能文档分块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4318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采用语义边界识别算法，结合重叠窗口技术（3K-10K字符），确保分割后的文本块语义完整，避免关键信息割裂，提升检索精度。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406900" y="3302000"/>
            <a:ext cx="33782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406900" y="330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4660900" y="3606800"/>
            <a:ext cx="508000" cy="5080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0" y="37084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5295900" y="3683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Java AST 深度解析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60900" y="4318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深入代码抽象语法树，精准提取Maven坐标、Public方法定义、Javadoc注释及调用链关系，自动识别SDK角色，构建细粒度代码知识图谱。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051800" y="3302000"/>
            <a:ext cx="33782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8051800" y="330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305800" y="3606800"/>
            <a:ext cx="508000" cy="5080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7400" y="37084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8940800" y="3683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自适应版本解析链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305800" y="4318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设计了一套鲁棒性极强的版本解析策略：优先读取 `.sdk-versions.json` 配置文件，其次解析 `pom.xml`，最后使用空字符串作为兜底，确保流程不中断。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问题总览：调试过程中的挑战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8288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17907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Pipeline / 引擎层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496">
            <a:off x="1066809" y="2330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2540000"/>
            <a:ext cx="45974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70000" y="2730500"/>
            <a:ext cx="381000" cy="381000"/>
          </a:xfrm>
          <a:prstGeom prst="ellipse">
            <a:avLst/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8000" y="2692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FTS5 多词查询命中率极低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717800"/>
            <a:ext cx="762000" cy="254000"/>
          </a:xfrm>
          <a:prstGeom prst="roundRect">
            <a:avLst>
              <a:gd name="adj" fmla="val 50000"/>
            </a:avLst>
          </a:prstGeom>
          <a:solidFill>
            <a:srgbClr val="EF444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严重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3073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核心检索功能受影响，返回结果相关性差，直接阻碍用户核心操作。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66800" y="3683000"/>
            <a:ext cx="45974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270000" y="3873500"/>
            <a:ext cx="381000" cy="381000"/>
          </a:xfrm>
          <a:prstGeom prst="ellipse">
            <a:avLst/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3835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test 目录代码污染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3860800"/>
            <a:ext cx="762000" cy="254000"/>
          </a:xfrm>
          <a:prstGeom prst="roundRect">
            <a:avLst>
              <a:gd name="adj" fmla="val 50000"/>
            </a:avLst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中等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778000" y="4216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测试环境与生产环境代码边界模糊，增加了后续维护和部署的风险。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66800" y="4826000"/>
            <a:ext cx="45974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270000" y="5016500"/>
            <a:ext cx="381000" cy="381000"/>
          </a:xfrm>
          <a:prstGeom prst="ellipse">
            <a:avLst/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778000" y="4978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SDK 角色推断 bug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699000" y="5003800"/>
            <a:ext cx="762000" cy="254000"/>
          </a:xfrm>
          <a:prstGeom prst="roundRect">
            <a:avLst>
              <a:gd name="adj" fmla="val 50000"/>
            </a:avLst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中等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78000" y="5359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权限校验逻辑偶发性失效，导致特定场景下角色权限判定错误。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18288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34200" y="17907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MCP / 工具层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496">
            <a:off x="6527809" y="2330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527800" y="2540000"/>
            <a:ext cx="45974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731000" y="2730500"/>
            <a:ext cx="381000" cy="381000"/>
          </a:xfrm>
          <a:prstGeom prst="ellipse">
            <a:avLst/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239000" y="2692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LLM 不主动调用 MCP 工具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160000" y="2717800"/>
            <a:ext cx="762000" cy="254000"/>
          </a:xfrm>
          <a:prstGeom prst="roundRect">
            <a:avLst>
              <a:gd name="adj" fmla="val 50000"/>
            </a:avLst>
          </a:prstGeom>
          <a:solidFill>
            <a:srgbClr val="EF444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严重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239000" y="3073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Agent 核心工作流中断，模型无法识别工具调用时机，导致任务无法完成。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527800" y="3683000"/>
            <a:ext cx="45974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731000" y="3873500"/>
            <a:ext cx="381000" cy="381000"/>
          </a:xfrm>
          <a:prstGeom prst="ellipse">
            <a:avLst/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239000" y="3835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LLM 生成代码时 import 幻觉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0160000" y="3860800"/>
            <a:ext cx="762000" cy="254000"/>
          </a:xfrm>
          <a:prstGeom prst="roundRect">
            <a:avLst>
              <a:gd name="adj" fmla="val 50000"/>
            </a:avLst>
          </a:prstGeom>
          <a:solidFill>
            <a:srgbClr val="EF444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严重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239000" y="4216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模型生成的代码包含不存在的库引用，导致代码执行失败，降低了生成结果的可用性。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527800" y="4826000"/>
            <a:ext cx="45974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6731000" y="5016500"/>
            <a:ext cx="381000" cy="381000"/>
          </a:xfrm>
          <a:prstGeom prst="ellipse">
            <a:avLst/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239000" y="4978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入口方法返回值链路断裂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160000" y="5003800"/>
            <a:ext cx="762000" cy="254000"/>
          </a:xfrm>
          <a:prstGeom prst="roundRect">
            <a:avLst>
              <a:gd name="adj" fmla="val 50000"/>
            </a:avLst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中等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7239000" y="5359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函数调用结果无法正确回传至上层调用者，导致任务状态反馈不一致。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FTS5 多词查询优化：从命中率低到精准召回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5240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66800" y="1828800"/>
            <a:ext cx="508000" cy="508000"/>
          </a:xfrm>
          <a:prstGeom prst="ellipse">
            <a:avLst/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1930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27200" y="18923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问题现象：多词查询结果异常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2476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在进行技术文档检索时，发现类似</a:t>
            </a: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"JSONArray parse"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的组合查询得分极低，导致高相关性的文档被错误过滤，严重影响了信息获取的完整性。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1905000"/>
            <a:ext cx="50800" cy="1524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27800" y="1828800"/>
            <a:ext cx="508000" cy="508000"/>
          </a:xfrm>
          <a:prstGeom prst="ellipse">
            <a:avLst/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9400" y="1930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88200" y="18923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根因定位：语义与评分机制缺陷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27800" y="2476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FTS5 默认使用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AND 语义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，要求所有词项必须匹配，限制了召回。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内部使用 sigmoid 公式进行分数映射，导致低分区间的差异被过度压缩，区分度丧失。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445000"/>
            <a:ext cx="50800" cy="1524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66800" y="4368800"/>
            <a:ext cx="508000" cy="5080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400" y="4470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27200" y="44323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技术重构：语义与算法调整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66800" y="5016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将查询词连接符由 AND 改为</a:t>
            </a: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OR 语义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，扩大召回范围，提升模糊匹配能力。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废弃 sigmoid 映射，改用</a:t>
            </a: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线性相对归一化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，还原分数真实分布。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23000" y="4445000"/>
            <a:ext cx="508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27800" y="4368800"/>
            <a:ext cx="508000" cy="50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400" y="44704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88200" y="44323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显著成效：召回率与体验双提升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27800" y="5016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优化后，多词复杂查询的</a:t>
            </a:r>
            <a:r>
              <a:rPr lang="en-US" sz="14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召回率大幅提升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，原本被误杀的高相关性文档重新浮出水面，搜索结果的排序更符合用户预期，解决了核心痛点。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问题2：test 目录代码污染索引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55800"/>
            <a:ext cx="609600" cy="6096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2108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2768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问题现象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276600"/>
            <a:ext cx="1968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`src/test/java` 目录下的测试代码被错误地当作SDK API进行索引，导致无效内容占比高达</a:t>
            </a:r>
            <a:r>
              <a:rPr lang="en-US" sz="1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94%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，严重影响检索效率。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1651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925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746500" y="1955800"/>
            <a:ext cx="609600" cy="6096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8900" y="21082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746500" y="2768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根本原因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746500" y="3276600"/>
            <a:ext cx="1968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经排查，核心原因在于代码解析函数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parse_java_repo()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在执行逻辑中，未对测试目录路径进行过滤，导致测试代码被误收录。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77000" y="1955800"/>
            <a:ext cx="609600" cy="6096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9400" y="21082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477000" y="2768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3276600"/>
            <a:ext cx="1968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在解析函数中增加路径过滤逻辑：判断文件路径是否包含</a:t>
            </a:r>
            <a:r>
              <a:rPr lang="en-US" sz="13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/test/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关键词，若匹配则跳过该文件的索引构建，从源头阻断污染。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953500" y="1651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9535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207500" y="19558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9900" y="21082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207500" y="2768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最终效果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207500" y="3276600"/>
            <a:ext cx="1968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索引质量得到显著提升，数据库中仅保留真正的SDK公开API，消除了无效测试代码的干扰，检索准确性恢复至预期水平。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问题3：SDK 角色推断 bug 修复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476500" cy="50800"/>
          </a:xfrm>
          <a:prstGeom prst="roundRect">
            <a:avLst>
              <a:gd name="adj" fmla="val 5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841500" y="1841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609600" cy="6096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2184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16000" y="2857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问题现象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365500"/>
            <a:ext cx="1968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子包检测逻辑失效，导致角色标注结果不准确，影响了SDK核心功能的正常调用与识别。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1651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492500" y="1651000"/>
            <a:ext cx="2476500" cy="50800"/>
          </a:xfrm>
          <a:prstGeom prst="roundRect">
            <a:avLst>
              <a:gd name="adj" fmla="val 5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72000" y="1841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46500" y="2032000"/>
            <a:ext cx="609600" cy="6096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8900" y="2184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746500" y="2857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根本原因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746500" y="3365500"/>
            <a:ext cx="1968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在检测逻辑中，错误地使用了仅包含类名的</a:t>
            </a: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class_path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，而非包含完整层级的</a:t>
            </a: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package_name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进行判断，导致路径匹配失败。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23000" y="1651000"/>
            <a:ext cx="2476500" cy="50800"/>
          </a:xfrm>
          <a:prstGeom prst="roundRect">
            <a:avLst>
              <a:gd name="adj" fmla="val 5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302500" y="1841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2032000"/>
            <a:ext cx="609600" cy="6096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9400" y="21844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477000" y="2857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3365500"/>
            <a:ext cx="1968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新增</a:t>
            </a: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package_name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作为关键入参。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补充3条核心辅助检测函数，增强逻辑鲁棒性。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将判定规则从3条扩展至6条，覆盖更多边界场景。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8953500" y="1651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953500" y="1651000"/>
            <a:ext cx="2476500" cy="50800"/>
          </a:xfrm>
          <a:prstGeom prst="roundRect">
            <a:avLst>
              <a:gd name="adj" fmla="val 5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0033000" y="1841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207500" y="2032000"/>
            <a:ext cx="609600" cy="6096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9900" y="21844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207500" y="2857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最终效果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207500" y="3365500"/>
            <a:ext cx="1968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修复后，SDK 的角色推断逻辑更加严谨，在复杂场景下的角色标注准确率得到显著提升，确保了业务功能的稳定性。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问题4：LLM 不主动调用 MCP 工具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50800" cy="508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66800" y="1841500"/>
            <a:ext cx="508000" cy="5080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1943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272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问题现象描述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2476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当用户询问内部 SDK 相关问题时，LLM 倾向于直接利用自身知识库回答，而非触发预设的私域检索流程，导致信息准确性不足。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5875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1841500"/>
            <a:ext cx="508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27800" y="1841500"/>
            <a:ext cx="508000" cy="508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9400" y="19431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882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深层根因分析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27800" y="2476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MCP 工具的描述信息过于抽象和泛化，缺乏明确的场景指引，导致 LLM 难以准确判断在何种情况下应调用该工具，从而选择了通用回答。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445000"/>
            <a:ext cx="50800" cy="508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66800" y="4445000"/>
            <a:ext cx="508000" cy="5080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400" y="4546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27200" y="450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针对性解决策略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66800" y="5080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在工具的description字段中，补充具体的中文触发关键词（如“内部SDK”、“怎么用”）及明确的业务场景说明，强化工具与特定问题的关联性。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23000" y="4445000"/>
            <a:ext cx="508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27800" y="4445000"/>
            <a:ext cx="508000" cy="50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400" y="45466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88200" y="450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优化实施成效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27800" y="5080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优化后，LLM 对内部 SDK 相关问题的识别准确度显著提高，工具调用触发率明显提升，有效解决了 AI “答非所问”的痛点，增强了系统的实用性。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问题5：LLM 生成代码时 import 幻觉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828800"/>
            <a:ext cx="50800" cy="4064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66800" y="1778000"/>
            <a:ext cx="508000" cy="5080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1879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27200" y="184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问题现象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2413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LLM生成的代码中，import路径经常是编造的，在实际开发环境中无法找到对应模块，导致代码编译失败。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1828800"/>
            <a:ext cx="50800" cy="4064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27800" y="1778000"/>
            <a:ext cx="508000" cy="508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9400" y="1879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88200" y="184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根本原因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27800" y="2413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Prompt中缺少全限定类名等关键上下文信息，模型在信息不足的情况下被迫进行“猜测”，从而生成了不存在的路径。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368800"/>
            <a:ext cx="50800" cy="4064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66800" y="4318000"/>
            <a:ext cx="508000" cy="5080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400" y="4419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27200" y="438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解决策略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66800" y="4953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在Prompt工程中显式标注每个SDK条目的完整import路径、返回类型及版本号，为模型提供精准的参考依据。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23000" y="4368800"/>
            <a:ext cx="50800" cy="4064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27800" y="4318000"/>
            <a:ext cx="508000" cy="50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400" y="44196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88200" y="438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实施效果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27800" y="4953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通过精准的上下文注入，import幻觉问题基本消除，生成的代码准确率大幅提升，可直接通过编译检查。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问题6：入口方法返回值链路断裂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8923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25600" y="19177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问题现象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413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开发者拿到入口方法返回值后，由于缺乏明确的指引，往往不知道下一步能够调用哪些方法，导致开发流程中断，效率降低。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875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18923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86600" y="19177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根因分析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27800" y="2413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现有结果仅按相关性分数（score）进行排序展示，入口方法与其返回值接口的后续方法之间缺乏语义上的关联，导致链路断裂。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275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4323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25600" y="44577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66800" y="4953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新增核心函数</a:t>
            </a:r>
            <a:r>
              <a:rPr lang="en-US" sz="14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`_group_by_return_chain()`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，按返回值类型建立方法分组，并构建双向引用索引，将断裂的链路重新连接。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275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44323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86600" y="44577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实现效果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27800" y="4953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开发者只需一次检索即可获得完整的上下文调用链，无需再进行二次检索，显著提升了API探索和集成的开发效率。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当前成果：已完成的工作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778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25600" y="18034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2860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完整技术架构与文档体系，包含5份核心设计文档，确立了系统整体蓝图。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48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13600" y="18034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引擎实现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54800" y="22860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构建混合检索引擎，融合 BM25 关键词检索、FAISS 向量检索与 NetworkX 图分析能力。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175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3429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25600" y="34544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工具实现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66800" y="39370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 MCP Server 6大核心工具的完整落地实现，具备了强大的环境交互能力。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3175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4800" y="3429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13600" y="34544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解析能力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54800" y="39370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深度集成 Java SDK AST 解析技术，实现代码结构的精准理解与智能角色推断。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826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800" y="5080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625600" y="51054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Prompt流水线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66800" y="55880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建立标准化处理流程：安全清洗 → 智能去重 → 语义分组 → 最终组装，确保输入质量。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4826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54800" y="5080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213600" y="51054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反馈闭环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54800" y="55880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完成数据记录等基础设施的搭建，为后续的效果评估与模型迭代构建了完整的反馈回路。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8FAF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待完成事项（Roadmap）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F3F5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2DD4B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76200"/>
          </a:xfrm>
          <a:prstGeom prst="roundRect">
            <a:avLst>
              <a:gd name="adj" fmla="val 20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66800" y="2032000"/>
            <a:ext cx="508000" cy="5080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2133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01800" y="2095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P1 高优先级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794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企业私域数据准备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全链路端到端验证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F3F5">
                <a:alpha val="10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3302000" cy="76200"/>
          </a:xfrm>
          <a:prstGeom prst="roundRect">
            <a:avLst>
              <a:gd name="adj" fmla="val 200000"/>
            </a:avLst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749800" y="2032000"/>
            <a:ext cx="508000" cy="508000"/>
          </a:xfrm>
          <a:prstGeom prst="ellipse">
            <a:avLst/>
          </a:prstGeom>
          <a:solidFill>
            <a:srgbClr val="EE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1400" y="2133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384800" y="2095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P2 中优先级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2794000"/>
            <a:ext cx="2794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JSON API文档loader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Python SDK AST解析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LLM文档分类体系构建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生产环境后端部署对接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反馈闭环权重逻辑调整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MCP工具调用触发率优化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F3F5">
                <a:alpha val="10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28000" y="1651000"/>
            <a:ext cx="3302000" cy="76200"/>
          </a:xfrm>
          <a:prstGeom prst="roundRect">
            <a:avLst>
              <a:gd name="adj" fmla="val 20000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432800" y="2032000"/>
            <a:ext cx="508000" cy="508000"/>
          </a:xfrm>
          <a:prstGeom prst="ellipse">
            <a:avLst/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0" y="2133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067800" y="2095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P3 低优先级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82000" y="2794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增量更新管道开发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Orchestrator生产模式适配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2476500" cy="50800"/>
          </a:xfrm>
          <a:prstGeom prst="roundRect">
            <a:avLst>
              <a:gd name="adj" fmla="val 30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593850" y="2159000"/>
            <a:ext cx="812800" cy="8128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1650" y="23368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952500" y="3175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渐进式架构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683000"/>
            <a:ext cx="2095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just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轻量模式（零依赖）→ 生产模式（Docker集群），降低试点门槛，实现平滑过渡。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1778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92500" y="1778000"/>
            <a:ext cx="2476500" cy="50800"/>
          </a:xfrm>
          <a:prstGeom prst="roundRect">
            <a:avLst>
              <a:gd name="adj" fmla="val 30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24350" y="2159000"/>
            <a:ext cx="812800" cy="8128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02150" y="23368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3683000" y="3175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优雅降级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83000" y="3683000"/>
            <a:ext cx="2095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just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每个环节都有兜底策略（embedding零向量、search mock数据），核心业务不受非核心模块影响。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778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1778000"/>
            <a:ext cx="2476500" cy="50800"/>
          </a:xfrm>
          <a:prstGeom prst="roundRect">
            <a:avLst>
              <a:gd name="adj" fmla="val 30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054850" y="2159000"/>
            <a:ext cx="812800" cy="8128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232650" y="23368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413500" y="3175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数据质量优先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3683000"/>
            <a:ext cx="2095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just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严格执行test过滤、版本管理、角色标注，坚信数据质量决定最终效果的上限。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953500" y="1778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953500" y="1778000"/>
            <a:ext cx="2476500" cy="50800"/>
          </a:xfrm>
          <a:prstGeom prst="roundRect">
            <a:avLst>
              <a:gd name="adj" fmla="val 30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785350" y="2159000"/>
            <a:ext cx="812800" cy="812800"/>
          </a:xfrm>
          <a:prstGeom prst="ellipse">
            <a:avLst/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963150" y="23368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9144000" y="3175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安全内建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144000" y="3683000"/>
            <a:ext cx="2095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just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Prompt注入防护从Day1就内建到流水线中，将安全风险前置，做到防范未然。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413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254000" dir="2700000" algn="tl" rotWithShape="0">
              <a:srgbClr val="2DD4BF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0" i="0" u="none" strike="noStrike" spc="8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2073</Words>
  <Application>Microsoft Office PowerPoint</Application>
  <PresentationFormat>宽屏</PresentationFormat>
  <Paragraphs>420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liuwei qin</cp:lastModifiedBy>
  <cp:revision>1</cp:revision>
  <dcterms:modified xsi:type="dcterms:W3CDTF">2026-05-24T13:57:46Z</dcterms:modified>
</cp:coreProperties>
</file>