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3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63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大家好，今天我将向大家介绍一个激动人心的项目——私域知识赋能AI Coding工具。本次分享将深入探讨我们如何将通用大模型转变为懂业务、懂代码的专家型Copilot，通过技术方案与实践，解决当前AI编程工具面临的核心痛点。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前，AI编程工具面临着一个核心矛盾。一方面，通用AI模型无法理解我们企业内部的术语、私有SDK和历史技术决策。另一方面，这导致开发者陷入了反复调教、高返工率的困境，高达63%的开发者反馈现有工具缺乏项目级理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解决这个矛盾，我们的目标是打造一个真正的“业务专家型Copilot”。这需要我们从底层的“私域知识工程”入手，沉淀企业独有的业务数据和经验；在此基础上构建强大的“AI理解能力”，让模型具备深度的业务逻辑推理能力；最终赋能顶层的Copilot，使其能够覆盖需求开发、问题定位和代码检视等核心业务场景，成为开发者和业务人员的得力助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设计思想是采用Spec和RAG双引擎。Spec引擎像一个坚固的盾牌，通过结构化约束确保生成代码的合规性，守住底线。而RAG引擎则像一个智能大脑，通过语义检索提供丰富的上下文信息，赋予AI灵活性。两者结合，兼顾了合规与智能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这是我们系统的五层架构总览。从顶层的数据源开始，经过知识加工、存储，再到检索与生成，最终赋能AI Coding工具。整个流程形成一个闭环，工具的使用反馈会持续反哺知识加工层，实现系统的自我进化。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这张图展示了数据在系统中的详细流转路径。从数据源到最终生成代码，其中混合检索、MCP Server和Prompt组装是我们架构中的三个核心环节，它们共同决定了AI生成代码的质量和相关性。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在部署上，我们采用了灵活的拓扑结构。开发者本地运行MCP Server，保证低延迟和个性化体验；团队服务器则部署共享的Search Service。同时，我们支持轻量和生产两种模式，便于在不同阶段进行部署和扩展。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我们将企业的私域知识系统地分为四类：术语库、SDK/API文档库、代码规范库以及历史上下文库。这种结构化的分类是实现精准检索和智能推荐的基础。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实现高效、准确的知识检索，我们设计了混合检索引擎。它通过三路并行检索——BM25全文检索、向量语义检索和图遍历检索——来覆盖不同维度的查询需求。这种设计确保了高召回率和高准确率，并且通过超时保护保证了系统的稳定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检索结果，我们采用了精细化的五级加权重排序策略。如图所示，我们综合考虑了知识类型、SDK角色、方法层级等多个维度，通过加权计算得出最终分数。特别是角色和层级的权重差距巨大，确保了最重要的信息能够被优先展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我们通过MCP协议向LLM开放了六大核心工具，构成了我们的工具矩阵。这些工具覆盖了从知识检索、实体查询到Prompt组装和反馈上报的全流程，是LLM能够与我们私域知识进行交互的关键桥梁。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Prompt的质量直接决定了LLM的输出效果。我们设计了一条精细化的Prompt组装流水线，就像一个工厂，将原始信息经过安全清洗、去重、分组等多个加工步骤，最终产出结构化、高质量的Prompt。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我们的工具目前主要聚焦于三大应用场景。其中，需求开发场景已经完成测试并取得了良好效果。问题定位和代码检视场景的工作流已经设计完成，正在等待进一步的验证和优化。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高质量的数据是系统成功的关键。我们的数据预处理管道负责将原始的文档和代码，通过加载、分类、分块、解析等一系列步骤，最终构建成可供检索的三路索引。其中，Java AST解析是保证数据质量的核心环节，它能提取出非常丰富的代码元信息，如包路径、方法签名、调用关系等，为后续的精准检索提供了坚实基础。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在项目推进过程中，我们遇到了不少挑战。这里汇总了我们在引擎层和工具层发现的11个主要问题，接下来我将对其中几个关键问题进行详细说明。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第一个问题是FTS5多词查询的命中率极低。我们发现根因在于其默认的AND语义和不合理的分数映射。通过将查询词改为OR连接，并调整分数归一化策略，我们成功解决了这个问题，召回率得到了大幅提升。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第二个问题是测试目录的代码污染了我们的索引，导致高达94%的索引内容是无效的测试代码。我们通过在解析器中增加对测试目录的过滤，彻底解决了这个问题，索引质量得到了质的提升。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我们还修复了SDK角色推断中的一个bug。问题出在我们误用了类名而非完整的包路径进行判断。通过修正这个错误并扩展检测规则，我们显著提升了角色推断的准确率。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另一个问题是Interface没有被索引，导致查询接口方法时缺少上下文。我们通过修改代码解析器，使其能够处理Interface类型，从而解决了这个问题。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我们还发现通用查询的排序结果不理想。这是因为早期的排序策略过于简单。为此，我们引入了前面提到的五级加权重排序策略，显著改善了搜索结果的相关性。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当用户搜索包含特殊字符的关键词时，FTS5会报错。我们通过在查询前对输入进行语法转义，解决了这个问题，提升了系统的健壮性。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我们还发现了一些层级误标的问题，这主要是由于推断规则不够完善。通过持续优化规则，我们逐步提高了层级判断的准确性。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在测试中我们发现，索引中缺少了一些关键字段，这影响了检索的精确性。我们通过完善代码解析器，确保了所有关键字段都被正确提取和索引。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一个棘手的问题是，LLM经常不主动调用我们提供的MCP工具。我们发现原因在于工具描述太抽象。通过在描述中加入明确的中文触发词和场景示例，我们成功教会了LLM在合适的时机使用工具，触发率明显提升。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LLM生成代码时经常出现“import幻觉”，即编造不存在的import路径。根本原因是Prompt中信息不足。我们的解决方案是在Prompt中明确提供每个SDK条目的完整import路径和类型信息，这使得import幻觉基本消除，生成的代码可以直接编译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个问题是入口方法返回值链路的断裂。开发者常常不知道拿到一个对象后下一步该做什么。我们通过新增一个分组函数，将入口方法和其返回值的调用链关联起来，实现了一次检索即可获得完整调用路径的效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经过这段时间的努力，我们已经取得了显著的成果。从架构设计到核心引擎、工具的实现，再到数据解析和Prompt流水线，整个技术链路已经打通。反馈闭环的基础设施也已准备就绪。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展望未来，我们规划了清晰的Roadmap。高优先级的任务是准备真实的企业数据并进行全链路验证。中优先级任务包括支持更多类型的数据源和语言，并优化系统性能。低优先级任务则关注于系统的扩展性和生产环境的适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想分享四点经验总结。第一，采用渐进式架构，降低了项目启动的门槛。第二，坚持优雅降级原则，保证了系统的稳定性。第三，我们深刻认识到数据质量是决定效果的上限。第四，安全必须内建于系统设计之初。这些经验将指导我们未来的工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我的分享到此结束，感谢大家的聆听。现在是问答环节，欢迎大家提问。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2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2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jpeg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jpeg"/><Relationship Id="rId5" Type="http://schemas.openxmlformats.org/officeDocument/2006/relationships/image" Target="../media/image9.jpeg"/><Relationship Id="rId4" Type="http://schemas.openxmlformats.org/officeDocument/2006/relationships/image" Target="../media/image2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16.svg"/><Relationship Id="rId9" Type="http://schemas.openxmlformats.org/officeDocument/2006/relationships/image" Target="../media/image2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jpeg"/><Relationship Id="rId4" Type="http://schemas.openxmlformats.org/officeDocument/2006/relationships/image" Target="../media/image2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jpeg"/><Relationship Id="rId4" Type="http://schemas.openxmlformats.org/officeDocument/2006/relationships/image" Target="../media/image1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1.svg"/><Relationship Id="rId4" Type="http://schemas.openxmlformats.org/officeDocument/2006/relationships/image" Target="../media/image30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A0F19">
                  <a:alpha val="70000"/>
                </a:srgbClr>
              </a:gs>
              <a:gs pos="100000">
                <a:srgbClr val="05080F">
                  <a:alpha val="85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2413000"/>
            <a:ext cx="1066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私域知识赋能AI Coding工具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937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18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技术方案与实践：从通用大模型到业务专家型Copilot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715000"/>
            <a:ext cx="12192000" cy="889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5816600"/>
            <a:ext cx="106680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A0AEC0"/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汇报人：[姓名] | 日期：2026年3月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通用AI编程的核心矛盾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4508500" cy="4445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12700" cap="flat" cmpd="sng">
            <a:solidFill>
              <a:srgbClr val="2DD4B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841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2032000" y="1841500"/>
            <a:ext cx="3175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通用AI的局限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921000"/>
            <a:ext cx="4127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3111500"/>
            <a:ext cx="4127500" cy="825500"/>
          </a:xfrm>
          <a:prstGeom prst="roundRect">
            <a:avLst>
              <a:gd name="adj" fmla="val 0"/>
            </a:avLst>
          </a:prstGeom>
          <a:solidFill>
            <a:srgbClr val="FF4D4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079500" y="3213100"/>
            <a:ext cx="304800" cy="304800"/>
          </a:xfrm>
          <a:prstGeom prst="roundRect">
            <a:avLst>
              <a:gd name="adj" fmla="val 0"/>
            </a:avLst>
          </a:prstGeom>
          <a:solidFill>
            <a:srgbClr val="FF4D4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1524000" y="3149600"/>
            <a:ext cx="336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不懂内部术语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无法理解企业内部自定义的业务概念与专属黑话，生成内容偏离实际场景。</a:t>
            </a:r>
          </a:p>
        </p:txBody>
      </p:sp>
      <p:sp>
        <p:nvSpPr>
          <p:cNvPr id="11" name="AutoShape 11"/>
          <p:cNvSpPr/>
          <p:nvPr/>
        </p:nvSpPr>
        <p:spPr>
          <a:xfrm>
            <a:off x="952500" y="4064000"/>
            <a:ext cx="4127500" cy="825500"/>
          </a:xfrm>
          <a:prstGeom prst="roundRect">
            <a:avLst>
              <a:gd name="adj" fmla="val 0"/>
            </a:avLst>
          </a:prstGeom>
          <a:solidFill>
            <a:srgbClr val="FF4D4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079500" y="4165600"/>
            <a:ext cx="304800" cy="304800"/>
          </a:xfrm>
          <a:prstGeom prst="roundRect">
            <a:avLst>
              <a:gd name="adj" fmla="val 0"/>
            </a:avLst>
          </a:prstGeom>
          <a:solidFill>
            <a:srgbClr val="FF4D4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524000" y="4102100"/>
            <a:ext cx="336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不知私有SDK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缺乏对内部自研组件库与封闭SDK的认知，代码调用频繁报错无法运行。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952500" y="5016500"/>
            <a:ext cx="4127500" cy="825500"/>
          </a:xfrm>
          <a:prstGeom prst="roundRect">
            <a:avLst>
              <a:gd name="adj" fmla="val 0"/>
            </a:avLst>
          </a:prstGeom>
          <a:solidFill>
            <a:srgbClr val="FF4D4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1079500" y="5118100"/>
            <a:ext cx="304800" cy="304800"/>
          </a:xfrm>
          <a:prstGeom prst="roundRect">
            <a:avLst>
              <a:gd name="adj" fmla="val 0"/>
            </a:avLst>
          </a:prstGeom>
          <a:solidFill>
            <a:srgbClr val="FF4D4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1524000" y="5054600"/>
            <a:ext cx="336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无视历史决策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忽略技术选型背景与历史坑点，给出的方案与既有系统架构存在根本冲突。</a:t>
            </a:r>
          </a:p>
        </p:txBody>
      </p:sp>
      <p:sp>
        <p:nvSpPr>
          <p:cNvPr id="17" name="AutoShape 17"/>
          <p:cNvSpPr/>
          <p:nvPr/>
        </p:nvSpPr>
        <p:spPr>
          <a:xfrm>
            <a:off x="5524500" y="1651000"/>
            <a:ext cx="25400" cy="4445000"/>
          </a:xfrm>
          <a:prstGeom prst="roundRect">
            <a:avLst>
              <a:gd name="adj" fmla="val 0"/>
            </a:avLst>
          </a:prstGeom>
          <a:solidFill>
            <a:srgbClr val="2DD4B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88000" y="1905000"/>
            <a:ext cx="1016000" cy="1016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524500" y="3048000"/>
            <a:ext cx="114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VS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5524500" y="3937000"/>
            <a:ext cx="1143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技术能力</a:t>
            </a:r>
            <a:b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与业务现实</a:t>
            </a:r>
            <a:b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的断层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921500" y="1651000"/>
            <a:ext cx="4508500" cy="4445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12700" cap="flat" cmpd="sng">
            <a:solidFill>
              <a:srgbClr val="2DD4B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112000" y="1841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191500" y="1841500"/>
            <a:ext cx="3175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开发者的困境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112000" y="2921000"/>
            <a:ext cx="4127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7112000" y="3111500"/>
            <a:ext cx="4127500" cy="1333500"/>
          </a:xfrm>
          <a:prstGeom prst="roundRect">
            <a:avLst>
              <a:gd name="adj" fmla="val 0"/>
            </a:avLst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7239000" y="3213100"/>
            <a:ext cx="304800" cy="304800"/>
          </a:xfrm>
          <a:prstGeom prst="roundRect">
            <a:avLst>
              <a:gd name="adj" fmla="val 0"/>
            </a:avLst>
          </a:prstGeom>
          <a:solidFill>
            <a:srgbClr val="F59E0B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7683500" y="3149600"/>
            <a:ext cx="3556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反复“调教”，效率低下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AI生成的初始代码往往无法直接使用，平均需要经历</a:t>
            </a:r>
            <a:r>
              <a:rPr lang="en-US" sz="1200" b="1" i="0" u="none" strike="noStrike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&gt;5轮</a:t>
            </a: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的人工修改与回环。开发者花费大量时间在纠正错误而非核心逻辑构建上，形成了新的“数字体力活”。</a:t>
            </a:r>
          </a:p>
        </p:txBody>
      </p:sp>
      <p:sp>
        <p:nvSpPr>
          <p:cNvPr id="28" name="AutoShape 28"/>
          <p:cNvSpPr/>
          <p:nvPr/>
        </p:nvSpPr>
        <p:spPr>
          <a:xfrm>
            <a:off x="7112000" y="4572000"/>
            <a:ext cx="4127500" cy="1524000"/>
          </a:xfrm>
          <a:prstGeom prst="roundRect">
            <a:avLst>
              <a:gd name="adj" fmla="val 0"/>
            </a:avLst>
          </a:prstGeom>
          <a:solidFill>
            <a:srgbClr val="38BDF8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7239000" y="4673600"/>
            <a:ext cx="304800" cy="304800"/>
          </a:xfrm>
          <a:prstGeom prst="roundRect">
            <a:avLst>
              <a:gd name="adj" fmla="val 0"/>
            </a:avLst>
          </a:prstGeom>
          <a:solidFill>
            <a:srgbClr val="38BDF8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7683500" y="4610100"/>
            <a:ext cx="355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项目级理解严重缺失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调研显示，</a:t>
            </a:r>
            <a:r>
              <a:rPr lang="en-US" sz="1200" b="1" i="0" u="none" strike="noStrike">
                <a:solidFill>
                  <a:srgbClr val="38BDF8"/>
                </a:solidFill>
                <a:latin typeface="Noto Sans SC"/>
                <a:ea typeface="Noto Sans SC"/>
                <a:cs typeface="Noto Sans SC"/>
                <a:sym typeface="Noto Sans SC"/>
              </a:rPr>
              <a:t>63%</a:t>
            </a: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的开发者反馈现有通用工具无法把握复杂的业务上下文与架构约束。这种“只见树木，不见森林”的能力短板，让AI在真实企业级开发场景中难以承担关键角色。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打造业务专家型Copilot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3556000" cy="25400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3556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714500"/>
            <a:ext cx="762000" cy="76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841500" y="1714500"/>
            <a:ext cx="2349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业务专家 Copilot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603500"/>
            <a:ext cx="3238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以业务视角为核心，深度理解业务逻辑与用户意图。不再是通用的指令执行者，而是能结合行业Know-how，为特定业务场景提供精准、可落地的决策支持与执行方案。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508500" y="1524000"/>
            <a:ext cx="3556000" cy="25400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508500" y="1524000"/>
            <a:ext cx="3556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99000" y="1714500"/>
            <a:ext cx="762000" cy="76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5588000" y="1714500"/>
            <a:ext cx="2349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AI 深度理解能力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99000" y="2603500"/>
            <a:ext cx="3238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基于先进大模型底座，具备复杂语义分析、多模态理解与逻辑推理能力。突破通用模型的认知边界，能够解析模糊需求、关联上下文信息，准确捕捉业务背后的真实诉求。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255000" y="1524000"/>
            <a:ext cx="3556000" cy="25400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255000" y="1524000"/>
            <a:ext cx="3556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445500" y="1714500"/>
            <a:ext cx="762000" cy="76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334500" y="1714500"/>
            <a:ext cx="2349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私域知识工程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445500" y="2603500"/>
            <a:ext cx="3238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沉淀企业核心业务数据、历史项目经验、流程规范与行业洞察。通过知识抽取、清洗与结构化，构建专属高质量知识库，让AI拥有企业独有的业务“记忆”与专业判断能力。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318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1E293B">
              <a:alpha val="92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4508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1714500" y="450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智能需求开发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5207000"/>
            <a:ext cx="3238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快速理解业务需求文档，自动生成原型设计与核心代码框架，大幅缩短从需求到实现的周期，提升开发响应速度。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08500" y="4318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1E293B">
              <a:alpha val="92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8"/>
          <a:srcRect t="132" b="132"/>
          <a:stretch>
            <a:fillRect/>
          </a:stretch>
        </p:blipFill>
        <p:spPr>
          <a:xfrm>
            <a:off x="4699000" y="4508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461000" y="450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精准问题定位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99000" y="5207000"/>
            <a:ext cx="3238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基于日志与监控数据，智能分析系统异常，快速定位故障根因，减少人工排查时间，保障业务系统的高可用性与稳定性。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255000" y="4318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1E293B">
              <a:alpha val="92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445500" y="4508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9" name="AutoShape 29"/>
          <p:cNvSpPr/>
          <p:nvPr/>
        </p:nvSpPr>
        <p:spPr>
          <a:xfrm>
            <a:off x="9207500" y="4508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自动化代码检视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445500" y="5207000"/>
            <a:ext cx="3238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自动扫描代码质量，识别潜在Bug与安全漏洞，遵循企业编码规范进行实时建议，从源头提升软件交付的安全性与可靠性。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双引擎驱动：Spec + RAG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4445000"/>
          </a:xfrm>
          <a:prstGeom prst="roundRect">
            <a:avLst>
              <a:gd name="adj" fmla="val 0"/>
            </a:avLst>
          </a:prstGeom>
          <a:solidFill>
            <a:srgbClr val="1E293B">
              <a:alpha val="92000"/>
            </a:srgbClr>
          </a:solidFill>
          <a:ln w="12700" cap="flat" cmpd="sng">
            <a:solidFill>
              <a:srgbClr val="2DD4B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16000" y="19050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2095500" y="1968500"/>
            <a:ext cx="355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Spec引擎 (硬约束)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984500"/>
            <a:ext cx="469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作为系统的“安全盾”，通过严格的结构化定义，从源头保证业务与技术的合规底线。它是不可突破的规则基石，拒绝生成任何不合规的执行逻辑。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4064000"/>
            <a:ext cx="469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143000" y="4127500"/>
            <a:ext cx="4445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核心要素包含：标准化的接口契约、不可篡改的核心数据契约、以及固化的系统行为执行准则。三者共同构成了系统运行的技术铁律。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5270500"/>
            <a:ext cx="4699000" cy="825500"/>
          </a:xfrm>
          <a:prstGeom prst="roundRect">
            <a:avLst>
              <a:gd name="adj" fmla="val 0"/>
            </a:avLst>
          </a:prstGeom>
          <a:solidFill>
            <a:srgbClr val="2DD4BF">
              <a:alpha val="2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143000" y="5334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生成前静态校验：</a:t>
            </a:r>
            <a:r>
              <a:rPr lang="en-US" sz="12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在代码或流程生成动作执行前，自动完成全量规则匹配与合规性筛查，将风险拦截在落地之前。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223000" y="1651000"/>
            <a:ext cx="5207000" cy="4445000"/>
          </a:xfrm>
          <a:prstGeom prst="roundRect">
            <a:avLst>
              <a:gd name="adj" fmla="val 0"/>
            </a:avLst>
          </a:prstGeom>
          <a:solidFill>
            <a:srgbClr val="1E293B">
              <a:alpha val="92000"/>
            </a:srgbClr>
          </a:solidFill>
          <a:ln w="12700" cap="flat" cmpd="sng">
            <a:solidFill>
              <a:srgbClr val="2DD4BF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77000" y="19050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556500" y="1968500"/>
            <a:ext cx="355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RAG引擎 (软智能)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984500"/>
            <a:ext cx="469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作为系统的“智慧脑”，基于海量非结构化知识库进行动态联想与推理。它为执行过程提供高相关性的上下文支持，让生成结果具备业务场景的适应性。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477000" y="4064000"/>
            <a:ext cx="469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604000" y="4127500"/>
            <a:ext cx="4445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关键资源涵盖：历史成功方案库、实时更新的API文档解析、以及行业沉淀的最佳实践案例，按需调用以构建贴合具体场景的灵活解决方案。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77000" y="5270500"/>
            <a:ext cx="4699000" cy="825500"/>
          </a:xfrm>
          <a:prstGeom prst="roundRect">
            <a:avLst>
              <a:gd name="adj" fmla="val 0"/>
            </a:avLst>
          </a:prstGeom>
          <a:solidFill>
            <a:srgbClr val="2DD4BF">
              <a:alpha val="2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604000" y="5334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语义检索动态注入：</a:t>
            </a:r>
            <a:r>
              <a:rPr lang="en-US" sz="12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在生成过程中实时检索相关知识，将匹配到的上下文信息智能融合进执行逻辑，赋予结果更强的业务理解力。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五层架构与反馈闭环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2108200" cy="31750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2108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9000" y="1714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889000" y="2413000"/>
            <a:ext cx="18542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数据源层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23545">
            <a:off x="889022" y="2914650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889000" y="3048000"/>
            <a:ext cx="1854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整合业务文档、开放API/SDK、历史代码仓库与工单系统数据，打破信息孤岛，构建多源异构的原始信息输入池。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984500" y="1524000"/>
            <a:ext cx="2108200" cy="31750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2984500" y="1524000"/>
            <a:ext cx="2108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111500" y="1714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3111500" y="2413000"/>
            <a:ext cx="18542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知识加工层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23545">
            <a:off x="3111522" y="2914650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3111500" y="3048000"/>
            <a:ext cx="1854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利用AST语法分析、语义向量化与实体抽取技术，将非结构化文本转化为结构化知识图谱，完成从“数据”到“认知”的核心转换。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207000" y="1524000"/>
            <a:ext cx="2108200" cy="31750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207000" y="1524000"/>
            <a:ext cx="2108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334000" y="1714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334000" y="2413000"/>
            <a:ext cx="18542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知识存储层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23545">
            <a:off x="5334022" y="2914650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5334000" y="3048000"/>
            <a:ext cx="1854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采用混合存储架构，融合高性能向量库、全文索引与图数据库，支持万亿级知识的毫秒级检索与复杂关联推理。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429500" y="1524000"/>
            <a:ext cx="2108200" cy="31750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7429500" y="1524000"/>
            <a:ext cx="2108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56500" y="1714500"/>
            <a:ext cx="609600" cy="609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7556500" y="2413000"/>
            <a:ext cx="18542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检索与生成层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rot="-23545">
            <a:off x="7556522" y="2914650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7556500" y="3048000"/>
            <a:ext cx="1854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执行混合检索召回相关片段，通过MCP协议调度大模型，智能组装上下文与工程化Prompt，生成高质量可落地的代码解决方案。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652000" y="1524000"/>
            <a:ext cx="2108200" cy="31750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9652000" y="1524000"/>
            <a:ext cx="2108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79000" y="1714500"/>
            <a:ext cx="609600" cy="6096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9779000" y="2413000"/>
            <a:ext cx="18542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AI Coding工具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23545">
            <a:off x="9779022" y="2914650"/>
            <a:ext cx="1854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9779000" y="3048000"/>
            <a:ext cx="1854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面向开发者的IDE插件与Web工作台，提供智能代码补全、缺陷实时修复与自动化重构能力，直接赋能一线研发提效。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762000" y="4889500"/>
            <a:ext cx="10998200" cy="1587500"/>
          </a:xfrm>
          <a:prstGeom prst="roundRect">
            <a:avLst>
              <a:gd name="adj" fmla="val 0"/>
            </a:avLst>
          </a:prstGeom>
          <a:solidFill>
            <a:srgbClr val="2DD4BF">
              <a:alpha val="1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5080000"/>
            <a:ext cx="558800" cy="5588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1778000" y="5016500"/>
            <a:ext cx="6731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运营反馈闭环：从工具到加工的进化回路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>
                <a:solidFill>
                  <a:srgbClr val="B4BEC8"/>
                </a:solidFill>
                <a:latin typeface="Noto Sans SC"/>
                <a:ea typeface="Noto Sans SC"/>
                <a:cs typeface="Noto Sans SC"/>
                <a:sym typeface="Noto Sans SC"/>
              </a:rPr>
              <a:t>工具端的真实使用数据（如代码采纳率、运行时报错、开发者人工修正）会实时回流至知识加工层。系统基于反馈数据动态更新语义模型权重、修正知识库偏差，并优化Prompt策略，形成“数据输入-模型生成-应用反馈-认知升级”的正向循环，让AI能力随业务实践持续迭代。</a:t>
            </a:r>
          </a:p>
        </p:txBody>
      </p:sp>
      <p:cxnSp>
        <p:nvCxnSpPr>
          <p:cNvPr id="37" name="Connector 37"/>
          <p:cNvCxnSpPr/>
          <p:nvPr/>
        </p:nvCxnSpPr>
        <p:spPr>
          <a:xfrm rot="5361804">
            <a:off x="8128000" y="5645185"/>
            <a:ext cx="114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38"/>
          <p:cNvSpPr/>
          <p:nvPr/>
        </p:nvSpPr>
        <p:spPr>
          <a:xfrm>
            <a:off x="8890000" y="5143500"/>
            <a:ext cx="2730500" cy="1206500"/>
          </a:xfrm>
          <a:prstGeom prst="roundRect">
            <a:avLst>
              <a:gd name="adj" fmla="val 0"/>
            </a:avLst>
          </a:prstGeom>
          <a:solidFill>
            <a:srgbClr val="2DD4BF">
              <a:alpha val="2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39"/>
          <p:cNvSpPr/>
          <p:nvPr/>
        </p:nvSpPr>
        <p:spPr>
          <a:xfrm>
            <a:off x="9017000" y="5232400"/>
            <a:ext cx="2476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自我进化的智能引擎</a:t>
            </a:r>
            <a:endParaRPr lang="en-US" sz="1100"/>
          </a:p>
          <a:p>
            <a:pPr marL="0" indent="0" algn="ctr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CF0EB"/>
                </a:solidFill>
                <a:latin typeface="Noto Sans SC"/>
                <a:ea typeface="Noto Sans SC"/>
                <a:cs typeface="Noto Sans SC"/>
                <a:sym typeface="Noto Sans SC"/>
              </a:rPr>
              <a:t>越用越懂业务，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CF0EB"/>
                </a:solidFill>
                <a:latin typeface="Noto Sans SC"/>
                <a:ea typeface="Noto Sans SC"/>
                <a:cs typeface="Noto Sans SC"/>
                <a:sym typeface="Noto Sans SC"/>
              </a:rPr>
              <a:t>越用越精准高效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762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数据流转全景图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255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255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多源异构数据统一接入，涵盖业务日志、文档资料与实时流数据，打破信息孤岛。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3876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23876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24511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知识加工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4511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数据清洗、去噪与实体抽取，将非结构化信息转化为标准化的向量特征与知识图谱。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0132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0132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0767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知识存储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0767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基于分布式向量数据库持久化存储，支持海量数据的高并发写入与毫秒级检索响应。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6134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6134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56769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混合检索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6769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0F2F1"/>
                </a:solidFill>
                <a:latin typeface="Noto Sans SC"/>
                <a:ea typeface="Noto Sans SC"/>
                <a:cs typeface="Noto Sans SC"/>
                <a:sym typeface="Noto Sans SC"/>
              </a:rPr>
              <a:t>融合语义相似度与关键词精确匹配，结合业务权重算法，精准召回最相关的知识片段。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2136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72136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72771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MCP Server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72771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0F2F1"/>
                </a:solidFill>
                <a:latin typeface="Noto Sans SC"/>
                <a:ea typeface="Noto Sans SC"/>
                <a:cs typeface="Noto Sans SC"/>
                <a:sym typeface="Noto Sans SC"/>
              </a:rPr>
              <a:t>模型上下文协议核心服务，实现大模型与外部工具的安全、可靠且低延迟的交互调用。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7884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87884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88519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Prompt组装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8519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0F2F1"/>
                </a:solidFill>
                <a:latin typeface="Noto Sans SC"/>
                <a:ea typeface="Noto Sans SC"/>
                <a:cs typeface="Noto Sans SC"/>
                <a:sym typeface="Noto Sans SC"/>
              </a:rPr>
              <a:t>动态上下文拼接引擎，将历史对话、检索结果与业务模板融合，生成高质量指令。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0350500" y="1778000"/>
            <a:ext cx="1524000" cy="2794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10350500" y="1778000"/>
            <a:ext cx="1524000" cy="381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10414000" y="1968500"/>
            <a:ext cx="139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AI生成代码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0414000" y="2730500"/>
            <a:ext cx="1397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基于大模型推理能力，直接生成符合规范的可执行代码，实现从需求到落地的自动化。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62000" y="4953000"/>
            <a:ext cx="11112500" cy="127000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1016000" y="5105400"/>
            <a:ext cx="10604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通过全链路的数据智能处理与核心环节的技术赋能，这套架构实现了从原始数据到可落地代码的高效自动化生成。其中，混合检索、MCP Server与Prompt组装构成了系统的“智慧中枢”，它们共同决定了生成代码的准确性、相关性与业务适配度，从而大幅提升开发效率与业务响应速度。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889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灵活的部署拓扑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2540000"/>
          </a:xfrm>
          <a:prstGeom prst="roundRect">
            <a:avLst>
              <a:gd name="adj" fmla="val 0"/>
            </a:avLst>
          </a:prstGeom>
          <a:solidFill>
            <a:srgbClr val="0F172A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207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18796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1879600"/>
            <a:ext cx="4191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开发者本地环境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OpenCode IDE + MCP Server (stdio 通信)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175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将核心服务下沉至本地终端，通过标准输入输出实现无网络延迟的数据交互。开发者可在隔离环境中自由调试，所有上下文与配置完全私有化，保障开发效率与代码安全。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1651000"/>
            <a:ext cx="5207000" cy="2540000"/>
          </a:xfrm>
          <a:prstGeom prst="roundRect">
            <a:avLst>
              <a:gd name="adj" fmla="val 0"/>
            </a:avLst>
          </a:prstGeom>
          <a:solidFill>
            <a:srgbClr val="0F172A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13500" y="18796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7302500" y="1879600"/>
            <a:ext cx="393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团队共享服务集群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540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Search Service (FastAPI 微服务)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13500" y="3175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构建高性能的后端微服务基座，统一对外提供检索与计算能力。支持水平扩展的资源池化架构，让团队成员共享索引与知识库，打破信息孤岛，大幅提升跨成员协作的响应速度。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445000"/>
            <a:ext cx="5207000" cy="1778000"/>
          </a:xfrm>
          <a:prstGeom prst="roundRect">
            <a:avLst>
              <a:gd name="adj" fmla="val 0"/>
            </a:avLst>
          </a:prstGeom>
          <a:solidFill>
            <a:srgbClr val="1E293B">
              <a:alpha val="95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762000" y="4445000"/>
            <a:ext cx="50800" cy="1778000"/>
          </a:xfrm>
          <a:prstGeom prst="roundRect">
            <a:avLst>
              <a:gd name="adj" fmla="val 0"/>
            </a:avLst>
          </a:prstGeom>
          <a:solidFill>
            <a:srgbClr val="2DD4B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16000" y="4546600"/>
            <a:ext cx="4699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轻量单机模式</a:t>
            </a: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| 零依赖 · 秒级启动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1016000" y="5080000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集成 SQLite、FAISS 与 NetworkX 轻量级引擎，无需外部服务依赖即可快速拉起运行。极低的资源占用让它成为开发调试、单元测试及小规模原型验证的理想选择，开箱即用。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223000" y="4445000"/>
            <a:ext cx="5207000" cy="1778000"/>
          </a:xfrm>
          <a:prstGeom prst="roundRect">
            <a:avLst>
              <a:gd name="adj" fmla="val 0"/>
            </a:avLst>
          </a:prstGeom>
          <a:solidFill>
            <a:srgbClr val="1E293B">
              <a:alpha val="95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223000" y="4445000"/>
            <a:ext cx="50800" cy="1778000"/>
          </a:xfrm>
          <a:prstGeom prst="roundRect">
            <a:avLst>
              <a:gd name="adj" fmla="val 0"/>
            </a:avLst>
          </a:prstGeom>
          <a:solidFill>
            <a:srgbClr val="2DD4BF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477000" y="4546600"/>
            <a:ext cx="4699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生产集群模式</a:t>
            </a: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| 高吞吐 · 弹性扩容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77000" y="5080000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深度适配 Elasticsearch、Milvus 与 Neo4j 企业级分布式数据库。支持多节点集群部署与动态负载均衡，轻松应对亿级数据规模的高并发查询，为业务的长期稳定运行提供坚实可靠的技术底座。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结构化的知识分类体系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603500" cy="4064000"/>
          </a:xfrm>
          <a:prstGeom prst="roundRect">
            <a:avLst>
              <a:gd name="adj" fmla="val 0"/>
            </a:avLst>
          </a:prstGeom>
          <a:solidFill>
            <a:srgbClr val="172536">
              <a:alpha val="88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l="35000" r="35000"/>
          <a:stretch>
            <a:fillRect/>
          </a:stretch>
        </p:blipFill>
        <p:spPr>
          <a:xfrm>
            <a:off x="952500" y="19685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762000" y="2857500"/>
            <a:ext cx="260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术语/业务词汇库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556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89000" y="3746500"/>
            <a:ext cx="2349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核心示例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89000" y="4318000"/>
            <a:ext cx="234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沉淀幂等键、业务流水号等关键业务概念的统一定义，消除团队间的理解歧义，建立技术沟通的通用语言基石，减少信息损耗。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530600" y="1651000"/>
            <a:ext cx="2603500" cy="4064000"/>
          </a:xfrm>
          <a:prstGeom prst="roundRect">
            <a:avLst>
              <a:gd name="adj" fmla="val 0"/>
            </a:avLst>
          </a:prstGeom>
          <a:solidFill>
            <a:srgbClr val="172536">
              <a:alpha val="88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35306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721100" y="19685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3530600" y="2857500"/>
            <a:ext cx="260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SDK/API文档库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721100" y="3556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3657600" y="3746500"/>
            <a:ext cx="2349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调用范式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657600" y="4318000"/>
            <a:ext cx="234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规范 PointsClient.deduct() 等核心接口的入参、出参与异常码定义，提供可直接复用的代码调用示例，大幅降低开发者的系统接入与调试成本。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99200" y="1651000"/>
            <a:ext cx="2603500" cy="4064000"/>
          </a:xfrm>
          <a:prstGeom prst="roundRect">
            <a:avLst>
              <a:gd name="adj" fmla="val 0"/>
            </a:avLst>
          </a:prstGeom>
          <a:solidFill>
            <a:srgbClr val="172536">
              <a:alpha val="88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2992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489700" y="19685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6299200" y="2857500"/>
            <a:ext cx="260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代码规范与最佳实践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489700" y="3556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6426200" y="3746500"/>
            <a:ext cx="2349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实施准则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26200" y="4318000"/>
            <a:ext cx="234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明确支付回调必须实现幂等性、敏感数据脱敏存储等硬性技术规约，固化经过验证的架构设计模式，从源头规避常见的生产级事故风险。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067800" y="1651000"/>
            <a:ext cx="2603500" cy="4064000"/>
          </a:xfrm>
          <a:prstGeom prst="roundRect">
            <a:avLst>
              <a:gd name="adj" fmla="val 0"/>
            </a:avLst>
          </a:prstGeom>
          <a:solidFill>
            <a:srgbClr val="172536">
              <a:alpha val="88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90678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258300" y="19685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8" name="AutoShape 28"/>
          <p:cNvSpPr/>
          <p:nvPr/>
        </p:nvSpPr>
        <p:spPr>
          <a:xfrm>
            <a:off x="9067800" y="2857500"/>
            <a:ext cx="2603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历史上下文库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258300" y="3556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9194800" y="3746500"/>
            <a:ext cx="2349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经验沉淀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194800" y="4318000"/>
            <a:ext cx="234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归档缺陷记录 INC-4829 根因分析、重大架构评审结论等历史决策文档，让后来者快速理解系统演进脉络，避免重复踩坑，传承技术经验。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9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三路并行混合检索引擎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2857500"/>
          </a:xfrm>
          <a:prstGeom prst="roundRect">
            <a:avLst>
              <a:gd name="adj" fmla="val 0"/>
            </a:avLst>
          </a:prstGeom>
          <a:solidFill>
            <a:srgbClr val="1C2632">
              <a:alpha val="8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841500"/>
            <a:ext cx="3111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BM25 全文检索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413000"/>
            <a:ext cx="3111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基于经典概率检索模型，对关键词进行精准的字面匹配，支持灵活的 OR 语义组合，是快速定位文档片段的基石。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429000"/>
            <a:ext cx="3111500" cy="889000"/>
          </a:xfrm>
          <a:prstGeom prst="roundRect">
            <a:avLst>
              <a:gd name="adj" fmla="val 0"/>
            </a:avLst>
          </a:prstGeom>
          <a:solidFill>
            <a:srgbClr val="2DD4BF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079500" y="3505200"/>
            <a:ext cx="28575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A7F3D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核心优势：毫秒级响应速度，极低的计算资源消耗，适用于高频、简单的关键词查询场景。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492500" cy="2857500"/>
          </a:xfrm>
          <a:prstGeom prst="roundRect">
            <a:avLst>
              <a:gd name="adj" fmla="val 0"/>
            </a:avLst>
          </a:prstGeom>
          <a:solidFill>
            <a:srgbClr val="1C2632">
              <a:alpha val="8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45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635500" y="1841500"/>
            <a:ext cx="3111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向量语义检索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35500" y="2413000"/>
            <a:ext cx="3111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搭载 bge-large-zh 预训练模型，将文本转化为高维向量。通过余弦相似度计算，跨越字面形式，精准理解用户查询的深层意图。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35500" y="3429000"/>
            <a:ext cx="3111500" cy="889000"/>
          </a:xfrm>
          <a:prstGeom prst="roundRect">
            <a:avLst>
              <a:gd name="adj" fmla="val 0"/>
            </a:avLst>
          </a:prstGeom>
          <a:solidFill>
            <a:srgbClr val="2DD4BF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762500" y="3505200"/>
            <a:ext cx="28575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A7F3D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核心优势：解决同义词、近义词及句式改写带来的检索盲区，大幅提升复杂自然语言问题的召回率。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1651000"/>
            <a:ext cx="3492500" cy="2857500"/>
          </a:xfrm>
          <a:prstGeom prst="roundRect">
            <a:avLst>
              <a:gd name="adj" fmla="val 0"/>
            </a:avLst>
          </a:prstGeom>
          <a:solidFill>
            <a:srgbClr val="1C2632">
              <a:alpha val="8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128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318500" y="1841500"/>
            <a:ext cx="3111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图遍历检索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18500" y="2413000"/>
            <a:ext cx="3111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基于知识图谱的实体拓扑结构，沿关系边进行深度遍历与推理。从单点查询扩展到网状关联，发现数据背后隐藏的逻辑脉络。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318500" y="3429000"/>
            <a:ext cx="3111500" cy="889000"/>
          </a:xfrm>
          <a:prstGeom prst="roundRect">
            <a:avLst>
              <a:gd name="adj" fmla="val 0"/>
            </a:avLst>
          </a:prstGeom>
          <a:solidFill>
            <a:srgbClr val="2DD4BF">
              <a:alpha val="1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445500" y="3505200"/>
            <a:ext cx="28575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A7F3D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核心优势：处理“谁是...的父亲”、“A与B有何关联”等多跳推理任务，挖掘非结构化数据中隐含的价值。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4699000"/>
            <a:ext cx="10858500" cy="1778000"/>
          </a:xfrm>
          <a:prstGeom prst="roundRect">
            <a:avLst>
              <a:gd name="adj" fmla="val 0"/>
            </a:avLst>
          </a:prstGeom>
          <a:solidFill>
            <a:srgbClr val="0F1923">
              <a:alpha val="92000"/>
            </a:srgbClr>
          </a:solidFill>
          <a:ln w="12700" cap="flat" cmpd="sng">
            <a:solidFill>
              <a:srgbClr val="475569">
                <a:alpha val="8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16000" y="4889500"/>
            <a:ext cx="1143000" cy="1143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24" name="Connector 24"/>
          <p:cNvCxnSpPr/>
          <p:nvPr/>
        </p:nvCxnSpPr>
        <p:spPr>
          <a:xfrm rot="5365623">
            <a:off x="1778000" y="5518182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2667000" y="4889500"/>
            <a:ext cx="863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异步并发调度与熔断机制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2667000" y="5397500"/>
            <a:ext cx="8763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采用</a:t>
            </a:r>
            <a:r>
              <a:rPr lang="en-US" sz="13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asyncio.gather</a:t>
            </a:r>
            <a:r>
              <a:rPr lang="en-US" sz="13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实现三路任务并行执行，最大化吞吐能力；内置 300ms 超时熔断保护，防止长尾查询拖垮系统。这种架构在保证召回广度与语义深度的同时，将端到端延迟控制在用户无感知的毫秒级区间，是支撑海量实时请求的关键工程实践。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五级加权重排序策略 (v1.4)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952500"/>
          </a:xfrm>
          <a:prstGeom prst="roundRect">
            <a:avLst>
              <a:gd name="adj" fmla="val 0"/>
            </a:avLst>
          </a:prstGeom>
          <a:solidFill>
            <a:srgbClr val="142332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6256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final = score × type ×</a:t>
            </a:r>
            <a:r>
              <a:rPr lang="en-US" sz="1800" b="0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role</a:t>
            </a:r>
            <a:r>
              <a:rPr lang="en-US" sz="1800" b="0" i="0" u="none" strike="noStrike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×</a:t>
            </a:r>
            <a:r>
              <a:rPr lang="en-US" sz="1800" b="0" i="0" u="none" strike="noStrike">
                <a:solidFill>
                  <a:srgbClr val="38BDF8"/>
                </a:solidFill>
                <a:latin typeface="Noto Sans SC"/>
                <a:ea typeface="Noto Sans SC"/>
                <a:cs typeface="Noto Sans SC"/>
                <a:sym typeface="Noto Sans SC"/>
              </a:rPr>
              <a:t>layer</a:t>
            </a:r>
            <a:r>
              <a:rPr lang="en-US" sz="1800" b="0" i="0" u="none" strike="noStrike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×</a:t>
            </a:r>
            <a:r>
              <a:rPr lang="en-US" sz="1800" b="0" i="0" u="none" strike="noStrike">
                <a:solidFill>
                  <a:srgbClr val="A855F7"/>
                </a:solidFill>
                <a:latin typeface="Noto Sans SC"/>
                <a:ea typeface="Noto Sans SC"/>
                <a:cs typeface="Noto Sans SC"/>
                <a:sym typeface="Noto Sans SC"/>
              </a:rPr>
              <a:t>gateway</a:t>
            </a:r>
            <a:r>
              <a:rPr lang="en-US" sz="1800" b="0" i="0" u="none" strike="noStrike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×</a:t>
            </a:r>
            <a:r>
              <a:rPr lang="en-US" sz="1800" b="0" i="0" u="none" strike="noStrike">
                <a:solidFill>
                  <a:srgbClr val="F43F5E"/>
                </a:solidFill>
                <a:latin typeface="Noto Sans SC"/>
                <a:ea typeface="Noto Sans SC"/>
                <a:cs typeface="Noto Sans SC"/>
                <a:sym typeface="Noto Sans SC"/>
              </a:rPr>
              <a:t>keyword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794000"/>
            <a:ext cx="3175000" cy="2603500"/>
          </a:xfrm>
          <a:prstGeom prst="roundRect">
            <a:avLst>
              <a:gd name="adj" fmla="val 0"/>
            </a:avLst>
          </a:prstGeom>
          <a:solidFill>
            <a:srgbClr val="1E2D41">
              <a:alpha val="93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762000" y="2794000"/>
            <a:ext cx="3175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2984500"/>
            <a:ext cx="279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原始分 Score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556000"/>
            <a:ext cx="2794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基于内容与用户查询的基础匹配度算法生成的初始分值。它是后续所有加权计算的基准输入，客观反映了文档本身与检索需求的原始语义相关性。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5383230">
            <a:off x="2889250" y="4089415"/>
            <a:ext cx="2603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4318000" y="2794000"/>
            <a:ext cx="3619500" cy="1714500"/>
          </a:xfrm>
          <a:prstGeom prst="roundRect">
            <a:avLst>
              <a:gd name="adj" fmla="val 0"/>
            </a:avLst>
          </a:prstGeom>
          <a:solidFill>
            <a:srgbClr val="2DD4BF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318000" y="2794000"/>
            <a:ext cx="50800" cy="1714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508500" y="28956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角色 Role · 3.3x 核心加成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508500" y="3365500"/>
            <a:ext cx="336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权重规则：entry_point (最高) &gt; public_api &gt; internal。赋予核心入口类角色最高优先级，确保开发者最常用的接入点和核心功能文档被优先展示。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2794000"/>
            <a:ext cx="3619500" cy="1714500"/>
          </a:xfrm>
          <a:prstGeom prst="roundRect">
            <a:avLst>
              <a:gd name="adj" fmla="val 0"/>
            </a:avLst>
          </a:prstGeom>
          <a:solidFill>
            <a:srgbClr val="38BDF8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8128000" y="2794000"/>
            <a:ext cx="50800" cy="1714500"/>
          </a:xfrm>
          <a:prstGeom prst="roundRect">
            <a:avLst>
              <a:gd name="adj" fmla="val 0"/>
            </a:avLst>
          </a:prstGeom>
          <a:solidFill>
            <a:srgbClr val="38BDF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318500" y="28956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8BDF8"/>
                </a:solidFill>
                <a:latin typeface="Noto Sans SC"/>
                <a:ea typeface="Noto Sans SC"/>
                <a:cs typeface="Noto Sans SC"/>
                <a:sym typeface="Noto Sans SC"/>
              </a:rPr>
              <a:t>层级 Layer · 2.7x 结构权重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3365500"/>
            <a:ext cx="336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权重规则：high (高层级) &gt; mid &gt; low。对顶层架构设计、核心接口定义等高层级内容给予显著加权，体现技术文档的结构重要性，过滤底层实现细节。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4635500"/>
            <a:ext cx="3619500" cy="1714500"/>
          </a:xfrm>
          <a:prstGeom prst="roundRect">
            <a:avLst>
              <a:gd name="adj" fmla="val 0"/>
            </a:avLst>
          </a:prstGeom>
          <a:solidFill>
            <a:srgbClr val="A855F7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4318000" y="4635500"/>
            <a:ext cx="50800" cy="1714500"/>
          </a:xfrm>
          <a:prstGeom prst="roundRect">
            <a:avLst>
              <a:gd name="adj" fmla="val 0"/>
            </a:avLst>
          </a:prstGeom>
          <a:solidFill>
            <a:srgbClr val="A855F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4508500" y="47371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A855F7"/>
                </a:solidFill>
                <a:latin typeface="Noto Sans SC"/>
                <a:ea typeface="Noto Sans SC"/>
                <a:cs typeface="Noto Sans SC"/>
                <a:sym typeface="Noto Sans SC"/>
              </a:rPr>
              <a:t>入口 Gateway · ×1.15 场景增益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08500" y="5207000"/>
            <a:ext cx="336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规则逻辑：entry_point + return_type 双重校验。针对特定调用场景与返回值类型的组合匹配，提供额外的相关性增益，优化特定开发场景下的结果。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128000" y="4635500"/>
            <a:ext cx="3619500" cy="1714500"/>
          </a:xfrm>
          <a:prstGeom prst="roundRect">
            <a:avLst>
              <a:gd name="adj" fmla="val 0"/>
            </a:avLst>
          </a:prstGeom>
          <a:solidFill>
            <a:srgbClr val="F43F5E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8128000" y="4635500"/>
            <a:ext cx="50800" cy="1714500"/>
          </a:xfrm>
          <a:prstGeom prst="roundRect">
            <a:avLst>
              <a:gd name="adj" fmla="val 0"/>
            </a:avLst>
          </a:prstGeom>
          <a:solidFill>
            <a:srgbClr val="F43F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8318500" y="47371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43F5E"/>
                </a:solidFill>
                <a:latin typeface="Noto Sans SC"/>
                <a:ea typeface="Noto Sans SC"/>
                <a:cs typeface="Noto Sans SC"/>
                <a:sym typeface="Noto Sans SC"/>
              </a:rPr>
              <a:t>关键词 Keyword · ×1.03 语义微调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318500" y="5207000"/>
            <a:ext cx="3365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规则逻辑：高频技术术语命中加成。基于行业专业术语库进行精准匹配，对包含关键技术概念的内容进行线性加权，提升专业内容的召回精度。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5777">
            <a:off x="4191005" y="4565650"/>
            <a:ext cx="7556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MCP工具矩阵：六大核心工具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18415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18034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通用混合检索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3495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融合多源异构数据，基于语义与关键词的深度检索引擎。打破内部信息孤岛，跨越非结构化文档与结构化数据库，快速为模型定位最相关的目标知识片段。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8415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080000" y="18034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精确查询实体定义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35500" y="23495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基于企业级结构化知识库，精准返回业务实体的标准定义、核心属性特征及上下游关联关系。消除大模型的概念歧义，为复杂业务判断提供坚实的定义支撑。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16510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763000" y="18034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获取适用规范契约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23495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智能匹配当前业务场景与执行上下文，自动调取对应的行业执行标准、API接口规范与合作契约条款。确保模型在生成方案时，始终依据合规、有效的业务准则。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0005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62000" y="40005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41910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397000" y="41529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项目上下文预加载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52500" y="4699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根据当前任务ID与执行环境，主动预加载关联的项目背景、历史交互记录与运行时参数。减少大模型的无效追问，将相关上下文前置，显著提升响应速度与准确度。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445000" y="40005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4445000" y="40005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5500" y="41910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5080000" y="41529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知识反馈上报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635500" y="4699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支持对检索结果的有效性进行人工评价，同时支持提交修正建议与新增知识点。形成闭环的知识迭代机制，让真实业务反馈反哺模型，持续优化模型的认知边界。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128000" y="4000500"/>
            <a:ext cx="3492500" cy="2095500"/>
          </a:xfrm>
          <a:prstGeom prst="roundRect">
            <a:avLst>
              <a:gd name="adj" fmla="val 0"/>
            </a:avLst>
          </a:prstGeom>
          <a:solidFill>
            <a:srgbClr val="172B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8128000" y="4000500"/>
            <a:ext cx="50800" cy="2095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41910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8763000" y="4152900"/>
            <a:ext cx="2730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Prompt组装流水线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318500" y="4699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基于动态规则引擎的自动化构建工具。将用户指令、上下文信息与领域专家知识片段，自动拼接为符合特定范式的高质量Prompt，适配不同大模型的输入要求。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9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889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Prompt组装流水线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输入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原始信息接入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多源数据采集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2098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22098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22098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安全清洗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098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防注入过滤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合规性初筛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6576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36576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36576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智能去重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6576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ID+相似度校验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剔除重复数据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1054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1054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51054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SDK分组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1054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功能模块归类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API关联聚类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532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5532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5532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文档分组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532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业务场景归档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上下文对齐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0010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80010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80010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Token裁剪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0010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长度合规适配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信息无损压缩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448800" y="1651000"/>
            <a:ext cx="1346200" cy="1206500"/>
          </a:xfrm>
          <a:prstGeom prst="roundRect">
            <a:avLst>
              <a:gd name="adj" fmla="val 0"/>
            </a:avLst>
          </a:prstGeom>
          <a:solidFill>
            <a:srgbClr val="141E2D">
              <a:alpha val="9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9448800" y="1651000"/>
            <a:ext cx="13462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9448800" y="1752600"/>
            <a:ext cx="1346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组装输出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448800" y="2159000"/>
            <a:ext cx="1346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结构化编排</a:t>
            </a:r>
            <a:b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标准Prompt交付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62000" y="3175000"/>
            <a:ext cx="2667000" cy="1968500"/>
          </a:xfrm>
          <a:prstGeom prst="roundRect">
            <a:avLst>
              <a:gd name="adj" fmla="val 0"/>
            </a:avLst>
          </a:prstGeom>
          <a:solidFill>
            <a:srgbClr val="0F1928">
              <a:alpha val="92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" name="AutoShape 33"/>
          <p:cNvSpPr/>
          <p:nvPr/>
        </p:nvSpPr>
        <p:spPr>
          <a:xfrm>
            <a:off x="762000" y="3175000"/>
            <a:ext cx="2667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889000" y="3327400"/>
            <a:ext cx="241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安全清洗：风险免疫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89000" y="3810000"/>
            <a:ext cx="241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针对原始输入执行深度防注入检测，自动过滤恶意字符与非法指令。从数据源头阻断安全隐患，确保Prompt在大模型执行环境中的纯净性与运行安全，避免模型被诱导执行危险操作。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3594100" y="3175000"/>
            <a:ext cx="2667000" cy="1968500"/>
          </a:xfrm>
          <a:prstGeom prst="roundRect">
            <a:avLst>
              <a:gd name="adj" fmla="val 0"/>
            </a:avLst>
          </a:prstGeom>
          <a:solidFill>
            <a:srgbClr val="0F1928">
              <a:alpha val="92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3594100" y="3175000"/>
            <a:ext cx="2667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3721100" y="3327400"/>
            <a:ext cx="241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智能去重：降本增效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3721100" y="3810000"/>
            <a:ext cx="241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采用“唯一ID+内容语义指纹”双重算法，精准识别并合并重复信息。有效剔除冗余数据，减少模型无效计算量，同时避免重复上下文对生成结果的干扰，显著提升交互响应速度与准确率。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6426200" y="3175000"/>
            <a:ext cx="2667000" cy="1968500"/>
          </a:xfrm>
          <a:prstGeom prst="roundRect">
            <a:avLst>
              <a:gd name="adj" fmla="val 0"/>
            </a:avLst>
          </a:prstGeom>
          <a:solidFill>
            <a:srgbClr val="0F1928">
              <a:alpha val="92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6426200" y="3175000"/>
            <a:ext cx="2667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553200" y="3327400"/>
            <a:ext cx="241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逻辑分组：结构对齐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553200" y="3810000"/>
            <a:ext cx="241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依据业务逻辑与返回值链条，将离散信息聚类成高内聚的语义块。使Prompt上下文具备清晰的层次与执行边界，帮助模型建立正确的任务认知，从而生成更符合工程执行逻辑的结果。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9258300" y="3175000"/>
            <a:ext cx="2667000" cy="1968500"/>
          </a:xfrm>
          <a:prstGeom prst="roundRect">
            <a:avLst>
              <a:gd name="adj" fmla="val 0"/>
            </a:avLst>
          </a:prstGeom>
          <a:solidFill>
            <a:srgbClr val="0F1928">
              <a:alpha val="92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" name="AutoShape 45"/>
          <p:cNvSpPr/>
          <p:nvPr/>
        </p:nvSpPr>
        <p:spPr>
          <a:xfrm>
            <a:off x="9258300" y="3175000"/>
            <a:ext cx="2667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9385300" y="3327400"/>
            <a:ext cx="241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显式标注：上下文锚点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9385300" y="3810000"/>
            <a:ext cx="241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标准化补充技术元信息，如Import路径、依赖库版本与执行环境参数。为模型提供明确的技术上下文锚点，大幅降低其理解成本，确保生成的代码片段能无缝嵌入现有工程体系，即插即用。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762000" y="5397500"/>
            <a:ext cx="11176000" cy="1079500"/>
          </a:xfrm>
          <a:prstGeom prst="roundRect">
            <a:avLst>
              <a:gd name="adj" fmla="val 0"/>
            </a:avLst>
          </a:prstGeom>
          <a:solidFill>
            <a:srgbClr val="0F1928">
              <a:alpha val="85000"/>
            </a:srgbClr>
          </a:solidFill>
          <a:ln w="12700" cap="flat" cmpd="sng">
            <a:solidFill>
              <a:srgbClr val="2DD4BF">
                <a:alpha val="1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49"/>
          <p:cNvSpPr/>
          <p:nvPr/>
        </p:nvSpPr>
        <p:spPr>
          <a:xfrm>
            <a:off x="762000" y="5397500"/>
            <a:ext cx="508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" name="AutoShape 50"/>
          <p:cNvSpPr/>
          <p:nvPr/>
        </p:nvSpPr>
        <p:spPr>
          <a:xfrm>
            <a:off x="1016000" y="5524500"/>
            <a:ext cx="1066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BEBEB"/>
                </a:solidFill>
                <a:latin typeface="Noto Sans SC"/>
                <a:ea typeface="Noto Sans SC"/>
                <a:cs typeface="Noto Sans SC"/>
                <a:sym typeface="Noto Sans SC"/>
              </a:rPr>
              <a:t>这条全链路自动化流水线，将非结构化的原始输入转化为高精度、高安全、高可用的工程化Prompt。它不仅解决了人工编写的低效与不一致性，更通过标准化的“清洗-去重-组装”流程，为大模型应用构建了稳定可靠的输入基座，让AI生成的价值在实际业务场景中高效落地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SDK角色体系与返回值链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207000" cy="4826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714500"/>
            <a:ext cx="1143000" cy="1143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2286000" y="1714500"/>
            <a:ext cx="34925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体系层级智能推断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200" b="0" i="0" u="none" strike="noStrike">
                <a:solidFill>
                  <a:srgbClr val="C8C8C8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基于静态代码分析技术，通过预设规则自动完成代码角色与执行层级的判定，为后续逻辑理解建立基础坐标。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952500" y="3048000"/>
            <a:ext cx="4826000" cy="1460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50800" cy="1460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143000" y="3111500"/>
            <a:ext cx="4508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三级角色推断模型 (6大核心规则)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143000" y="3556000"/>
            <a:ext cx="4508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entry_point &gt; public_api &gt; internal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B4B4B4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从外部入口到内部实现的权限分层。明确哪些是对外暴露的接口，哪些是核心实现逻辑，界定代码的安全边界与职责范围。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52500" y="4635500"/>
            <a:ext cx="4826000" cy="1460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952500" y="4635500"/>
            <a:ext cx="50800" cy="1460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143000" y="4699000"/>
            <a:ext cx="4508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三级方法执行权重 (6维评估标准)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143000" y="5143500"/>
            <a:ext cx="4508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high &gt; mid &gt; low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B4B4B4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基于业务复杂度与调用频率的动态分级。为高频核心逻辑分配更高资源优先级，为辅助功能匹配轻量化执行策略。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5390953">
            <a:off x="3683000" y="3930658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6223000" y="1524000"/>
            <a:ext cx="5461000" cy="4826000"/>
          </a:xfrm>
          <a:prstGeom prst="roundRect">
            <a:avLst>
              <a:gd name="adj" fmla="val 0"/>
            </a:avLst>
          </a:prstGeom>
          <a:solidFill>
            <a:srgbClr val="0F172A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413500" y="1714500"/>
            <a:ext cx="5080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6540500" y="1778000"/>
            <a:ext cx="48895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核心算法：_group_by_return_chain()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E6E6E6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将入口方法与其返回值接口进行深度绑定，构建一条从“调用动作发起”到“最终结果交付”的完整数据流转链路，解决调用上下文的割裂问题。</a:t>
            </a:r>
          </a:p>
        </p:txBody>
      </p:sp>
      <p:sp>
        <p:nvSpPr>
          <p:cNvPr id="19" name="AutoShape 19"/>
          <p:cNvSpPr/>
          <p:nvPr/>
        </p:nvSpPr>
        <p:spPr>
          <a:xfrm>
            <a:off x="6477000" y="34290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FileServiceManager.getSystemService()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77000" y="45720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FileService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52070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DCDCDC"/>
                </a:solidFill>
                <a:latin typeface="Noto Sans SC"/>
                <a:ea typeface="Noto Sans SC"/>
                <a:cs typeface="Noto Sans SC"/>
                <a:sym typeface="Noto Sans SC"/>
              </a:rPr>
              <a:t>FileService.methodA(), FileService.methodB()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5285450">
            <a:off x="8763000" y="4375256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2DD4BF">
                <a:alpha val="100000"/>
              </a:srgbClr>
            </a:solidFill>
            <a:prstDash val="solid"/>
            <a:round/>
            <a:headEnd type="none" w="lg" len="lg"/>
            <a:tailEnd type="arrow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三大核心应用场景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72533">
              <a:alpha val="85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905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需求开发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667000"/>
            <a:ext cx="3048000" cy="4826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79500" y="2705100"/>
            <a:ext cx="2794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✅ 状态：已完成测试验证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429000"/>
            <a:ext cx="304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标准化执行链路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4000500"/>
            <a:ext cx="3048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79500" y="4127500"/>
            <a:ext cx="2794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自动检索业务API接口定义与技术方案，严格遵循企业开发规范，一键生成可直接运行的代码骨架。这一过程消除了手动编写基础代码的重复劳动，同时从源头确保了项目的代码风格统一与规范性。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815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72533">
              <a:alpha val="85000"/>
            </a:srgbClr>
          </a:solidFill>
          <a:ln w="12700" cap="flat" cmpd="sng">
            <a:solidFill>
              <a:srgbClr val="FBBF24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3815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FBBF2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572000" y="1905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问题定位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667000"/>
            <a:ext cx="3048000" cy="482600"/>
          </a:xfrm>
          <a:prstGeom prst="roundRect">
            <a:avLst>
              <a:gd name="adj" fmla="val 0"/>
            </a:avLst>
          </a:prstGeom>
          <a:solidFill>
            <a:srgbClr val="FBBF24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4699000" y="2705100"/>
            <a:ext cx="2794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⏳ 状态：核心逻辑待验证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572000" y="3429000"/>
            <a:ext cx="304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智能故障诊断流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572000" y="4000500"/>
            <a:ext cx="3048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4699000" y="4127500"/>
            <a:ext cx="2794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实时捕获系统运行时的异常堆栈，通过算法匹配历史缺陷知识库中的同类模式。系统基于匹配结果动态生成排查思路与修复建议，帮助开发人员在复杂的运行环境中快速锁定问题根源，缩短故障响应周期。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001000" y="1651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72533">
              <a:alpha val="85000"/>
            </a:srgbClr>
          </a:solidFill>
          <a:ln w="12700" cap="flat" cmpd="sng">
            <a:solidFill>
              <a:srgbClr val="FBBF24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0010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FBBF2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8191500" y="1905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代码检视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191500" y="2667000"/>
            <a:ext cx="3048000" cy="482600"/>
          </a:xfrm>
          <a:prstGeom prst="roundRect">
            <a:avLst>
              <a:gd name="adj" fmla="val 0"/>
            </a:avLst>
          </a:prstGeom>
          <a:solidFill>
            <a:srgbClr val="FBBF24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8318500" y="2705100"/>
            <a:ext cx="2794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⏳ 状态：规则引擎待验证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191500" y="3429000"/>
            <a:ext cx="304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自动化合规校验网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191500" y="4000500"/>
            <a:ext cx="3048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7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8318500" y="4127500"/>
            <a:ext cx="2794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自动拉取最新的接口Spec规范作为基准，深度解析代码提交的变更差异。利用预定义的规则引擎，精准识别并标记出不符合规范的实现细节，在代码合入版本库之前拦截潜在风险，保障系统的长期可维护性。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889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数据预处理管道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255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Loader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255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原始数据多源加载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支持文档与代码文件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的流式输入处理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6162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26162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26797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Classifier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6797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智能类型判别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区分代码、注释与文档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精准路由至对应模块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4704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4704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5339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Chunker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339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语义化内容分块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基于语法结构切分单元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保持逻辑完整性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3246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95000"/>
            </a:srgbClr>
          </a:solidFill>
          <a:ln w="12700" cap="flat" cmpd="sng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3246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63881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Parser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881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深度 AST 语法解析</a:t>
            </a:r>
            <a:b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提取代码核心元信息</a:t>
            </a:r>
            <a:b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构建结构化数据模型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788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1788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82423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Orchestrator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2423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任务编排与调度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多阶段处理任务分发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确保高吞吐并行执行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969500" y="1651000"/>
            <a:ext cx="1714500" cy="1714500"/>
          </a:xfrm>
          <a:prstGeom prst="roundRect">
            <a:avLst>
              <a:gd name="adj" fmla="val 0"/>
            </a:avLst>
          </a:prstGeom>
          <a:solidFill>
            <a:srgbClr val="141E28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9969500" y="1651000"/>
            <a:ext cx="17145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10033000" y="1841500"/>
            <a:ext cx="1587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三路索引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10033000" y="2413000"/>
            <a:ext cx="1587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知识图谱化存储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文档、代码与语义索引</a:t>
            </a:r>
            <a:b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支撑精准检索与推理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62000" y="3683000"/>
            <a:ext cx="10922000" cy="2540000"/>
          </a:xfrm>
          <a:prstGeom prst="roundRect">
            <a:avLst>
              <a:gd name="adj" fmla="val 0"/>
            </a:avLst>
          </a:prstGeom>
          <a:solidFill>
            <a:srgbClr val="0F172A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762000" y="3683000"/>
            <a:ext cx="50800" cy="25400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1016000" y="3937000"/>
            <a:ext cx="355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核心引擎：AST 深度解析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016000" y="4572000"/>
            <a:ext cx="355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作为预处理管道的核心中枢，Java AST Parser 不仅仅是代码读取，更是将非结构化的文本转化为结构化语义数据的关键。它通过静态分析技术，穿透代码表层，提取出类、方法、依赖关系等核心逻辑，为后续的代码理解与智能问答提供了底层的数据基石。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5377821">
            <a:off x="3841750" y="4978420"/>
            <a:ext cx="1968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75569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5080000" y="3937000"/>
            <a:ext cx="215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5207000" y="40386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结构定义解析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5207000" y="4445000"/>
            <a:ext cx="196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精准提取 Package、Import 声明及类的继承实现关系。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366000" y="3937000"/>
            <a:ext cx="215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7493000" y="40386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方法特征提取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7493000" y="4445000"/>
            <a:ext cx="196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完整解析 Method Signature、参数列表及返回值类型。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9588500" y="3937000"/>
            <a:ext cx="20955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40"/>
          <p:cNvSpPr/>
          <p:nvPr/>
        </p:nvSpPr>
        <p:spPr>
          <a:xfrm>
            <a:off x="9715500" y="4038600"/>
            <a:ext cx="1841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逻辑流分析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9715500" y="4445000"/>
            <a:ext cx="184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识别内部调用链 Calls 与执行依赖关系。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5080000" y="5143500"/>
            <a:ext cx="215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3" name="AutoShape 43"/>
          <p:cNvSpPr/>
          <p:nvPr/>
        </p:nvSpPr>
        <p:spPr>
          <a:xfrm>
            <a:off x="5207000" y="52451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注释文档化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5207000" y="5651500"/>
            <a:ext cx="196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提取 Javadoc 标准注释，关联业务逻辑说明。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7366000" y="5143500"/>
            <a:ext cx="21590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46"/>
          <p:cNvSpPr/>
          <p:nvPr/>
        </p:nvSpPr>
        <p:spPr>
          <a:xfrm>
            <a:off x="7493000" y="52451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全路径还原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7493000" y="5651500"/>
            <a:ext cx="196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解析 Return Type Import 的全限定名与引用来源。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9588500" y="5143500"/>
            <a:ext cx="2095500" cy="10795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49"/>
          <p:cNvSpPr/>
          <p:nvPr/>
        </p:nvSpPr>
        <p:spPr>
          <a:xfrm>
            <a:off x="9715500" y="5245100"/>
            <a:ext cx="1841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数据归一化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9715500" y="5651500"/>
            <a:ext cx="184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统一输出格式，适配下游向量检索。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关键问题与解决总览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397500" cy="4699000"/>
          </a:xfrm>
          <a:prstGeom prst="roundRect">
            <a:avLst>
              <a:gd name="adj" fmla="val 0"/>
            </a:avLst>
          </a:prstGeom>
          <a:solidFill>
            <a:srgbClr val="14232D">
              <a:alpha val="8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752600"/>
            <a:ext cx="5080000" cy="482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Pipeline / 引擎层核心阻碍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4130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990600" y="24765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FTS5查询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底层语法不兼容，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检索性能未达标</a:t>
            </a:r>
          </a:p>
        </p:txBody>
      </p:sp>
      <p:sp>
        <p:nvSpPr>
          <p:cNvPr id="8" name="AutoShape 8"/>
          <p:cNvSpPr/>
          <p:nvPr/>
        </p:nvSpPr>
        <p:spPr>
          <a:xfrm>
            <a:off x="2260600" y="24130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2298700" y="24765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目录污染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Test目录文件干扰，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索引数据异常</a:t>
            </a:r>
          </a:p>
        </p:txBody>
      </p:sp>
      <p:sp>
        <p:nvSpPr>
          <p:cNvPr id="10" name="AutoShape 10"/>
          <p:cNvSpPr/>
          <p:nvPr/>
        </p:nvSpPr>
        <p:spPr>
          <a:xfrm>
            <a:off x="3568700" y="24130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3606800" y="24765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角色推断Bug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用户身份识别错误，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权限逻辑失效</a:t>
            </a:r>
          </a:p>
        </p:txBody>
      </p:sp>
      <p:sp>
        <p:nvSpPr>
          <p:cNvPr id="12" name="AutoShape 12"/>
          <p:cNvSpPr/>
          <p:nvPr/>
        </p:nvSpPr>
        <p:spPr>
          <a:xfrm>
            <a:off x="4876800" y="24130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914900" y="24765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接口未索引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关键数据漏收录，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查询无返回结果</a:t>
            </a:r>
          </a:p>
        </p:txBody>
      </p:sp>
      <p:sp>
        <p:nvSpPr>
          <p:cNvPr id="14" name="AutoShape 14"/>
          <p:cNvSpPr/>
          <p:nvPr/>
        </p:nvSpPr>
        <p:spPr>
          <a:xfrm>
            <a:off x="952500" y="38735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990600" y="39370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通用排序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结果集无序排列，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不符合业务预期</a:t>
            </a:r>
          </a:p>
        </p:txBody>
      </p:sp>
      <p:sp>
        <p:nvSpPr>
          <p:cNvPr id="16" name="AutoShape 16"/>
          <p:cNvSpPr/>
          <p:nvPr/>
        </p:nvSpPr>
        <p:spPr>
          <a:xfrm>
            <a:off x="2260600" y="38735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2298700" y="39370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语法错误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FTS5解析器报错，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请求无法执行</a:t>
            </a:r>
          </a:p>
        </p:txBody>
      </p:sp>
      <p:sp>
        <p:nvSpPr>
          <p:cNvPr id="18" name="AutoShape 18"/>
          <p:cNvSpPr/>
          <p:nvPr/>
        </p:nvSpPr>
        <p:spPr>
          <a:xfrm>
            <a:off x="3568700" y="38735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3606800" y="39370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层级误标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文档结构识别偏差，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分类层级混乱</a:t>
            </a:r>
          </a:p>
        </p:txBody>
      </p:sp>
      <p:sp>
        <p:nvSpPr>
          <p:cNvPr id="20" name="AutoShape 20"/>
          <p:cNvSpPr/>
          <p:nvPr/>
        </p:nvSpPr>
        <p:spPr>
          <a:xfrm>
            <a:off x="4876800" y="3873500"/>
            <a:ext cx="1244600" cy="1333500"/>
          </a:xfrm>
          <a:prstGeom prst="roundRect">
            <a:avLst>
              <a:gd name="adj" fmla="val 0"/>
            </a:avLst>
          </a:prstGeom>
          <a:solidFill>
            <a:srgbClr val="2DD4BF">
              <a:alpha val="13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4914900" y="3937000"/>
            <a:ext cx="11684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字段缺失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关键元数据丢失，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100" b="0" i="0" u="none" strike="noStrike">
                <a:solidFill>
                  <a:srgbClr val="CBD5E1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影响后续处理</a:t>
            </a:r>
          </a:p>
        </p:txBody>
      </p:sp>
      <p:sp>
        <p:nvSpPr>
          <p:cNvPr id="22" name="AutoShape 22"/>
          <p:cNvSpPr/>
          <p:nvPr/>
        </p:nvSpPr>
        <p:spPr>
          <a:xfrm>
            <a:off x="952500" y="5334000"/>
            <a:ext cx="5143500" cy="9525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1016000" y="5397500"/>
            <a:ext cx="501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CBD5E1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引擎层问题分布于数据检索全链路，从语法解析到结果生成均存在断点。这类问题直接拉低了系统吞吐量，是影响用户体验的核心技术债，需集中资源优先解决。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5390708">
            <a:off x="3937000" y="3994159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6477000" y="1651000"/>
            <a:ext cx="5397500" cy="4699000"/>
          </a:xfrm>
          <a:prstGeom prst="roundRect">
            <a:avLst>
              <a:gd name="adj" fmla="val 0"/>
            </a:avLst>
          </a:prstGeom>
          <a:solidFill>
            <a:srgbClr val="14232D">
              <a:alpha val="8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667500" y="1752600"/>
            <a:ext cx="5080000" cy="482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MCP / 工具层执行异常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667500" y="2413000"/>
            <a:ext cx="1676400" cy="1968500"/>
          </a:xfrm>
          <a:prstGeom prst="roundRect">
            <a:avLst>
              <a:gd name="adj" fmla="val 0"/>
            </a:avLst>
          </a:prstGeom>
          <a:solidFill>
            <a:srgbClr val="F43F5E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705600" y="2476500"/>
            <a:ext cx="160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LLM被动调用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BD5E1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无法自动触发模型推理，需人工介入才能完成任务。这导致了自动化工作流的彻底断裂，是目前最亟待修复的流程性故障。</a:t>
            </a:r>
          </a:p>
        </p:txBody>
      </p:sp>
      <p:sp>
        <p:nvSpPr>
          <p:cNvPr id="29" name="AutoShape 29"/>
          <p:cNvSpPr/>
          <p:nvPr/>
        </p:nvSpPr>
        <p:spPr>
          <a:xfrm>
            <a:off x="8445500" y="2413000"/>
            <a:ext cx="1676400" cy="1968500"/>
          </a:xfrm>
          <a:prstGeom prst="roundRect">
            <a:avLst>
              <a:gd name="adj" fmla="val 0"/>
            </a:avLst>
          </a:prstGeom>
          <a:solidFill>
            <a:srgbClr val="F59E0B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8483600" y="2476500"/>
            <a:ext cx="160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Import幻觉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BD5E1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工具链存在隐性依赖冲突，运行时出现“幻觉式”引用错误。该问题具有偶发性，定位困难，严重影响了环境的稳定性与部署效率。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0160000" y="2413000"/>
            <a:ext cx="1676400" cy="1968500"/>
          </a:xfrm>
          <a:prstGeom prst="roundRect">
            <a:avLst>
              <a:gd name="adj" fmla="val 0"/>
            </a:avLst>
          </a:prstGeom>
          <a:solidFill>
            <a:srgbClr val="3B82F6">
              <a:alpha val="1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10198100" y="2476500"/>
            <a:ext cx="160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链路断裂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CBD5E1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上下游组件间返回值传递失败，上下文数据无法流转。这一技术阻断点直接导致核心功能模块间无法协同工作，业务逻辑无法闭环。</a:t>
            </a:r>
          </a:p>
        </p:txBody>
      </p:sp>
      <p:sp>
        <p:nvSpPr>
          <p:cNvPr id="33" name="AutoShape 33"/>
          <p:cNvSpPr/>
          <p:nvPr/>
        </p:nvSpPr>
        <p:spPr>
          <a:xfrm>
            <a:off x="6667500" y="4508500"/>
            <a:ext cx="5143500" cy="17145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6731000" y="4572000"/>
            <a:ext cx="50165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CBD5E1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工具层问题虽数量较少，但均属于高优先级的“致命性”故障。其中LLM的被动调用模式和链路断裂问题，直接切断了业务的自动化执行路径；而Import幻觉则增加了系统的不稳定性。这三个问题构成了当前项目推进的主要障碍，必须作为第一阶段的攻坚目标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FTS5 查询命中率极低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78200" cy="4445000"/>
          </a:xfrm>
          <a:prstGeom prst="roundRect">
            <a:avLst>
              <a:gd name="adj" fmla="val 0"/>
            </a:avLst>
          </a:prstGeom>
          <a:solidFill>
            <a:srgbClr val="1E293B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2032000" y="1968500"/>
            <a:ext cx="1981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Symptom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5211">
            <a:off x="1016014" y="31051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3302000"/>
            <a:ext cx="28702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有效结果被错误过滤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4318000"/>
            <a:ext cx="28702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在执行多关键词组合查询时，系统返回的结果综合得分极低，导致大量本应命中的核心内容被错误地判定为不相关而过滤掉，严重影响了业务检索的准确性。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19600" y="1651000"/>
            <a:ext cx="3378200" cy="4445000"/>
          </a:xfrm>
          <a:prstGeom prst="roundRect">
            <a:avLst>
              <a:gd name="adj" fmla="val 0"/>
            </a:avLst>
          </a:prstGeom>
          <a:solidFill>
            <a:srgbClr val="1E293B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19600" y="1651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48201" y="2169390"/>
            <a:ext cx="461818" cy="461818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5689600" y="1968500"/>
            <a:ext cx="1981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Root Cause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5211">
            <a:off x="4673614" y="31051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673600" y="3302000"/>
            <a:ext cx="28702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匹配逻辑与计分缺陷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673600" y="4318000"/>
            <a:ext cx="28702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FTS5 引擎默认采用严格的 AND 语义进行多条件匹配，容错性差；同时内置的分数归一化公式存在计算偏差，对长文本场景的权重分配不合理，微小差异被过度放大导致最终评分过低。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77200" y="1651000"/>
            <a:ext cx="3378200" cy="4445000"/>
          </a:xfrm>
          <a:prstGeom prst="roundRect">
            <a:avLst>
              <a:gd name="adj" fmla="val 0"/>
            </a:avLst>
          </a:prstGeom>
          <a:solidFill>
            <a:srgbClr val="1E293B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077200" y="1651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31199" y="2149763"/>
            <a:ext cx="4445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347200" y="1968500"/>
            <a:ext cx="1981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Solution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331214" y="31051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331200" y="3302000"/>
            <a:ext cx="28702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策略重构与算法升级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331200" y="4318000"/>
            <a:ext cx="28702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将查询词的连接逻辑从 AND 调整为 OR，有效扩大匹配覆盖范围；同时将分数归一化方式重构为线性相对映射，使分数分布更贴合业务实际需求，显著提升了有效结果的召回率。</a:t>
            </a:r>
            <a:endParaRPr lang="en-US" sz="1100"/>
          </a:p>
        </p:txBody>
      </p:sp>
      <p:sp>
        <p:nvSpPr>
          <p:cNvPr id="25" name="AutoShape 6">
            <a:extLst>
              <a:ext uri="{FF2B5EF4-FFF2-40B4-BE49-F238E27FC236}">
                <a16:creationId xmlns:a16="http://schemas.microsoft.com/office/drawing/2014/main" id="{C0E71BE2-D029-795C-1ED7-4890C7DC47A3}"/>
              </a:ext>
            </a:extLst>
          </p:cNvPr>
          <p:cNvSpPr/>
          <p:nvPr/>
        </p:nvSpPr>
        <p:spPr>
          <a:xfrm>
            <a:off x="1015999" y="2149763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E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2：test 目录代码污染索引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378200" cy="4191000"/>
          </a:xfrm>
          <a:prstGeom prst="roundRect">
            <a:avLst>
              <a:gd name="adj" fmla="val 0"/>
            </a:avLst>
          </a:prstGeom>
          <a:solidFill>
            <a:srgbClr val="162433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5999" y="3263900"/>
            <a:ext cx="28702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endParaRPr lang="en-US" sz="1100" dirty="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 dirty="0">
                <a:solidFill>
                  <a:srgbClr val="2DD4B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SYMPTOM</a:t>
            </a:r>
          </a:p>
        </p:txBody>
      </p:sp>
      <p:cxnSp>
        <p:nvCxnSpPr>
          <p:cNvPr id="7" name="Connector 7"/>
          <p:cNvCxnSpPr/>
          <p:nvPr/>
        </p:nvCxnSpPr>
        <p:spPr>
          <a:xfrm rot="-15211">
            <a:off x="1016014" y="418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016000" y="4381500"/>
            <a:ext cx="2870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`src/test/java` 目录下的测试代码被错误地识别为正式 SDK API 进行索引，此类无效内容占比高达 94%，直接导致了索引库的严重膨胀与检索精准度的大幅下降。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94200" y="1778000"/>
            <a:ext cx="3378200" cy="4191000"/>
          </a:xfrm>
          <a:prstGeom prst="roundRect">
            <a:avLst>
              <a:gd name="adj" fmla="val 0"/>
            </a:avLst>
          </a:prstGeom>
          <a:solidFill>
            <a:srgbClr val="162433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394200" y="1778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648200" y="3302000"/>
            <a:ext cx="28702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2DD4B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ROOT CAUSE</a:t>
            </a:r>
          </a:p>
        </p:txBody>
      </p:sp>
      <p:cxnSp>
        <p:nvCxnSpPr>
          <p:cNvPr id="14" name="Connector 14"/>
          <p:cNvCxnSpPr/>
          <p:nvPr/>
        </p:nvCxnSpPr>
        <p:spPr>
          <a:xfrm rot="-15211">
            <a:off x="4648214" y="418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648200" y="4381500"/>
            <a:ext cx="2870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核心解析函数 `parse_java_repo()` 在执行文件扫描逻辑时，缺乏对文件路径的语义判断，未将测试目录纳入排除规则，导致所有文件被无差别地读取和处理。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026400" y="1778000"/>
            <a:ext cx="3378200" cy="4191000"/>
          </a:xfrm>
          <a:prstGeom prst="roundRect">
            <a:avLst>
              <a:gd name="adj" fmla="val 0"/>
            </a:avLst>
          </a:prstGeom>
          <a:solidFill>
            <a:srgbClr val="162433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026400" y="1778000"/>
            <a:ext cx="33782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280400" y="3302000"/>
            <a:ext cx="28702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2DD4B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SOLUTION</a:t>
            </a:r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280414" y="4184650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280400" y="4381500"/>
            <a:ext cx="28702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在 `parse_java_repo()` 的文件读取流程中植入路径过滤器，实时检测并跳过所有包含 `/test/` 关键字的文件路径，从数据源头精准剔除无效测试代码，彻底净化索引数据。</a:t>
            </a:r>
            <a:endParaRPr lang="en-US" sz="1100"/>
          </a:p>
        </p:txBody>
      </p:sp>
      <p:pic>
        <p:nvPicPr>
          <p:cNvPr id="24" name="Picture 12">
            <a:extLst>
              <a:ext uri="{FF2B5EF4-FFF2-40B4-BE49-F238E27FC236}">
                <a16:creationId xmlns:a16="http://schemas.microsoft.com/office/drawing/2014/main" id="{F388F1BC-B17F-EC9C-61BC-5A43334DEE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33768" y="2149763"/>
            <a:ext cx="536863" cy="536863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6">
            <a:extLst>
              <a:ext uri="{FF2B5EF4-FFF2-40B4-BE49-F238E27FC236}">
                <a16:creationId xmlns:a16="http://schemas.microsoft.com/office/drawing/2014/main" id="{D562296A-E01A-99F7-C564-3CB369825D50}"/>
              </a:ext>
            </a:extLst>
          </p:cNvPr>
          <p:cNvSpPr/>
          <p:nvPr/>
        </p:nvSpPr>
        <p:spPr>
          <a:xfrm>
            <a:off x="997525" y="2149763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  <p:pic>
        <p:nvPicPr>
          <p:cNvPr id="27" name="Picture 19">
            <a:extLst>
              <a:ext uri="{FF2B5EF4-FFF2-40B4-BE49-F238E27FC236}">
                <a16:creationId xmlns:a16="http://schemas.microsoft.com/office/drawing/2014/main" id="{3AC85589-78EF-46E2-B526-E89CC53510A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31199" y="2149763"/>
            <a:ext cx="4445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3：SDK 角色推断 bug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2921000"/>
            <a:ext cx="3111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r>
              <a:rPr lang="en-US" sz="2000" b="1" i="0" u="none" strike="noStrike" dirty="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 (Symptom)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1016000" y="3683000"/>
            <a:ext cx="3111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 dirty="0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子包检测功能出现失效，导致角色标注结果出现明显偏差。系统无法准确识别不同业务模块下的用户角色归属，进而影响了后续业务逻辑的正常流转与权限控制策略的执行。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4381500" y="1651000"/>
            <a:ext cx="34925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635500" y="2921000"/>
            <a:ext cx="3111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 (Root Cause)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683000"/>
            <a:ext cx="3111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在核心匹配逻辑中，开发人员误用了仅包含类名的 `class_path` 作为关键识别依据，而非包含完整层级信息的 `package_name`。这种参数选择的偏差，在跨包调用和复杂类加载的场景下，导致了特征匹配的根本性错位。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001000" y="1651000"/>
            <a:ext cx="34925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255000" y="2921000"/>
            <a:ext cx="3111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 (Solution)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255000" y="3683000"/>
            <a:ext cx="31115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技术方案上，新增 `package_name` 作为核心入参以获取全路径信息；开发辅助检测函数增强特征校验；同时将底层判定规则从原有的3条扩展至6条，构建了更严密的逻辑网，实现对角色信息的全方位精准捕获。</a:t>
            </a:r>
            <a:endParaRPr lang="en-US" sz="1100"/>
          </a:p>
        </p:txBody>
      </p:sp>
      <p:sp>
        <p:nvSpPr>
          <p:cNvPr id="16" name="AutoShape 6">
            <a:extLst>
              <a:ext uri="{FF2B5EF4-FFF2-40B4-BE49-F238E27FC236}">
                <a16:creationId xmlns:a16="http://schemas.microsoft.com/office/drawing/2014/main" id="{A6C16C8E-BD11-BA04-BC65-D3F22F1BA09A}"/>
              </a:ext>
            </a:extLst>
          </p:cNvPr>
          <p:cNvSpPr/>
          <p:nvPr/>
        </p:nvSpPr>
        <p:spPr>
          <a:xfrm>
            <a:off x="1016000" y="2121476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  <p:pic>
        <p:nvPicPr>
          <p:cNvPr id="17" name="Picture 12">
            <a:extLst>
              <a:ext uri="{FF2B5EF4-FFF2-40B4-BE49-F238E27FC236}">
                <a16:creationId xmlns:a16="http://schemas.microsoft.com/office/drawing/2014/main" id="{E37C765E-54F0-90F6-28EE-53A5EBEB6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33768" y="2149763"/>
            <a:ext cx="536863" cy="536863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DF0B7185-1A80-8C44-0E1B-9782EECD28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31199" y="2149763"/>
            <a:ext cx="4445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4：Interface 未被索引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9050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b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(Symptom)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33655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在代码库中查询接口方法时，检索系统无法定位到对应的 Interface 定义。开发人员在调用接口时，无法获取到接口的完整契约信息，导致开发效率降低，且容易出现调用参数不匹配等潜在错误。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3815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55245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b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(Root Cause)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5720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572000" y="33655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核心代码解析器的逻辑存在设计盲点，在对源代码进行静态分析时，仅处理了 Class 类型的结构，完全忽略了 Interface 类型的识别与解析。这导致 Interface 的元数据信息从未被正确提取并写入索引库，因此查询时自然无法命中。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001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1E2D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001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9144000" y="2032000"/>
            <a:ext cx="215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b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(Solution)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915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191500" y="33655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对底层 `code_parser` 模块进行针对性重构，将 Interface 类型提升至与 Class 同等的优先级。修改解析逻辑以支持 Interface 的扫描，完整提取其包含的方法签名、参数定义及文档注释，并将这些关键信息正确同步至索引系统，从而恢复接口的可检索能力。</a:t>
            </a:r>
            <a:endParaRPr lang="en-US" sz="1100"/>
          </a:p>
        </p:txBody>
      </p:sp>
      <p:sp>
        <p:nvSpPr>
          <p:cNvPr id="24" name="AutoShape 6">
            <a:extLst>
              <a:ext uri="{FF2B5EF4-FFF2-40B4-BE49-F238E27FC236}">
                <a16:creationId xmlns:a16="http://schemas.microsoft.com/office/drawing/2014/main" id="{F363BEA9-6482-985B-1094-8E181F128941}"/>
              </a:ext>
            </a:extLst>
          </p:cNvPr>
          <p:cNvSpPr/>
          <p:nvPr/>
        </p:nvSpPr>
        <p:spPr>
          <a:xfrm>
            <a:off x="1009651" y="2225963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  <p:pic>
        <p:nvPicPr>
          <p:cNvPr id="25" name="Picture 12">
            <a:extLst>
              <a:ext uri="{FF2B5EF4-FFF2-40B4-BE49-F238E27FC236}">
                <a16:creationId xmlns:a16="http://schemas.microsoft.com/office/drawing/2014/main" id="{08CC0DDA-A961-7BD8-679D-DEC2CBC9D1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23956" y="2169968"/>
            <a:ext cx="536863" cy="536863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26" name="Picture 19">
            <a:extLst>
              <a:ext uri="{FF2B5EF4-FFF2-40B4-BE49-F238E27FC236}">
                <a16:creationId xmlns:a16="http://schemas.microsoft.com/office/drawing/2014/main" id="{14330142-EB14-C090-8ADB-526A6CEF7B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50250" y="2254249"/>
            <a:ext cx="4445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5：通用查询排序混乱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232D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3429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 (Symptom)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419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在执行通用关键词搜索时，系统返回的结果排序常与用户的实际业务预期相悖。关键的有效信息往往被大量低相关度的内容淹没，不仅增加了用户的筛选成本，更直接导致了检索效率低下与核心体验受损。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3815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232D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572000" y="3429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 (Root Cause)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572000" y="419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原因在于早期的排序策略设计过于简化，仅依赖基础的匹配规则进行结果呈现。该策略未充分考量知识文档的不同类型属性，同时也忽略了不同业务角色在实际工作中差异化的信息检索诉求，导致算法无法精准识别并优先展示高价值内容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001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4232D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8191500" y="3429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 (Solution)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91500" y="419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BF0F5"/>
                </a:solidFill>
                <a:latin typeface="Noto Sans SC"/>
                <a:ea typeface="Noto Sans SC"/>
                <a:cs typeface="Noto Sans SC"/>
                <a:sym typeface="Noto Sans SC"/>
              </a:rPr>
              <a:t>引入一套精细化的五级加权重排序策略。通过为不同知识类型、用户角色和具体业务场景配置独立的差异化权重系数，让排序模型能够动态感知检索意图，从而实现对结果的智能化调控，确保高相关、高价值的信息始终优先触达用户。</a:t>
            </a:r>
            <a:endParaRPr lang="en-US" sz="1100"/>
          </a:p>
        </p:txBody>
      </p:sp>
      <p:sp>
        <p:nvSpPr>
          <p:cNvPr id="18" name="AutoShape 6">
            <a:extLst>
              <a:ext uri="{FF2B5EF4-FFF2-40B4-BE49-F238E27FC236}">
                <a16:creationId xmlns:a16="http://schemas.microsoft.com/office/drawing/2014/main" id="{F33FAD3D-2591-0FBE-95F9-CD8A9DD1E905}"/>
              </a:ext>
            </a:extLst>
          </p:cNvPr>
          <p:cNvSpPr/>
          <p:nvPr/>
        </p:nvSpPr>
        <p:spPr>
          <a:xfrm>
            <a:off x="1016000" y="2121476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  <p:pic>
        <p:nvPicPr>
          <p:cNvPr id="19" name="Picture 12">
            <a:extLst>
              <a:ext uri="{FF2B5EF4-FFF2-40B4-BE49-F238E27FC236}">
                <a16:creationId xmlns:a16="http://schemas.microsoft.com/office/drawing/2014/main" id="{00420F71-D0D6-6299-DBF3-B510E2DF53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33768" y="2149763"/>
            <a:ext cx="536863" cy="536863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0E05DFB-5DCA-0DAA-0842-4959DABC1B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31199" y="2149763"/>
            <a:ext cx="444500" cy="444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6：FTS5 语法错误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20955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Symptom</a:t>
            </a:r>
          </a:p>
        </p:txBody>
      </p:sp>
      <p:cxnSp>
        <p:nvCxnSpPr>
          <p:cNvPr id="8" name="Connector 8"/>
          <p:cNvCxnSpPr/>
          <p:nvPr/>
        </p:nvCxnSpPr>
        <p:spPr>
          <a:xfrm rot="-14946">
            <a:off x="1016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35560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当用户在搜索功能中输入包含特殊字符（如通配符、引号、括号等）的关键词时，FTS5 搜索引擎无法正确解析查询语句，直接抛出语法错误，导致查询请求中断，前端无法获取有效搜索结果。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45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57785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Root Cause</a:t>
            </a:r>
          </a:p>
        </p:txBody>
      </p:sp>
      <p:cxnSp>
        <p:nvCxnSpPr>
          <p:cNvPr id="15" name="Connector 15"/>
          <p:cNvCxnSpPr/>
          <p:nvPr/>
        </p:nvCxnSpPr>
        <p:spPr>
          <a:xfrm rot="-14946">
            <a:off x="4699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99000" y="35560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系统在处理用户原始输入时，缺少关键的输入清洗环节。未对特殊语法字符进行预转义处理，导致 FTS5 引擎将这些字符误认为是查询指令的一部分，而非用户需要检索的普通文本内容，进而引发语法解析异常。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128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85200" y="23114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94615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Solution</a:t>
            </a:r>
          </a:p>
        </p:txBody>
      </p:sp>
      <p:cxnSp>
        <p:nvCxnSpPr>
          <p:cNvPr id="22" name="Connector 22"/>
          <p:cNvCxnSpPr/>
          <p:nvPr/>
        </p:nvCxnSpPr>
        <p:spPr>
          <a:xfrm rot="-14946">
            <a:off x="8382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8382000" y="35560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在构建 FTS5 查询语句前引入输入预处理机制。通过专用的转义函数，对用户输入中的所有特殊保留字符进行转义，将其转化为普通字符串字面量。这确保了搜索引擎能正确识别检索目标，彻底解决语法报错问题并提升系统健壮性。</a:t>
            </a:r>
            <a:endParaRPr lang="en-US" sz="1100"/>
          </a:p>
        </p:txBody>
      </p:sp>
      <p:sp>
        <p:nvSpPr>
          <p:cNvPr id="24" name="AutoShape 6">
            <a:extLst>
              <a:ext uri="{FF2B5EF4-FFF2-40B4-BE49-F238E27FC236}">
                <a16:creationId xmlns:a16="http://schemas.microsoft.com/office/drawing/2014/main" id="{32861029-6A61-8711-4257-E173438B1CEB}"/>
              </a:ext>
            </a:extLst>
          </p:cNvPr>
          <p:cNvSpPr/>
          <p:nvPr/>
        </p:nvSpPr>
        <p:spPr>
          <a:xfrm>
            <a:off x="952500" y="2318327"/>
            <a:ext cx="508000" cy="50107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  <p:pic>
        <p:nvPicPr>
          <p:cNvPr id="25" name="Picture 12">
            <a:extLst>
              <a:ext uri="{FF2B5EF4-FFF2-40B4-BE49-F238E27FC236}">
                <a16:creationId xmlns:a16="http://schemas.microsoft.com/office/drawing/2014/main" id="{F3528EE9-7902-4CA8-A18F-F6B145878D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2" b="132"/>
          <a:stretch>
            <a:fillRect/>
          </a:stretch>
        </p:blipFill>
        <p:spPr>
          <a:xfrm>
            <a:off x="4648200" y="2324100"/>
            <a:ext cx="495300" cy="4953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7：层级误标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67100" cy="4191000"/>
          </a:xfrm>
          <a:prstGeom prst="roundRect">
            <a:avLst>
              <a:gd name="adj" fmla="val 0"/>
            </a:avLst>
          </a:prstGeom>
          <a:solidFill>
            <a:srgbClr val="1E23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4671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2032000"/>
            <a:ext cx="914400" cy="914400"/>
          </a:xfrm>
          <a:prstGeom prst="diamond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032000" y="2032000"/>
            <a:ext cx="21336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(Symptom)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175000"/>
            <a:ext cx="30861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3429000"/>
            <a:ext cx="30861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在系统运行过程中，部分本应仅在内部调用的 `internal` 方法，被错误地标记为对外暴露的 `public_api`。这一异常直接造成了接口权限边界的模糊，不仅增加了非预期调用的风险，也为后续的系统安全维护埋下了隐患。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1778000"/>
            <a:ext cx="3467100" cy="4191000"/>
          </a:xfrm>
          <a:prstGeom prst="roundRect">
            <a:avLst>
              <a:gd name="adj" fmla="val 0"/>
            </a:avLst>
          </a:prstGeom>
          <a:solidFill>
            <a:srgbClr val="1E23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381500" y="1778000"/>
            <a:ext cx="34671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572000" y="20320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5651500" y="2032000"/>
            <a:ext cx="21336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(Root Cause)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572000" y="3175000"/>
            <a:ext cx="30861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572000" y="3429000"/>
            <a:ext cx="30861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根源在于现有的层级推断规则体系存在缺陷，过度依赖单一语法特征进行判定，缺乏对代码上下文、业务逻辑及调用关系的综合分析。当面对复杂的代码结构或特殊的命名模式时，规则无法准确识别方法的实际作用域，从而导致了层级的误判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001000" y="1778000"/>
            <a:ext cx="3467100" cy="4191000"/>
          </a:xfrm>
          <a:prstGeom prst="roundRect">
            <a:avLst>
              <a:gd name="adj" fmla="val 0"/>
            </a:avLst>
          </a:prstGeom>
          <a:solidFill>
            <a:srgbClr val="1E232D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001000" y="1778000"/>
            <a:ext cx="34671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191500" y="20320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9271000" y="2032000"/>
            <a:ext cx="21336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b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(Solution)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91500" y="3175000"/>
            <a:ext cx="30861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191500" y="3429000"/>
            <a:ext cx="30861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通过算法升级，引入方法调用链路、命名空间归属及历史调用数据等多维特征构建综合判定模型。同时建立规则的动态迭代机制，将历史误标案例作为训练样本持续优化模型参数，有效提升了层级推断的精准度，从根本上解决了此类误标问题。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8：字段缺失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952500" y="3048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 (Symptom)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746500"/>
            <a:ext cx="508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4000500"/>
            <a:ext cx="304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在实际检索测试中发现，索引库内核心业务关键字段存在明显缺失。这一问题直接导致检索算法无法匹配到关键信息，大幅降低了查询结果的准确性，影响了用户的正常使用体验。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572000" y="1968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572000" y="3048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 (Root Cause)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572000" y="3746500"/>
            <a:ext cx="508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572000" y="4000500"/>
            <a:ext cx="304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技术团队经过深层排查定位到问题根源：在数据预处理环节，`code_parser` 组件对特定格式的嵌套数据结构解析逻辑存在疏漏。这使得部分关键字段在转换过程中被意外过滤，未能成功进入后续的索引构建流程。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001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90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191500" y="1968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8191500" y="3048000"/>
            <a:ext cx="304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 (Solution)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191500" y="3746500"/>
            <a:ext cx="508000" cy="38100"/>
          </a:xfrm>
          <a:prstGeom prst="roundRect">
            <a:avLst>
              <a:gd name="adj" fmla="val 0"/>
            </a:avLst>
          </a:prstGeom>
          <a:solidFill>
            <a:srgbClr val="2DD4B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191500" y="4000500"/>
            <a:ext cx="304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立即对 `code_parser` 代码逻辑进行专项优化，完善对全量关键字段的识别与提取规则。同时增加数据完整性的自动化校验机制，在数据写入索引前进行严格检查，确保所有关键信息都能被准确解析并持久化存储，彻底杜绝此类问题的复发。</a:t>
            </a:r>
            <a:endParaRPr lang="en-US" sz="1100"/>
          </a:p>
        </p:txBody>
      </p:sp>
      <p:sp>
        <p:nvSpPr>
          <p:cNvPr id="20" name="AutoShape 6">
            <a:extLst>
              <a:ext uri="{FF2B5EF4-FFF2-40B4-BE49-F238E27FC236}">
                <a16:creationId xmlns:a16="http://schemas.microsoft.com/office/drawing/2014/main" id="{AB7EED54-2986-4D2D-23E9-112967A5EEE3}"/>
              </a:ext>
            </a:extLst>
          </p:cNvPr>
          <p:cNvSpPr/>
          <p:nvPr/>
        </p:nvSpPr>
        <p:spPr>
          <a:xfrm>
            <a:off x="952500" y="2032000"/>
            <a:ext cx="812800" cy="812800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9：LLM 不主动调用 MCP 工具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29000" cy="4445000"/>
          </a:xfrm>
          <a:prstGeom prst="roundRect">
            <a:avLst>
              <a:gd name="adj" fmla="val 0"/>
            </a:avLst>
          </a:prstGeom>
          <a:solidFill>
            <a:srgbClr val="1E232D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905000"/>
            <a:ext cx="889000" cy="889000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952500" y="1905000"/>
            <a:ext cx="88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968500" y="19304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 (Symptom)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4323">
            <a:off x="952513" y="3041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952500" y="3238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工具调用逻辑失效，信息获取偏差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52500" y="4381500"/>
            <a:ext cx="3048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C8D2DC"/>
                </a:solidFill>
                <a:latin typeface="Noto Sans SC"/>
                <a:ea typeface="Noto Sans SC"/>
                <a:cs typeface="Noto Sans SC"/>
                <a:sym typeface="Noto Sans SC"/>
              </a:rPr>
              <a:t>当用户咨询内部 SDK 使用方法时，LLM 并未执行预期的私域知识库检索动作，而是直接基于通用训练数据生成回答。这导致回复内容脱离内部最新文档，无法满足业务的精准查询需求。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445000" y="1651000"/>
            <a:ext cx="3429000" cy="4445000"/>
          </a:xfrm>
          <a:prstGeom prst="roundRect">
            <a:avLst>
              <a:gd name="adj" fmla="val 0"/>
            </a:avLst>
          </a:prstGeom>
          <a:solidFill>
            <a:srgbClr val="1E232D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4450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35500" y="19050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5651500" y="19304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 (Root Cause)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4635513" y="3041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4635500" y="3238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描述抽象模糊，缺乏触发锚点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35500" y="4381500"/>
            <a:ext cx="3048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C8D2DC"/>
                </a:solidFill>
                <a:latin typeface="Noto Sans SC"/>
                <a:ea typeface="Noto Sans SC"/>
                <a:cs typeface="Noto Sans SC"/>
                <a:sym typeface="Noto Sans SC"/>
              </a:rPr>
              <a:t>MCP 工具的元数据描述过于技术化且缺乏具体语境，仅定义了功能却未给出明确的触发场景。这使得 LLM 在理解用户意图时，无法有效将自然语言问题与工具能力进行关联匹配，从而跳过了关键的检索步骤。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128000" y="1651000"/>
            <a:ext cx="3429000" cy="4445000"/>
          </a:xfrm>
          <a:prstGeom prst="roundRect">
            <a:avLst>
              <a:gd name="adj" fmla="val 0"/>
            </a:avLst>
          </a:prstGeom>
          <a:solidFill>
            <a:srgbClr val="1E232D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128000" y="1651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18500" y="1905000"/>
            <a:ext cx="8890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9334500" y="19304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 (Solution)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14323">
            <a:off x="8318513" y="30416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318500" y="3238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注入场景化关键词，明确指令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318500" y="4381500"/>
            <a:ext cx="3048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C8D2DC"/>
                </a:solidFill>
                <a:latin typeface="Noto Sans SC"/>
                <a:ea typeface="Noto Sans SC"/>
                <a:cs typeface="Noto Sans SC"/>
                <a:sym typeface="Noto Sans SC"/>
              </a:rPr>
              <a:t>优化工具 description 字段，补充中文业务术语作为触发关键词，并添加具体的用户提问示例。通过将抽象的功能转化为具象的使用场景，显著提升了 LLM 的工具意图识别率，确保关键信息的准确调用。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A0F19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10：import 幻觉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2057400" y="1968500"/>
            <a:ext cx="2032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Symptom</a:t>
            </a:r>
          </a:p>
        </p:txBody>
      </p:sp>
      <p:sp>
        <p:nvSpPr>
          <p:cNvPr id="7" name="AutoShape 7"/>
          <p:cNvSpPr/>
          <p:nvPr/>
        </p:nvSpPr>
        <p:spPr>
          <a:xfrm>
            <a:off x="9525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2DD4B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33020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LLM生成的代码中经常出现“幻觉”式的 import 路径。这些路径看起来语法正确，但实际上是模型凭空编造的，在实际项目环境中无法被编译器解析，导致代码无法正常编译运行，增加了开发调试的成本。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3815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572000" y="1968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/>
        </p:nvSpPr>
        <p:spPr>
          <a:xfrm>
            <a:off x="5676900" y="1968500"/>
            <a:ext cx="2032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Root Cause</a:t>
            </a:r>
          </a:p>
        </p:txBody>
      </p:sp>
      <p:sp>
        <p:nvSpPr>
          <p:cNvPr id="12" name="AutoShape 12"/>
          <p:cNvSpPr/>
          <p:nvPr/>
        </p:nvSpPr>
        <p:spPr>
          <a:xfrm>
            <a:off x="45720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2DD4B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572000" y="33020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核心问题在于 Prompt 中缺少关键的上下文信息。当未向模型提供 SDK 或库的全限定类名时，模型缺乏准确的路径映射依据，只能基于训练数据进行“猜测”和模糊匹配，从而生成看似合理但实际上无效的 import 语句。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01000" y="1778000"/>
            <a:ext cx="3429000" cy="41910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191500" y="1968500"/>
            <a:ext cx="914400" cy="914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96400" y="1968500"/>
            <a:ext cx="2032000" cy="914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Solution</a:t>
            </a:r>
          </a:p>
        </p:txBody>
      </p:sp>
      <p:sp>
        <p:nvSpPr>
          <p:cNvPr id="17" name="AutoShape 17"/>
          <p:cNvSpPr/>
          <p:nvPr/>
        </p:nvSpPr>
        <p:spPr>
          <a:xfrm>
            <a:off x="8191500" y="3111500"/>
            <a:ext cx="3048000" cy="12700"/>
          </a:xfrm>
          <a:prstGeom prst="roundRect">
            <a:avLst>
              <a:gd name="adj" fmla="val 0"/>
            </a:avLst>
          </a:prstGeom>
          <a:solidFill>
            <a:srgbClr val="2DD4B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191500" y="3302000"/>
            <a:ext cx="3048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在 Prompt 中显式、精确地标注每个 SDK 条目的完整 import 路径、返回类型定义以及具体的版本号信息。通过提供清晰、结构化的元数据，让模型拥有明确的生成依据，从而有效抑制“幻觉”，生成可直接编译执行的正确代码。</a:t>
            </a:r>
            <a:endParaRPr lang="en-US" sz="1100"/>
          </a:p>
        </p:txBody>
      </p:sp>
      <p:sp>
        <p:nvSpPr>
          <p:cNvPr id="19" name="AutoShape 6">
            <a:extLst>
              <a:ext uri="{FF2B5EF4-FFF2-40B4-BE49-F238E27FC236}">
                <a16:creationId xmlns:a16="http://schemas.microsoft.com/office/drawing/2014/main" id="{3C8FFA5B-9447-F499-4753-784B764F37C3}"/>
              </a:ext>
            </a:extLst>
          </p:cNvPr>
          <p:cNvSpPr/>
          <p:nvPr/>
        </p:nvSpPr>
        <p:spPr>
          <a:xfrm>
            <a:off x="952500" y="2032000"/>
            <a:ext cx="812800" cy="812800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0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问题 11：返回值链路断裂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E2630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2222500"/>
            <a:ext cx="762000" cy="762000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!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9050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现象 (Symptom)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4946">
            <a:off x="1016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36195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在获取到入口方法的返回值对象后，陷入了信息断层。由于缺乏明确的指引，开发者无法直观判断下一步可调用的方法，不仅导致开发流程停滞，也容易因盲目尝试引发代码逻辑错误，大幅降低了开发效率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E2630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45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rcRect t="132" b="132"/>
          <a:stretch>
            <a:fillRect/>
          </a:stretch>
        </p:blipFill>
        <p:spPr>
          <a:xfrm>
            <a:off x="4699000" y="2222500"/>
            <a:ext cx="762000" cy="76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55880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根因 (Root Cause)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14946">
            <a:off x="4699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699000" y="36195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底层数据处理机制存在缺陷，结果仅按单一的 score 指标进行排序，忽略了业务逻辑上的关联性。入口方法与返回值接口之间未建立有效的索引关联，系统内部没有维护完整的调用链路元数据，导致上下文信息在返回时丢失，无法形成连贯的操作指引。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1778000"/>
            <a:ext cx="3429000" cy="4318000"/>
          </a:xfrm>
          <a:prstGeom prst="roundRect">
            <a:avLst>
              <a:gd name="adj" fmla="val 0"/>
            </a:avLst>
          </a:prstGeom>
          <a:solidFill>
            <a:srgbClr val="1E2630">
              <a:alpha val="88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128000" y="1778000"/>
            <a:ext cx="3429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382000" y="2222500"/>
            <a:ext cx="762000" cy="762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9271000" y="22225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解决 (Solution)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4946">
            <a:off x="8382014" y="33591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8382000" y="3619500"/>
            <a:ext cx="2921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重构数据组织方式，新增核心函数</a:t>
            </a:r>
            <a:r>
              <a:rPr lang="en-US" sz="13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_group_by_return_chain()</a:t>
            </a:r>
            <a:r>
              <a:rPr lang="en-US" sz="1300" b="0" i="0" u="none" strike="noStrike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。该函数根据返回值类型对方法进行智能分组，并构建双向引用关系。这一改进实现了“一次检索，全链路呈现”，让开发者能清晰看到从当前返回值出发的所有可行操作路径，彻底打通了调用链路。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825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当前成果与里程碑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652000" y="6350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762000" y="17145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7145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1841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1841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技术架构定型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3495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完成核心技术架构的全案设计与文档化，明确各功能模块的交互逻辑与数据流向，为系统的可扩展性奠定了稳固基础。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7145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45000" y="17145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841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080000" y="1841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混合检索引擎落地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35500" y="23495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混合检索引擎轻量模式开发完成并成功运行，有效整合了语义与关键词检索优势，大幅提升了特定场景下的内容召回精准度。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17145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8128000" y="17145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18500" y="18415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18415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MCP Server 6 实现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18500" y="23495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完成 MCP Server 6 工具链的全功能开发，打通了服务端与业务侧的关键通信协议，实现了指令的高效传输与执行。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62000" y="38100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762000" y="38100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39370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3937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代码智能解析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52500" y="4445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Java SDK AST 解析与角色推断模块上线，能够对复杂代码结构进行深度理解，为后续的自动化适配提供了底层技术支撑。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445000" y="38100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4445000" y="38100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39370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5080000" y="3937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Prompt 自动组装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635500" y="4445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Prompt 组装流水线实现全自动化，支持多业务场景的模板动态生成与参数注入，显著提升了生成式服务的响应速度与灵活性。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128000" y="3810000"/>
            <a:ext cx="3556000" cy="1841500"/>
          </a:xfrm>
          <a:prstGeom prst="roundRect">
            <a:avLst>
              <a:gd name="adj" fmla="val 0"/>
            </a:avLst>
          </a:prstGeom>
          <a:solidFill>
            <a:srgbClr val="1E293B">
              <a:alpha val="85000"/>
            </a:srgbClr>
          </a:solidFill>
          <a:ln w="12700" cap="flat" cmpd="sng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8128000" y="3810000"/>
            <a:ext cx="50800" cy="184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18500" y="3937000"/>
            <a:ext cx="304800" cy="3048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8763000" y="3937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基础设施闭环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318500" y="4445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300" b="0" i="0" u="none" strike="noStrike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用户反馈闭环的底层基础设施已部署就绪，从数据的实时采集、问题分析到策略迭代形成完整回路，保障产品持续优化。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762000" y="5778500"/>
            <a:ext cx="10922000" cy="825500"/>
          </a:xfrm>
          <a:prstGeom prst="roundRect">
            <a:avLst>
              <a:gd name="adj" fmla="val 0"/>
            </a:avLst>
          </a:prstGeom>
          <a:solidFill>
            <a:srgbClr val="2DD4BF">
              <a:alpha val="12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952500" y="5867400"/>
            <a:ext cx="1054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F0FDFA"/>
                </a:solidFill>
                <a:latin typeface="Noto Sans SC"/>
                <a:ea typeface="Noto Sans SC"/>
                <a:cs typeface="Noto Sans SC"/>
                <a:sym typeface="Noto Sans SC"/>
              </a:rPr>
              <a:t>里程碑总结：全技术链路已完成核心模块开发与端到端联调，核心功能达到上线试运行标准，为下一阶段业务场景的规模化落地扫清了关键技术障碍。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Roadmap：下一步计划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92500" cy="3111500"/>
          </a:xfrm>
          <a:prstGeom prst="roundRect">
            <a:avLst>
              <a:gd name="adj" fmla="val 0"/>
            </a:avLst>
          </a:prstGeom>
          <a:solidFill>
            <a:srgbClr val="1C212A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50800" cy="31115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905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P1 · 核心攻坚阶段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438400"/>
            <a:ext cx="1016000" cy="304800"/>
          </a:xfrm>
          <a:prstGeom prst="roundRect">
            <a:avLst>
              <a:gd name="adj" fmla="val 0"/>
            </a:avLst>
          </a:prstGeom>
          <a:solidFill>
            <a:srgbClr val="2DD4BF">
              <a:alpha val="2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952500" y="2438400"/>
            <a:ext cx="101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高优先级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984500"/>
            <a:ext cx="3175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完成企业私域核心业务数据的清洗、脱敏与结构化入库，彻底打通数据孤岛。同时开展全链路端到端验证，从数据源接入、模型推理到结果输出全流程贯通，在真实业务场景中验证系统的稳定性与准确性，为核心功能正式上线筑牢坚实基础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70400" y="1778000"/>
            <a:ext cx="3492500" cy="3111500"/>
          </a:xfrm>
          <a:prstGeom prst="roundRect">
            <a:avLst>
              <a:gd name="adj" fmla="val 0"/>
            </a:avLst>
          </a:prstGeom>
          <a:solidFill>
            <a:srgbClr val="1C212A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470400" y="1778000"/>
            <a:ext cx="50800" cy="3111500"/>
          </a:xfrm>
          <a:prstGeom prst="roundRect">
            <a:avLst>
              <a:gd name="adj" fmla="val 0"/>
            </a:avLst>
          </a:prstGeom>
          <a:solidFill>
            <a:srgbClr val="2DD4B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660900" y="1905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P2 · 工具与部署阶段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60900" y="2438400"/>
            <a:ext cx="1016000" cy="304800"/>
          </a:xfrm>
          <a:prstGeom prst="roundRect">
            <a:avLst>
              <a:gd name="adj" fmla="val 0"/>
            </a:avLst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660900" y="2438400"/>
            <a:ext cx="101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DD4BF">
                    <a:alpha val="92157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中优先级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660900" y="2984500"/>
            <a:ext cx="3175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研发通用JSON API Loader实现异构数据源的灵活接入，发布轻量级Python SDK以降低开发者的集成门槛。完成服务容器化改造与生产环境的灰度发布流程，上线后基于初期运行数据动态调整反馈闭环权重，持续优化推理结果的精准度与系统的整体响应效率。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53400" y="1778000"/>
            <a:ext cx="3492500" cy="3111500"/>
          </a:xfrm>
          <a:prstGeom prst="roundRect">
            <a:avLst>
              <a:gd name="adj" fmla="val 0"/>
            </a:avLst>
          </a:prstGeom>
          <a:solidFill>
            <a:srgbClr val="1C212A">
              <a:alpha val="92000"/>
            </a:srgbClr>
          </a:solidFill>
          <a:ln w="12700" cap="flat" cmpd="sng">
            <a:solidFill>
              <a:srgbClr val="2DD4B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153400" y="1778000"/>
            <a:ext cx="50800" cy="3111500"/>
          </a:xfrm>
          <a:prstGeom prst="roundRect">
            <a:avLst>
              <a:gd name="adj" fmla="val 0"/>
            </a:avLst>
          </a:prstGeom>
          <a:solidFill>
            <a:srgbClr val="2DD4B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343900" y="1905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2DD4B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P3 · 架构演进阶段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43900" y="2438400"/>
            <a:ext cx="1016000" cy="304800"/>
          </a:xfrm>
          <a:prstGeom prst="roundRect">
            <a:avLst>
              <a:gd name="adj" fmla="val 0"/>
            </a:avLst>
          </a:prstGeom>
          <a:solidFill>
            <a:srgbClr val="2DD4B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343900" y="2438400"/>
            <a:ext cx="101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DD4B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低优先级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343900" y="2984500"/>
            <a:ext cx="3175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5E7EB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搭建高效的增量更新数据管道，替代传统全量同步以显著节省计算资源；深度适配Orchestrator生产调度模式，提升复杂任务的并发处理能力。同时建立完善的系统监控与智能告警体系，沉淀技术最佳实践，为未来支撑大规模用户并发和更复杂的业务场景提供坚实、可扩展的技术底座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5207000"/>
            <a:ext cx="10922000" cy="1206500"/>
          </a:xfrm>
          <a:prstGeom prst="roundRect">
            <a:avLst>
              <a:gd name="adj" fmla="val 0"/>
            </a:avLst>
          </a:prstGeom>
          <a:solidFill>
            <a:srgbClr val="0F161E">
              <a:alpha val="94000"/>
            </a:srgbClr>
          </a:solidFill>
          <a:ln w="12700" cap="flat" cmpd="sng">
            <a:solidFill>
              <a:srgbClr val="2DD4BF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59400"/>
            <a:ext cx="812800" cy="812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2032000" y="5359400"/>
            <a:ext cx="927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我们将严格遵循此阶段规划稳步推进，优先集中核心资源完成P1阶段的核心业务上线与验证，保障业务价值的快速落地。同时并行推进技术工具链升级与底层架构的持续优化，在确保系统稳定性的前提下，通过分阶段迭代逐步实现功能的全面升级与服务能力的显著提升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经验总结与设计原则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2603500" cy="4191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2603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2032000"/>
            <a:ext cx="889000" cy="8890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41400" y="21209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889000" y="31115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渐进式架构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3810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889000" y="4064000"/>
            <a:ext cx="23495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采用轻量模式向生产模式平滑过渡，大幅降低试点启动的技术与资源门槛。让项目能够以最小成本起步，通过快速迭代逐步验证并升级为成熟的生产级架构。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492500" y="1778000"/>
            <a:ext cx="2603500" cy="4191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3492500" y="1778000"/>
            <a:ext cx="2603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3683000" y="2032000"/>
            <a:ext cx="889000" cy="8890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771900" y="21209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3619500" y="31115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优雅降级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3683000" y="3810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3619500" y="4064000"/>
            <a:ext cx="23495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为每个关键业务环节设计兜底策略，在依赖服务不可用时自动切换至备选方案。这一机制有效保障了系统的韧性，确保在极端情况下业务依然可用，避免单点故障。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1778000"/>
            <a:ext cx="2603500" cy="4191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223000" y="1778000"/>
            <a:ext cx="2603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6413500" y="2032000"/>
            <a:ext cx="889000" cy="8890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502400" y="21209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6350000" y="31115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数据质量优先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13500" y="3810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6350000" y="4064000"/>
            <a:ext cx="23495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“垃圾进，垃圾出”是AI系统的铁律，数据质量直接决定了最终效果的上限。我们在流程中植入了严格的数据校验与清洗机制，确保高质量的输入数据转化为高价值的业务洞察。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953500" y="1778000"/>
            <a:ext cx="2603500" cy="4191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 cap="flat" cmpd="sng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8953500" y="1778000"/>
            <a:ext cx="26035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9144000" y="2032000"/>
            <a:ext cx="889000" cy="8890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232900" y="2120900"/>
            <a:ext cx="711200" cy="711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9" name="AutoShape 29"/>
          <p:cNvSpPr/>
          <p:nvPr/>
        </p:nvSpPr>
        <p:spPr>
          <a:xfrm>
            <a:off x="9080500" y="3111500"/>
            <a:ext cx="2349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安全内建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144000" y="3810000"/>
            <a:ext cx="2222500" cy="1270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9080500" y="4064000"/>
            <a:ext cx="23495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安全不是事后补救，而是核心设计要素。从项目Day1起就将Prompt注入防护、数据脱敏等关键安全措施内建于开发流程中，构建纵深防御体系，全方位保障业务与数据安全。</a:t>
            </a:r>
            <a:endParaRPr lang="en-US" sz="11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7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4318000"/>
            <a:ext cx="1219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Q &amp; A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2867</Words>
  <Application>Microsoft Office PowerPoint</Application>
  <PresentationFormat>宽屏</PresentationFormat>
  <Paragraphs>466</Paragraphs>
  <Slides>31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Administrator</dc:creator>
  <cp:lastModifiedBy>liuwei qin</cp:lastModifiedBy>
  <cp:revision>7</cp:revision>
  <dcterms:modified xsi:type="dcterms:W3CDTF">2026-05-27T18:11:47Z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{"Label":"1","ContentProducer":"001191110102MACQD9K64010000","ProduceID":"7644630654462102741","ReservedCode1":"","ContentPropagator":"","PropagateID":"","ReservedCode2":""}</vt:lpwstr>
  </property>
</Properties>
</file>